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5b36453-b4ac-55d4-a357-e9643c83be57}">
          <p14:sldIdLst>
            <p14:sldId id="256"/>
            <p14:sldId id="257"/>
            <p14:sldId id="258"/>
            <p14:sldId id="259"/>
            <p14:sldId id="260"/>
          </p14:sldIdLst>
        </p14:section>
        <p14:section name="Design" id="{2733ed01-e095-8127-6e7f-6aa66bd3c207}">
          <p14:sldIdLst>
            <p14:sldId id="261"/>
            <p14:sldId id="262"/>
            <p14:sldId id="263"/>
            <p14:sldId id="264"/>
          </p14:sldIdLst>
        </p14:section>
        <p14:section name="Method" id="{c0427956-282a-fdee-3afa-945980b5eac6}">
          <p14:sldIdLst>
            <p14:sldId id="265"/>
            <p14:sldId id="266"/>
          </p14:sldIdLst>
        </p14:section>
        <p14:section name="Results" id="{5baaad75-53d4-ee9d-90cd-14b80f80eb43}">
          <p14:sldIdLst>
            <p14:sldId id="267"/>
            <p14:sldId id="268"/>
            <p14:sldId id="269"/>
          </p14:sldIdLst>
        </p14:section>
        <p14:section name="System" id="{8b9c3697-02ec-8c9e-b695-904d8e88e728}">
          <p14:sldIdLst>
            <p14:sldId id="270"/>
            <p14:sldId id="271"/>
            <p14:sldId id="272"/>
          </p14:sldIdLst>
        </p14:section>
        <p14:section name="Conclusion" id="{506a54d3-64f5-9e90-2bc2-16e587e8caa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Mean log band energy</a:t>
            </a:r>
          </a:p>
        </c:rich>
      </c:tx>
      <c:layout/>
      <c:overlay val="0"/>
    </c:title>
    <c:autoTitleDeleted val="0"/>
    <c:plotArea>
      <c:layout/>
      <c:lineChart>
        <c:varyColors val="0"/>
        <c:ser>
          <c:idx val="0"/>
          <c:order val="0"/>
          <c:tx>
            <c:strRef>
              <c:f>Sheet1!$B$1</c:f>
              <c:strCache>
                <c:ptCount val="1"/>
                <c:pt idx="0">
                  <c:v>Normal</c:v>
                </c:pt>
              </c:strCache>
            </c:strRef>
          </c:tx>
          <c:spPr>
            <a:solidFill>
              <a:srgbClr val="111827"/>
            </a:solidFill>
            <a:ln w="25400" cap="flat">
              <a:solidFill>
                <a:srgbClr val="111827"/>
              </a:solidFill>
              <a:prstDash val="solid"/>
              <a:round/>
            </a:ln>
            <a:effectLst/>
          </c:spPr>
          <c:invertIfNegative val="0"/>
          <c:dLbls>
            <c:numFmt formatCode="#,##0" sourceLinked="0"/>
            <c:txPr>
              <a:bodyPr/>
              <a:lstStyle/>
              <a:p>
                <a:pPr>
                  <a:defRPr b="0" i="0" strike="noStrike" sz="1100" u="none">
                    <a:solidFill>
                      <a:srgbClr val="374151"/>
                    </a:solidFill>
                    <a:latin typeface="+mn-lt"/>
                  </a:defRPr>
                </a:pPr>
              </a:p>
            </c:txPr>
            <c:showLegendKey val="0"/>
            <c:showVal val="0"/>
            <c:showCatName val="0"/>
            <c:showSerName val="0"/>
            <c:showPercent val="0"/>
            <c:showBubbleSize val="0"/>
            <c:showLeaderLines val="0"/>
          </c:dLbls>
          <c:marker>
            <c:symbol val="circle"/>
            <c:size val="5"/>
            <c:spPr>
              <a:solidFill>
                <a:srgbClr val="111827"/>
              </a:solidFill>
              <a:ln w="9525" cap="flat">
                <a:solidFill>
                  <a:srgbClr val="111827"/>
                </a:solidFill>
                <a:prstDash val="solid"/>
                <a:round/>
              </a:ln>
              <a:effectLst/>
            </c:spPr>
          </c:marker>
          <c:cat>
            <c:multiLvlStrRef>
              <c:f>Sheet1!$A$2:$A$11</c:f>
              <c:multiLvlStrCache>
                <c:ptCount val="10"/>
                <c:lvl>
                  <c:pt idx="0">
                    <c:v>10</c:v>
                  </c:pt>
                  <c:pt idx="1">
                    <c:v>30</c:v>
                  </c:pt>
                  <c:pt idx="2">
                    <c:v>50</c:v>
                  </c:pt>
                  <c:pt idx="3">
                    <c:v>70</c:v>
                  </c:pt>
                  <c:pt idx="4">
                    <c:v>90</c:v>
                  </c:pt>
                  <c:pt idx="5">
                    <c:v>112</c:v>
                  </c:pt>
                  <c:pt idx="6">
                    <c:v>138</c:v>
                  </c:pt>
                  <c:pt idx="7">
                    <c:v>162</c:v>
                  </c:pt>
                  <c:pt idx="8">
                    <c:v>188</c:v>
                  </c:pt>
                  <c:pt idx="9">
                    <c:v>225</c:v>
                  </c:pt>
                </c:lvl>
              </c:multiLvlStrCache>
            </c:multiLvlStrRef>
          </c:cat>
          <c:val>
            <c:numRef>
              <c:f>Sheet1!$B$2:$B$11</c:f>
              <c:numCache>
                <c:formatCode>General</c:formatCode>
                <c:ptCount val="10"/>
                <c:pt idx="0">
                  <c:v>-1.963</c:v>
                </c:pt>
                <c:pt idx="1">
                  <c:v>-2.913</c:v>
                </c:pt>
                <c:pt idx="2">
                  <c:v>-2.774</c:v>
                </c:pt>
                <c:pt idx="3">
                  <c:v>-3.089</c:v>
                </c:pt>
                <c:pt idx="4">
                  <c:v>-2.841</c:v>
                </c:pt>
                <c:pt idx="5">
                  <c:v>-1.333</c:v>
                </c:pt>
                <c:pt idx="6">
                  <c:v>-0.894</c:v>
                </c:pt>
                <c:pt idx="7">
                  <c:v>-0.312</c:v>
                </c:pt>
                <c:pt idx="8">
                  <c:v>-0.973</c:v>
                </c:pt>
                <c:pt idx="9">
                  <c:v>-1.852</c:v>
                </c:pt>
              </c:numCache>
            </c:numRef>
          </c:val>
          <c:smooth val="0"/>
        </c:ser>
        <c:ser>
          <c:idx val="1"/>
          <c:order val="1"/>
          <c:tx>
            <c:strRef>
              <c:f>Sheet1!$C$1</c:f>
              <c:strCache>
                <c:ptCount val="1"/>
                <c:pt idx="0">
                  <c:v>Inner race</c:v>
                </c:pt>
              </c:strCache>
            </c:strRef>
          </c:tx>
          <c:spPr>
            <a:solidFill>
              <a:srgbClr val="4A6FA5"/>
            </a:solidFill>
            <a:ln w="25400" cap="flat">
              <a:solidFill>
                <a:srgbClr val="4A6FA5"/>
              </a:solidFill>
              <a:prstDash val="solid"/>
              <a:round/>
            </a:ln>
            <a:effectLst/>
          </c:spPr>
          <c:invertIfNegative val="0"/>
          <c:dLbls>
            <c:numFmt formatCode="#,##0" sourceLinked="0"/>
            <c:txPr>
              <a:bodyPr/>
              <a:lstStyle/>
              <a:p>
                <a:pPr>
                  <a:defRPr b="0" i="0" strike="noStrike" sz="1100" u="none">
                    <a:solidFill>
                      <a:srgbClr val="374151"/>
                    </a:solidFill>
                    <a:latin typeface="+mn-lt"/>
                  </a:defRPr>
                </a:pPr>
              </a:p>
            </c:txPr>
            <c:showLegendKey val="0"/>
            <c:showVal val="0"/>
            <c:showCatName val="0"/>
            <c:showSerName val="0"/>
            <c:showPercent val="0"/>
            <c:showBubbleSize val="0"/>
            <c:showLeaderLines val="0"/>
          </c:dLbls>
          <c:marker>
            <c:symbol val="circle"/>
            <c:size val="5"/>
            <c:spPr>
              <a:solidFill>
                <a:srgbClr val="4A6FA5"/>
              </a:solidFill>
              <a:ln w="9525" cap="flat">
                <a:solidFill>
                  <a:srgbClr val="4A6FA5"/>
                </a:solidFill>
                <a:prstDash val="solid"/>
                <a:round/>
              </a:ln>
              <a:effectLst/>
            </c:spPr>
          </c:marker>
          <c:cat>
            <c:multiLvlStrRef>
              <c:f>Sheet1!$A$2:$A$11</c:f>
              <c:multiLvlStrCache>
                <c:ptCount val="10"/>
                <c:lvl>
                  <c:pt idx="0">
                    <c:v>10</c:v>
                  </c:pt>
                  <c:pt idx="1">
                    <c:v>30</c:v>
                  </c:pt>
                  <c:pt idx="2">
                    <c:v>50</c:v>
                  </c:pt>
                  <c:pt idx="3">
                    <c:v>70</c:v>
                  </c:pt>
                  <c:pt idx="4">
                    <c:v>90</c:v>
                  </c:pt>
                  <c:pt idx="5">
                    <c:v>112</c:v>
                  </c:pt>
                  <c:pt idx="6">
                    <c:v>138</c:v>
                  </c:pt>
                  <c:pt idx="7">
                    <c:v>162</c:v>
                  </c:pt>
                  <c:pt idx="8">
                    <c:v>188</c:v>
                  </c:pt>
                  <c:pt idx="9">
                    <c:v>225</c:v>
                  </c:pt>
                </c:lvl>
              </c:multiLvlStrCache>
            </c:multiLvlStrRef>
          </c:cat>
          <c:val>
            <c:numRef>
              <c:f>Sheet1!$C$2:$C$11</c:f>
              <c:numCache>
                <c:formatCode>General</c:formatCode>
                <c:ptCount val="10"/>
                <c:pt idx="0">
                  <c:v>-3.797</c:v>
                </c:pt>
                <c:pt idx="1">
                  <c:v>-2.905</c:v>
                </c:pt>
                <c:pt idx="2">
                  <c:v>-2.467</c:v>
                </c:pt>
                <c:pt idx="3">
                  <c:v>-2.76</c:v>
                </c:pt>
                <c:pt idx="4">
                  <c:v>-2.774</c:v>
                </c:pt>
                <c:pt idx="5">
                  <c:v>-1.389</c:v>
                </c:pt>
                <c:pt idx="6">
                  <c:v>-0.876</c:v>
                </c:pt>
                <c:pt idx="7">
                  <c:v>-0.176</c:v>
                </c:pt>
                <c:pt idx="8">
                  <c:v>-0.966</c:v>
                </c:pt>
                <c:pt idx="9">
                  <c:v>-1.88</c:v>
                </c:pt>
              </c:numCache>
            </c:numRef>
          </c:val>
          <c:smooth val="0"/>
        </c:ser>
        <c:ser>
          <c:idx val="2"/>
          <c:order val="2"/>
          <c:tx>
            <c:strRef>
              <c:f>Sheet1!$D$1</c:f>
              <c:strCache>
                <c:ptCount val="1"/>
                <c:pt idx="0">
                  <c:v>Ball</c:v>
                </c:pt>
              </c:strCache>
            </c:strRef>
          </c:tx>
          <c:spPr>
            <a:solidFill>
              <a:srgbClr val="C2410C"/>
            </a:solidFill>
            <a:ln w="25400" cap="flat">
              <a:solidFill>
                <a:srgbClr val="C2410C"/>
              </a:solidFill>
              <a:prstDash val="solid"/>
              <a:round/>
            </a:ln>
            <a:effectLst/>
          </c:spPr>
          <c:invertIfNegative val="0"/>
          <c:dLbls>
            <c:numFmt formatCode="#,##0" sourceLinked="0"/>
            <c:txPr>
              <a:bodyPr/>
              <a:lstStyle/>
              <a:p>
                <a:pPr>
                  <a:defRPr b="0" i="0" strike="noStrike" sz="1100" u="none">
                    <a:solidFill>
                      <a:srgbClr val="374151"/>
                    </a:solidFill>
                    <a:latin typeface="+mn-lt"/>
                  </a:defRPr>
                </a:pPr>
              </a:p>
            </c:txPr>
            <c:showLegendKey val="0"/>
            <c:showVal val="0"/>
            <c:showCatName val="0"/>
            <c:showSerName val="0"/>
            <c:showPercent val="0"/>
            <c:showBubbleSize val="0"/>
            <c:showLeaderLines val="0"/>
          </c:dLbls>
          <c:marker>
            <c:symbol val="circle"/>
            <c:size val="5"/>
            <c:spPr>
              <a:solidFill>
                <a:srgbClr val="C2410C"/>
              </a:solidFill>
              <a:ln w="9525" cap="flat">
                <a:solidFill>
                  <a:srgbClr val="C2410C"/>
                </a:solidFill>
                <a:prstDash val="solid"/>
                <a:round/>
              </a:ln>
              <a:effectLst/>
            </c:spPr>
          </c:marker>
          <c:cat>
            <c:multiLvlStrRef>
              <c:f>Sheet1!$A$2:$A$11</c:f>
              <c:multiLvlStrCache>
                <c:ptCount val="10"/>
                <c:lvl>
                  <c:pt idx="0">
                    <c:v>10</c:v>
                  </c:pt>
                  <c:pt idx="1">
                    <c:v>30</c:v>
                  </c:pt>
                  <c:pt idx="2">
                    <c:v>50</c:v>
                  </c:pt>
                  <c:pt idx="3">
                    <c:v>70</c:v>
                  </c:pt>
                  <c:pt idx="4">
                    <c:v>90</c:v>
                  </c:pt>
                  <c:pt idx="5">
                    <c:v>112</c:v>
                  </c:pt>
                  <c:pt idx="6">
                    <c:v>138</c:v>
                  </c:pt>
                  <c:pt idx="7">
                    <c:v>162</c:v>
                  </c:pt>
                  <c:pt idx="8">
                    <c:v>188</c:v>
                  </c:pt>
                  <c:pt idx="9">
                    <c:v>225</c:v>
                  </c:pt>
                </c:lvl>
              </c:multiLvlStrCache>
            </c:multiLvlStrRef>
          </c:cat>
          <c:val>
            <c:numRef>
              <c:f>Sheet1!$D$2:$D$11</c:f>
              <c:numCache>
                <c:formatCode>General</c:formatCode>
                <c:ptCount val="10"/>
                <c:pt idx="0">
                  <c:v>-4.159</c:v>
                </c:pt>
                <c:pt idx="1">
                  <c:v>-3.174</c:v>
                </c:pt>
                <c:pt idx="2">
                  <c:v>-3.009</c:v>
                </c:pt>
                <c:pt idx="3">
                  <c:v>-3.036</c:v>
                </c:pt>
                <c:pt idx="4">
                  <c:v>-3.384</c:v>
                </c:pt>
                <c:pt idx="5">
                  <c:v>-1.398</c:v>
                </c:pt>
                <c:pt idx="6">
                  <c:v>-0.83</c:v>
                </c:pt>
                <c:pt idx="7">
                  <c:v>-0.209</c:v>
                </c:pt>
                <c:pt idx="8">
                  <c:v>-0.923</c:v>
                </c:pt>
                <c:pt idx="9">
                  <c:v>-1.985</c:v>
                </c:pt>
              </c:numCache>
            </c:numRef>
          </c:val>
          <c:smooth val="0"/>
        </c:ser>
        <c:ser>
          <c:idx val="3"/>
          <c:order val="3"/>
          <c:tx>
            <c:strRef>
              <c:f>Sheet1!$E$1</c:f>
              <c:strCache>
                <c:ptCount val="1"/>
                <c:pt idx="0">
                  <c:v>Outer race</c:v>
                </c:pt>
              </c:strCache>
            </c:strRef>
          </c:tx>
          <c:spPr>
            <a:solidFill>
              <a:srgbClr val="13294B"/>
            </a:solidFill>
            <a:ln w="25400" cap="flat">
              <a:solidFill>
                <a:srgbClr val="13294B"/>
              </a:solidFill>
              <a:prstDash val="solid"/>
              <a:round/>
            </a:ln>
            <a:effectLst/>
          </c:spPr>
          <c:invertIfNegative val="0"/>
          <c:dLbls>
            <c:numFmt formatCode="#,##0" sourceLinked="0"/>
            <c:txPr>
              <a:bodyPr/>
              <a:lstStyle/>
              <a:p>
                <a:pPr>
                  <a:defRPr b="0" i="0" strike="noStrike" sz="1100" u="none">
                    <a:solidFill>
                      <a:srgbClr val="374151"/>
                    </a:solidFill>
                    <a:latin typeface="+mn-lt"/>
                  </a:defRPr>
                </a:pPr>
              </a:p>
            </c:txPr>
            <c:showLegendKey val="0"/>
            <c:showVal val="0"/>
            <c:showCatName val="0"/>
            <c:showSerName val="0"/>
            <c:showPercent val="0"/>
            <c:showBubbleSize val="0"/>
            <c:showLeaderLines val="0"/>
          </c:dLbls>
          <c:marker>
            <c:symbol val="circle"/>
            <c:size val="5"/>
            <c:spPr>
              <a:solidFill>
                <a:srgbClr val="13294B"/>
              </a:solidFill>
              <a:ln w="9525" cap="flat">
                <a:solidFill>
                  <a:srgbClr val="13294B"/>
                </a:solidFill>
                <a:prstDash val="solid"/>
                <a:round/>
              </a:ln>
              <a:effectLst/>
            </c:spPr>
          </c:marker>
          <c:cat>
            <c:multiLvlStrRef>
              <c:f>Sheet1!$A$2:$A$11</c:f>
              <c:multiLvlStrCache>
                <c:ptCount val="10"/>
                <c:lvl>
                  <c:pt idx="0">
                    <c:v>10</c:v>
                  </c:pt>
                  <c:pt idx="1">
                    <c:v>30</c:v>
                  </c:pt>
                  <c:pt idx="2">
                    <c:v>50</c:v>
                  </c:pt>
                  <c:pt idx="3">
                    <c:v>70</c:v>
                  </c:pt>
                  <c:pt idx="4">
                    <c:v>90</c:v>
                  </c:pt>
                  <c:pt idx="5">
                    <c:v>112</c:v>
                  </c:pt>
                  <c:pt idx="6">
                    <c:v>138</c:v>
                  </c:pt>
                  <c:pt idx="7">
                    <c:v>162</c:v>
                  </c:pt>
                  <c:pt idx="8">
                    <c:v>188</c:v>
                  </c:pt>
                  <c:pt idx="9">
                    <c:v>225</c:v>
                  </c:pt>
                </c:lvl>
              </c:multiLvlStrCache>
            </c:multiLvlStrRef>
          </c:cat>
          <c:val>
            <c:numRef>
              <c:f>Sheet1!$E$2:$E$11</c:f>
              <c:numCache>
                <c:formatCode>General</c:formatCode>
                <c:ptCount val="10"/>
                <c:pt idx="0">
                  <c:v>-3.188</c:v>
                </c:pt>
                <c:pt idx="1">
                  <c:v>-2.426</c:v>
                </c:pt>
                <c:pt idx="2">
                  <c:v>-2.441</c:v>
                </c:pt>
                <c:pt idx="3">
                  <c:v>-2.427</c:v>
                </c:pt>
                <c:pt idx="4">
                  <c:v>-2.817</c:v>
                </c:pt>
                <c:pt idx="5">
                  <c:v>-1.195</c:v>
                </c:pt>
                <c:pt idx="6">
                  <c:v>-0.903</c:v>
                </c:pt>
                <c:pt idx="7">
                  <c:v>-0.226</c:v>
                </c:pt>
                <c:pt idx="8">
                  <c:v>-0.913</c:v>
                </c:pt>
                <c:pt idx="9">
                  <c:v>-1.636</c:v>
                </c:pt>
              </c:numCache>
            </c:numRef>
          </c:val>
          <c:smooth val="0"/>
        </c:ser>
        <c:dLbls>
          <c:numFmt formatCode="#,##0" sourceLinked="0"/>
          <c:txPr>
            <a:bodyPr/>
            <a:lstStyle/>
            <a:p>
              <a:pPr>
                <a:defRPr b="0" i="0" strike="noStrike" sz="1100" u="none">
                  <a:solidFill>
                    <a:srgbClr val="37415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7280"/>
                    </a:solidFill>
                    <a:latin typeface="Arial"/>
                  </a:defRPr>
                </a:pPr>
                <a:r>
                  <a:rPr sz="1100" b="0" i="0" u="none" strike="noStrike">
                    <a:solidFill>
                      <a:srgbClr val="6B7280"/>
                    </a:solidFill>
                    <a:latin typeface="Arial"/>
                  </a:rPr>
                  <a:t>Band centre (Hz)</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7415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Fault windows detected (%), MPU6050-matched data</a:t>
            </a:r>
          </a:p>
        </c:rich>
      </c:tx>
      <c:layout/>
      <c:overlay val="0"/>
    </c:title>
    <c:autoTitleDeleted val="0"/>
    <c:plotArea>
      <c:layout/>
      <c:barChart>
        <c:barDir val="col"/>
        <c:grouping val="clustered"/>
        <c:varyColors val="0"/>
        <c:ser>
          <c:idx val="0"/>
          <c:order val="0"/>
          <c:tx>
            <c:strRef>
              <c:f>Sheet1!$B$1</c:f>
              <c:strCache>
                <c:ptCount val="1"/>
                <c:pt idx="0">
                  <c:v>Detection</c:v>
                </c:pt>
              </c:strCache>
            </c:strRef>
          </c:tx>
          <c:spPr>
            <a:solidFill>
              <a:srgbClr val="9DB4D3"/>
            </a:solidFill>
            <a:effectLst/>
          </c:spPr>
          <c:invertIfNegative val="0"/>
          <c:dLbls>
            <c:numFmt formatCode="0" sourceLinked="0"/>
            <c:txPr>
              <a:bodyPr/>
              <a:lstStyle/>
              <a:p>
                <a:pPr>
                  <a:defRPr b="0" i="0" strike="noStrike" sz="1100" u="none">
                    <a:solidFill>
                      <a:srgbClr val="374151"/>
                    </a:solidFill>
                    <a:latin typeface="+mn-lt"/>
                  </a:defRPr>
                </a:pPr>
              </a:p>
            </c:txPr>
            <c:showLegendKey val="0"/>
            <c:showVal val="1"/>
            <c:showCatName val="0"/>
            <c:showSerName val="0"/>
            <c:showPercent val="0"/>
            <c:showBubbleSize val="0"/>
            <c:showLeaderLines val="0"/>
          </c:dLbls>
          <c:dPt>
            <c:idx val="0"/>
            <c:invertIfNegative val="0"/>
            <c:bubble3D val="0"/>
            <c:spPr>
              <a:solidFill>
                <a:srgbClr val="9DB4D3"/>
              </a:solidFill>
              <a:effectLst/>
            </c:spPr>
          </c:dPt>
          <c:dPt>
            <c:idx val="1"/>
            <c:invertIfNegative val="0"/>
            <c:bubble3D val="0"/>
            <c:spPr>
              <a:solidFill>
                <a:srgbClr val="9DB4D3"/>
              </a:solidFill>
              <a:effectLst/>
            </c:spPr>
          </c:dPt>
          <c:dPt>
            <c:idx val="2"/>
            <c:invertIfNegative val="0"/>
            <c:bubble3D val="0"/>
            <c:spPr>
              <a:solidFill>
                <a:srgbClr val="9DB4D3"/>
              </a:solidFill>
              <a:effectLst/>
            </c:spPr>
          </c:dPt>
          <c:dPt>
            <c:idx val="3"/>
            <c:invertIfNegative val="0"/>
            <c:bubble3D val="0"/>
            <c:spPr>
              <a:solidFill>
                <a:srgbClr val="9DB4D3"/>
              </a:solidFill>
              <a:effectLst/>
            </c:spPr>
          </c:dPt>
          <c:dPt>
            <c:idx val="4"/>
            <c:invertIfNegative val="0"/>
            <c:bubble3D val="0"/>
            <c:spPr>
              <a:solidFill>
                <a:srgbClr val="13294B"/>
              </a:solidFill>
              <a:effectLst/>
            </c:spPr>
          </c:dPt>
          <c:cat>
            <c:multiLvlStrRef>
              <c:f>Sheet1!$A$2:$A$6</c:f>
              <c:multiLvlStrCache>
                <c:ptCount val="5"/>
                <c:lvl>
                  <c:pt idx="0">
                    <c:v>Shape</c:v>
                  </c:pt>
                  <c:pt idx="1">
                    <c:v>Level</c:v>
                  </c:pt>
                  <c:pt idx="2">
                    <c:v>Level + shape</c:v>
                  </c:pt>
                  <c:pt idx="3">
                    <c:v>Relative band</c:v>
                  </c:pt>
                  <c:pt idx="4">
                    <c:v>Log band (ours)</c:v>
                  </c:pt>
                </c:lvl>
              </c:multiLvlStrCache>
            </c:multiLvlStrRef>
          </c:cat>
          <c:val>
            <c:numRef>
              <c:f>Sheet1!$B$2:$B$6</c:f>
              <c:numCache>
                <c:formatCode>General</c:formatCode>
                <c:ptCount val="5"/>
                <c:pt idx="0">
                  <c:v>15.7</c:v>
                </c:pt>
                <c:pt idx="1">
                  <c:v>31.6</c:v>
                </c:pt>
                <c:pt idx="2">
                  <c:v>26.9</c:v>
                </c:pt>
                <c:pt idx="3">
                  <c:v>56.2</c:v>
                </c:pt>
                <c:pt idx="4">
                  <c:v>97.7</c:v>
                </c:pt>
              </c:numCache>
            </c:numRef>
          </c:val>
        </c:ser>
        <c:dLbls>
          <c:numFmt formatCode="0" sourceLinked="0"/>
          <c:txPr>
            <a:bodyPr/>
            <a:lstStyle/>
            <a:p>
              <a:pPr>
                <a:defRPr b="0" i="0" strike="noStrike" sz="1100" u="none">
                  <a:solidFill>
                    <a:srgbClr val="37415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Same features at two bandwidths (%)</a:t>
            </a:r>
          </a:p>
        </c:rich>
      </c:tx>
      <c:layout/>
      <c:overlay val="0"/>
    </c:title>
    <c:autoTitleDeleted val="0"/>
    <c:plotArea>
      <c:layout/>
      <c:barChart>
        <c:barDir val="col"/>
        <c:grouping val="clustered"/>
        <c:varyColors val="0"/>
        <c:ser>
          <c:idx val="0"/>
          <c:order val="0"/>
          <c:tx>
            <c:strRef>
              <c:f>Sheet1!$B$1</c:f>
              <c:strCache>
                <c:ptCount val="1"/>
                <c:pt idx="0">
                  <c:v>12 kHz original</c:v>
                </c:pt>
              </c:strCache>
            </c:strRef>
          </c:tx>
          <c:spPr>
            <a:solidFill>
              <a:srgbClr val="9CA3AF"/>
            </a:solidFill>
            <a:effectLst/>
          </c:spPr>
          <c:invertIfNegative val="0"/>
          <c:dLbls>
            <c:numFmt formatCode="0" sourceLinked="0"/>
            <c:txPr>
              <a:bodyPr/>
              <a:lstStyle/>
              <a:p>
                <a:pPr>
                  <a:defRPr b="0" i="0" strike="noStrike" sz="1100" u="none">
                    <a:solidFill>
                      <a:srgbClr val="374151"/>
                    </a:solidFill>
                    <a:latin typeface="+mn-lt"/>
                  </a:defRPr>
                </a:pPr>
              </a:p>
            </c:txPr>
            <c:showLegendKey val="0"/>
            <c:showVal val="1"/>
            <c:showCatName val="0"/>
            <c:showSerName val="0"/>
            <c:showPercent val="0"/>
            <c:showBubbleSize val="0"/>
            <c:showLeaderLines val="0"/>
          </c:dLbls>
          <c:cat>
            <c:multiLvlStrRef>
              <c:f>Sheet1!$A$2:$A$3</c:f>
              <c:multiLvlStrCache>
                <c:ptCount val="2"/>
                <c:lvl>
                  <c:pt idx="0">
                    <c:v>Shape features</c:v>
                  </c:pt>
                  <c:pt idx="1">
                    <c:v>Log band energy</c:v>
                  </c:pt>
                </c:lvl>
              </c:multiLvlStrCache>
            </c:multiLvlStrRef>
          </c:cat>
          <c:val>
            <c:numRef>
              <c:f>Sheet1!$B$2:$B$3</c:f>
              <c:numCache>
                <c:formatCode>General</c:formatCode>
                <c:ptCount val="2"/>
                <c:pt idx="0">
                  <c:v>75.3</c:v>
                </c:pt>
                <c:pt idx="1">
                  <c:v>100</c:v>
                </c:pt>
              </c:numCache>
            </c:numRef>
          </c:val>
        </c:ser>
        <c:ser>
          <c:idx val="1"/>
          <c:order val="1"/>
          <c:tx>
            <c:strRef>
              <c:f>Sheet1!$C$1</c:f>
              <c:strCache>
                <c:ptCount val="1"/>
                <c:pt idx="0">
                  <c:v>MPU6050-matched</c:v>
                </c:pt>
              </c:strCache>
            </c:strRef>
          </c:tx>
          <c:spPr>
            <a:solidFill>
              <a:srgbClr val="13294B"/>
            </a:solidFill>
            <a:effectLst/>
          </c:spPr>
          <c:invertIfNegative val="0"/>
          <c:dLbls>
            <c:numFmt formatCode="0" sourceLinked="0"/>
            <c:txPr>
              <a:bodyPr/>
              <a:lstStyle/>
              <a:p>
                <a:pPr>
                  <a:defRPr b="0" i="0" strike="noStrike" sz="1100" u="none">
                    <a:solidFill>
                      <a:srgbClr val="374151"/>
                    </a:solidFill>
                    <a:latin typeface="+mn-lt"/>
                  </a:defRPr>
                </a:pPr>
              </a:p>
            </c:txPr>
            <c:showLegendKey val="0"/>
            <c:showVal val="1"/>
            <c:showCatName val="0"/>
            <c:showSerName val="0"/>
            <c:showPercent val="0"/>
            <c:showBubbleSize val="0"/>
            <c:showLeaderLines val="0"/>
          </c:dLbls>
          <c:cat>
            <c:multiLvlStrRef>
              <c:f>Sheet1!$A$2:$A$3</c:f>
              <c:multiLvlStrCache>
                <c:ptCount val="2"/>
                <c:lvl>
                  <c:pt idx="0">
                    <c:v>Shape features</c:v>
                  </c:pt>
                  <c:pt idx="1">
                    <c:v>Log band energy</c:v>
                  </c:pt>
                </c:lvl>
              </c:multiLvlStrCache>
            </c:multiLvlStrRef>
          </c:cat>
          <c:val>
            <c:numRef>
              <c:f>Sheet1!$C$2:$C$3</c:f>
              <c:numCache>
                <c:formatCode>General</c:formatCode>
                <c:ptCount val="2"/>
                <c:pt idx="0">
                  <c:v>15.7</c:v>
                </c:pt>
                <c:pt idx="1">
                  <c:v>97.7</c:v>
                </c:pt>
              </c:numCache>
            </c:numRef>
          </c:val>
        </c:ser>
        <c:dLbls>
          <c:numFmt formatCode="0" sourceLinked="0"/>
          <c:txPr>
            <a:bodyPr/>
            <a:lstStyle/>
            <a:p>
              <a:pPr>
                <a:defRPr b="0" i="0" strike="noStrike" sz="1100" u="none">
                  <a:solidFill>
                    <a:srgbClr val="37415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7415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Detected (%) by fault location and size</a:t>
            </a:r>
          </a:p>
        </c:rich>
      </c:tx>
      <c:layout/>
      <c:overlay val="0"/>
    </c:title>
    <c:autoTitleDeleted val="0"/>
    <c:plotArea>
      <c:layout/>
      <c:barChart>
        <c:barDir val="col"/>
        <c:grouping val="clustered"/>
        <c:varyColors val="0"/>
        <c:ser>
          <c:idx val="0"/>
          <c:order val="0"/>
          <c:tx>
            <c:strRef>
              <c:f>Sheet1!$B$1</c:f>
              <c:strCache>
                <c:ptCount val="1"/>
                <c:pt idx="0">
                  <c:v>0.007 in</c:v>
                </c:pt>
              </c:strCache>
            </c:strRef>
          </c:tx>
          <c:spPr>
            <a:solidFill>
              <a:srgbClr val="9DB4D3"/>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Sheet1!$B$2:$B$4</c:f>
              <c:numCache>
                <c:formatCode>General</c:formatCode>
                <c:ptCount val="3"/>
                <c:pt idx="0">
                  <c:v>100</c:v>
                </c:pt>
                <c:pt idx="1">
                  <c:v>91.4</c:v>
                </c:pt>
                <c:pt idx="2">
                  <c:v>100</c:v>
                </c:pt>
              </c:numCache>
            </c:numRef>
          </c:val>
        </c:ser>
        <c:ser>
          <c:idx val="1"/>
          <c:order val="1"/>
          <c:tx>
            <c:strRef>
              <c:f>Sheet1!$C$1</c:f>
              <c:strCache>
                <c:ptCount val="1"/>
                <c:pt idx="0">
                  <c:v>0.014 in</c:v>
                </c:pt>
              </c:strCache>
            </c:strRef>
          </c:tx>
          <c:spPr>
            <a:solidFill>
              <a:srgbClr val="4A6FA5"/>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Sheet1!$C$2:$C$4</c:f>
              <c:numCache>
                <c:formatCode>General</c:formatCode>
                <c:ptCount val="3"/>
                <c:pt idx="0">
                  <c:v>93.4</c:v>
                </c:pt>
                <c:pt idx="1">
                  <c:v>98.7</c:v>
                </c:pt>
                <c:pt idx="2">
                  <c:v>100</c:v>
                </c:pt>
              </c:numCache>
            </c:numRef>
          </c:val>
        </c:ser>
        <c:ser>
          <c:idx val="2"/>
          <c:order val="2"/>
          <c:tx>
            <c:strRef>
              <c:f>Sheet1!$D$1</c:f>
              <c:strCache>
                <c:ptCount val="1"/>
                <c:pt idx="0">
                  <c:v>0.021 in</c:v>
                </c:pt>
              </c:strCache>
            </c:strRef>
          </c:tx>
          <c:spPr>
            <a:solidFill>
              <a:srgbClr val="13294B"/>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Sheet1!$D$2:$D$4</c:f>
              <c:numCache>
                <c:formatCode>General</c:formatCode>
                <c:ptCount val="3"/>
                <c:pt idx="0">
                  <c:v>99.3</c:v>
                </c:pt>
                <c:pt idx="1">
                  <c:v>97.4</c:v>
                </c:pt>
                <c:pt idx="2">
                  <c:v>99.3</c:v>
                </c:pt>
              </c:numCache>
            </c:numRef>
          </c:val>
        </c:ser>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7415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ResQFog, a low-cost edge–fog framework that gives early warning of mechanical faults in the pumps of water-supply pumping stations. The work combines an ESP32 sensor node on each pump, a fog server with a machine learning model, and SMS alerts through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with the motivation and the gap in existing work, then present our contributions, the architecture, the edge node and the machine learning model, the results, the dashboard and tests, a LoRa and GPS variant for remote sites, and finally the limitations and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pumping stations are unmanned and spread out. Mechanical faults show up first as vibration, but nobody is there to notice it, so the problem is discovered when the water stops. Industrial monitoring exists but is too expensive for a single borewell, and the network at these sites is unreliable. Our aim is a node of about a thousand rupees per pump.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statement is on top. It breaks into three questions. Where should each decision run? Does machine learning developed on high-bandwidth data still work with a cheap sensor? And how can we deploy anomaly detection when we have no fault data for a particular pump?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groups put machine learning on microcontrollers for pumps and motors. Loukatos et al. is the closest: a water pump with a 100 hertz accelerometer. Kolar et al. use edge and fog devices with ISO severity rules. None of them combines protection at the edge with a fog model trained under the bandwidth of the deployed sensor, or addresses running a group of unmanned pumps. Their accuracies come from different data, so we do not compare the numbers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four contributions. A two-layer design where the edge protects and the fog warns early. A training procedure matched to the sensor's bandwidth. An evaluation under that constraint, which shows that the commonly used shape features fail while band energies work. And a complete, low-cost system with the operational features a utility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pump has an edge node that samples vibration and runs the first detection layer: thresholds, the buzzer and the motor trip. The fog server in the pump office runs the second layer, the anomaly model, plus the dashboard and fault recording. The cloud is used only to deliver SMS. Layer one needs no network at all; layer two needs only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bill of materials for one node, about 1,040 rupees. The MPU6050 is configured with its 184 hertz low-pass filter, which matters later. The motor trip uses the existing driver enable pin. The firmware uses 81 percent of flash and 16 percent of RAM, which leaves room for on-node features in the LoRa 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layer works on the vibration level v, the magnitude of acceleration minus gravity. Four states, with a motor trip after three consecutive critical readings so that a single knock does not stop the pump. Every second the node reads a 256-sample window, classifies the level, acts locally, and then sends the data. If the fog is unreachable the reading goes into a five-minute ring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layer runs on the fog. We take the public CWRU bearing recordings, filter them with the same 184 hertz cut-off as our sensor and resample them to 500 hertz. From each window we compute the log energy in ten frequency bands and train an Isolation Forest on healthy data only. An anomaly needs three abnormal windows out of five, which makes a false anomaly extremely unlikely. Because every pump is different, a real pump is calibrated from about two minutes of normal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comes from the CWRU bearing data center: four healthy recordings and thirty-six faulty ones across three fault locations, three sizes and four loads. One detail we checked: the healthy files are recorded at 48 kilohertz, not 12, which many tutorials get wrong. The chart shows the mean band energies after our preprocessing; most of the difference between classes is below 100 hertz.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finding. On the left, with data matched to our sensor, shape features like kurtosis and crest factor detect only 16 percent of fault windows, while log band energies detect 98 percent. On the right we show why: on the original 12 kilohertz data shape features do reasonably well, but the sensor's 184 hertz filter removes the short impacts they depend on. The practical lesson is that methods developed on full-bandwidth data must be re-checked before they are used with cheap MEMS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four detectors on the same features. Local Outlier Factor and the z-score baseline catch slightly more faults but raise four times as many false alarms. One-Class SVM catches everything but flags half of the healthy windows. Isolation Forest has the lowest false alarm rate, which matters most when nobody is on site. Over ten random seeds it detects about 95 percent of fault windows at about 1 percent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above 91 percent for every fault type and size; the hardest case is the smallest ball defect. When a whole motor load is held out of training, detection stays between 96 and almost 100 percent, but false alarms rise at the extreme loads, which is exactly why each real pump is calibrated over its own operating range. A supervised Random Forest reached 87 percent on the unseen load, which shows why an anomaly detector suits pumps without labelled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fog dashboard during a demonstration with four pumps that replay real CWRU windows. PUMP-03 is selected: its vibration level is still normal, but the ML model has flagged an abnormal pattern, so the panel shows an early warning and recommends an inspection. Two other pumps have tripped. From here the operator can calibrate a pump, restart a tripped motor and download fault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functional tests. The first five were done on the hardware rig. The highlighted ones were tested against the fog server with an emulated edge node that sends the same messages as the firmware. Scoring a reading takes 3.6 milliseconds and calibration 34 milliseconds, so one fog node can easily serve many pumps.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borewells outside Wi-Fi range we propose a LoRa variant. The raw window does not fit in a LoRa packet, so the node would compute the ten band energies itself and send a 27-byte packet. That takes 67 milliseconds at spreading factor 7 and over 1.6 seconds at 12, so at long range the reporting interval would grow, while protection on the node still runs every second. A GPS module could register each node's location and add a map link to the SMS, with a fixed-coordinate fallback indoors. To be clear, these are design proposals that we have not built or measured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open about four limitations: the known caveats of the CWRU dataset, the lack of tests on real faults from our own rig, the limited bandwidth of the sensor, and the assumption that the pump is healthy during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 node of about a thousand rupees protects the motor locally, and the fog model gives an early warning with about one percent false alarms on data matched to our sensor. The bandwidth finding is useful for anyone using cheap MEMS sensors. Next we will collect real fault data, add current and temperature sensing, and build the LoRa and GPS 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key references. The full list is in our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to show the system running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640080"/>
          </a:xfrm>
          <a:prstGeom prst="rect">
            <a:avLst/>
          </a:prstGeom>
          <a:noFill/>
          <a:ln/>
        </p:spPr>
        <p:txBody>
          <a:bodyPr wrap="square" rtlCol="0"/>
          <a:lstStyle>
            <a:lvl1pPr algn="l" indent="0" marL="0">
              <a:buNone/>
              <a:defRPr lang="en-US" sz="2800" b="1" dirty="0">
                <a:solidFill>
                  <a:srgbClr val="13294B"/>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3" name="Text 0"/>
          <p:cNvSpPr/>
          <p:nvPr/>
        </p:nvSpPr>
        <p:spPr>
          <a:xfrm>
            <a:off x="548640" y="6419088"/>
            <a:ext cx="7315200" cy="256032"/>
          </a:xfrm>
          <a:prstGeom prst="rect">
            <a:avLst/>
          </a:prstGeom>
          <a:noFill/>
          <a:ln/>
        </p:spPr>
        <p:txBody>
          <a:bodyPr wrap="square" lIns="0" tIns="0" rIns="0" bIns="0" rtlCol="0" anchor="ctr"/>
          <a:lstStyle/>
          <a:p>
            <a:pPr indent="0" marL="0">
              <a:buNone/>
            </a:pPr>
            <a:r>
              <a:rPr lang="en-US" sz="1000" dirty="0">
                <a:solidFill>
                  <a:srgbClr val="8A93A1"/>
                </a:solidFill>
                <a:latin typeface="Calibri" pitchFamily="34" charset="0"/>
                <a:ea typeface="Calibri" pitchFamily="34" charset="-122"/>
                <a:cs typeface="Calibri" pitchFamily="34" charset="-120"/>
              </a:rPr>
              <a:t>ResQFog  ·  Edge–Fog condition monitoring for water-supply pumping stations</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94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9144000" cy="320040"/>
          </a:xfrm>
          <a:prstGeom prst="rect">
            <a:avLst/>
          </a:prstGeom>
          <a:noFill/>
          <a:ln/>
        </p:spPr>
        <p:txBody>
          <a:bodyPr wrap="square" lIns="0" tIns="0" rIns="0" bIns="0" rtlCol="0" anchor="t"/>
          <a:lstStyle/>
          <a:p>
            <a:pPr indent="0" marL="0">
              <a:buNone/>
            </a:pPr>
            <a:r>
              <a:rPr lang="en-US" sz="1400" dirty="0">
                <a:solidFill>
                  <a:srgbClr val="C9D3E3"/>
                </a:solidFill>
                <a:latin typeface="Calibri" pitchFamily="34" charset="0"/>
                <a:ea typeface="Calibri" pitchFamily="34" charset="-122"/>
                <a:cs typeface="Calibri" pitchFamily="34" charset="-120"/>
              </a:rPr>
              <a:t>VIT  ·  BCSE313L Fundamentals of Fog and Edge Computing</a:t>
            </a:r>
            <a:endParaRPr lang="en-US" sz="1400" dirty="0"/>
          </a:p>
        </p:txBody>
      </p:sp>
      <p:sp>
        <p:nvSpPr>
          <p:cNvPr id="3" name="Text 1"/>
          <p:cNvSpPr/>
          <p:nvPr/>
        </p:nvSpPr>
        <p:spPr>
          <a:xfrm>
            <a:off x="731520" y="1828800"/>
            <a:ext cx="9144000" cy="914400"/>
          </a:xfrm>
          <a:prstGeom prst="rect">
            <a:avLst/>
          </a:prstGeom>
          <a:noFill/>
          <a:ln/>
        </p:spPr>
        <p:txBody>
          <a:bodyPr wrap="square" lIns="0" tIns="0" rIns="0" bIns="0" rtlCol="0" anchor="ctr"/>
          <a:lstStyle/>
          <a:p>
            <a:pPr indent="0" marL="0">
              <a:buNone/>
            </a:pPr>
            <a:r>
              <a:rPr lang="en-US" sz="5600" b="1" dirty="0">
                <a:solidFill>
                  <a:srgbClr val="FFFFFF"/>
                </a:solidFill>
                <a:latin typeface="Calibri" pitchFamily="34" charset="0"/>
                <a:ea typeface="Calibri" pitchFamily="34" charset="-122"/>
                <a:cs typeface="Calibri" pitchFamily="34" charset="-120"/>
              </a:rPr>
              <a:t>ResQFog</a:t>
            </a:r>
            <a:endParaRPr lang="en-US" sz="5600" dirty="0"/>
          </a:p>
        </p:txBody>
      </p:sp>
      <p:sp>
        <p:nvSpPr>
          <p:cNvPr id="4" name="Text 2"/>
          <p:cNvSpPr txBox="1"/>
          <p:nvPr/>
        </p:nvSpPr>
        <p:spPr>
          <a:xfrm>
            <a:off x="731520" y="2788920"/>
            <a:ext cx="10241280" cy="914400"/>
          </a:xfrm>
          <a:prstGeom prst="rect">
            <a:avLst/>
          </a:prstGeom>
          <a:noFill/>
          <a:ln/>
        </p:spPr>
        <p:txBody>
          <a:bodyPr wrap="square" lIns="0" tIns="0" rIns="0" bIns="0" rtlCol="0" anchor="t"/>
          <a:lstStyle/>
          <a:p>
            <a:pPr indent="0" marL="0">
              <a:buNone/>
            </a:pPr>
            <a:r>
              <a:rPr lang="en-US" sz="2400" dirty="0">
                <a:solidFill>
                  <a:srgbClr val="E5EAF2"/>
                </a:solidFill>
                <a:latin typeface="Calibri" pitchFamily="34" charset="0"/>
                <a:ea typeface="Calibri" pitchFamily="34" charset="-122"/>
                <a:cs typeface="Calibri" pitchFamily="34" charset="-120"/>
              </a:rPr>
              <a:t>A Low-Cost Edge–Fog Framework for Vibration-Based Early Fault Warning in Water-Supply Pumping Stations</a:t>
            </a:r>
            <a:endParaRPr lang="en-US" sz="2400" dirty="0"/>
          </a:p>
        </p:txBody>
      </p:sp>
      <p:sp>
        <p:nvSpPr>
          <p:cNvPr id="5" name="Shape 3"/>
          <p:cNvSpPr/>
          <p:nvPr/>
        </p:nvSpPr>
        <p:spPr>
          <a:xfrm>
            <a:off x="731520" y="4892040"/>
            <a:ext cx="10698480" cy="0"/>
          </a:xfrm>
          <a:prstGeom prst="line">
            <a:avLst/>
          </a:prstGeom>
          <a:noFill/>
          <a:ln w="12700">
            <a:solidFill>
              <a:srgbClr val="2E4468"/>
            </a:solidFill>
            <a:prstDash val="solid"/>
          </a:ln>
        </p:spPr>
      </p:sp>
      <p:sp>
        <p:nvSpPr>
          <p:cNvPr id="6" name="Text 4"/>
          <p:cNvSpPr txBox="1"/>
          <p:nvPr/>
        </p:nvSpPr>
        <p:spPr>
          <a:xfrm>
            <a:off x="731520" y="5120640"/>
            <a:ext cx="2743200" cy="274320"/>
          </a:xfrm>
          <a:prstGeom prst="rect">
            <a:avLst/>
          </a:prstGeom>
          <a:noFill/>
          <a:ln/>
        </p:spPr>
        <p:txBody>
          <a:bodyPr wrap="square" lIns="0" tIns="0" rIns="0" bIns="0" rtlCol="0" anchor="t"/>
          <a:lstStyle/>
          <a:p>
            <a:pPr indent="0" marL="0">
              <a:buNone/>
            </a:pPr>
            <a:r>
              <a:rPr lang="en-US" sz="1200" dirty="0">
                <a:solidFill>
                  <a:srgbClr val="C9D3E3"/>
                </a:solidFill>
                <a:latin typeface="Calibri" pitchFamily="34" charset="0"/>
                <a:ea typeface="Calibri" pitchFamily="34" charset="-122"/>
                <a:cs typeface="Calibri" pitchFamily="34" charset="-120"/>
              </a:rPr>
              <a:t>Presented by</a:t>
            </a:r>
            <a:endParaRPr lang="en-US" sz="1200" dirty="0"/>
          </a:p>
        </p:txBody>
      </p:sp>
      <p:sp>
        <p:nvSpPr>
          <p:cNvPr id="7" name="Text 5"/>
          <p:cNvSpPr txBox="1"/>
          <p:nvPr/>
        </p:nvSpPr>
        <p:spPr>
          <a:xfrm>
            <a:off x="731520" y="5413248"/>
            <a:ext cx="365760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ARUSH MISHRA  23BCT0199</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ABUZAR SIDDIQI  23BCT0186</a:t>
            </a:r>
            <a:endParaRPr lang="en-US" sz="1500" dirty="0"/>
          </a:p>
        </p:txBody>
      </p:sp>
      <p:sp>
        <p:nvSpPr>
          <p:cNvPr id="8" name="Text 6"/>
          <p:cNvSpPr txBox="1"/>
          <p:nvPr/>
        </p:nvSpPr>
        <p:spPr>
          <a:xfrm>
            <a:off x="4754880" y="5120640"/>
            <a:ext cx="2743200" cy="274320"/>
          </a:xfrm>
          <a:prstGeom prst="rect">
            <a:avLst/>
          </a:prstGeom>
          <a:noFill/>
          <a:ln/>
        </p:spPr>
        <p:txBody>
          <a:bodyPr wrap="square" lIns="0" tIns="0" rIns="0" bIns="0" rtlCol="0" anchor="t"/>
          <a:lstStyle/>
          <a:p>
            <a:pPr indent="0" marL="0">
              <a:buNone/>
            </a:pPr>
            <a:r>
              <a:rPr lang="en-US" sz="1200" dirty="0">
                <a:solidFill>
                  <a:srgbClr val="C9D3E3"/>
                </a:solidFill>
                <a:latin typeface="Calibri" pitchFamily="34" charset="0"/>
                <a:ea typeface="Calibri" pitchFamily="34" charset="-122"/>
                <a:cs typeface="Calibri" pitchFamily="34" charset="-120"/>
              </a:rPr>
              <a:t>Course faculty</a:t>
            </a:r>
            <a:endParaRPr lang="en-US" sz="1200" dirty="0"/>
          </a:p>
        </p:txBody>
      </p:sp>
      <p:sp>
        <p:nvSpPr>
          <p:cNvPr id="9" name="Text 7"/>
          <p:cNvSpPr txBox="1"/>
          <p:nvPr/>
        </p:nvSpPr>
        <p:spPr>
          <a:xfrm>
            <a:off x="4754880" y="5413248"/>
            <a:ext cx="36576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Prof. Kauser Ahmed P</a:t>
            </a:r>
            <a:endParaRPr lang="en-US" sz="1500" dirty="0"/>
          </a:p>
        </p:txBody>
      </p:sp>
      <p:sp>
        <p:nvSpPr>
          <p:cNvPr id="10" name="Text 8"/>
          <p:cNvSpPr txBox="1"/>
          <p:nvPr/>
        </p:nvSpPr>
        <p:spPr>
          <a:xfrm>
            <a:off x="8686800" y="5120640"/>
            <a:ext cx="2743200" cy="274320"/>
          </a:xfrm>
          <a:prstGeom prst="rect">
            <a:avLst/>
          </a:prstGeom>
          <a:noFill/>
          <a:ln/>
        </p:spPr>
        <p:txBody>
          <a:bodyPr wrap="square" lIns="0" tIns="0" rIns="0" bIns="0" rtlCol="0" anchor="t"/>
          <a:lstStyle/>
          <a:p>
            <a:pPr algn="r" indent="0" marL="0">
              <a:buNone/>
            </a:pPr>
            <a:r>
              <a:rPr lang="en-US" sz="1200" dirty="0">
                <a:solidFill>
                  <a:srgbClr val="C9D3E3"/>
                </a:solidFill>
                <a:latin typeface="Calibri" pitchFamily="34" charset="0"/>
                <a:ea typeface="Calibri" pitchFamily="34" charset="-122"/>
                <a:cs typeface="Calibri" pitchFamily="34" charset="-120"/>
              </a:rPr>
              <a:t>Date</a:t>
            </a:r>
            <a:endParaRPr lang="en-US" sz="1200" dirty="0"/>
          </a:p>
        </p:txBody>
      </p:sp>
      <p:sp>
        <p:nvSpPr>
          <p:cNvPr id="11" name="Text 9"/>
          <p:cNvSpPr txBox="1"/>
          <p:nvPr/>
        </p:nvSpPr>
        <p:spPr>
          <a:xfrm>
            <a:off x="8686800" y="5413248"/>
            <a:ext cx="2743200" cy="320040"/>
          </a:xfrm>
          <a:prstGeom prst="rect">
            <a:avLst/>
          </a:prstGeom>
          <a:noFill/>
          <a:ln/>
        </p:spPr>
        <p:txBody>
          <a:bodyPr wrap="square" lIns="0" tIns="0" rIns="0" bIns="0" rtlCol="0" anchor="t"/>
          <a:lstStyle/>
          <a:p>
            <a:pPr algn="r" indent="0" marL="0">
              <a:buNone/>
            </a:pPr>
            <a:r>
              <a:rPr lang="en-US" sz="1500" b="1" dirty="0">
                <a:solidFill>
                  <a:srgbClr val="FFFFFF"/>
                </a:solidFill>
                <a:latin typeface="Calibri" pitchFamily="34" charset="0"/>
                <a:ea typeface="Calibri" pitchFamily="34" charset="-122"/>
                <a:cs typeface="Calibri" pitchFamily="34" charset="-120"/>
              </a:rPr>
              <a:t>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OVERVIEW</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Outline</a:t>
            </a:r>
            <a:endParaRPr lang="en-US" sz="2800" dirty="0"/>
          </a:p>
        </p:txBody>
      </p:sp>
      <p:sp>
        <p:nvSpPr>
          <p:cNvPr id="4" name="Text 2"/>
          <p:cNvSpPr txBox="1"/>
          <p:nvPr/>
        </p:nvSpPr>
        <p:spPr>
          <a:xfrm>
            <a:off x="548640" y="150876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01</a:t>
            </a:r>
            <a:endParaRPr lang="en-US" sz="2400" dirty="0"/>
          </a:p>
        </p:txBody>
      </p:sp>
      <p:sp>
        <p:nvSpPr>
          <p:cNvPr id="5" name="Text 3"/>
          <p:cNvSpPr txBox="1"/>
          <p:nvPr/>
        </p:nvSpPr>
        <p:spPr>
          <a:xfrm>
            <a:off x="1280160" y="150876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Motivation and problem</a:t>
            </a:r>
            <a:endParaRPr lang="en-US" sz="1800" dirty="0"/>
          </a:p>
        </p:txBody>
      </p:sp>
      <p:sp>
        <p:nvSpPr>
          <p:cNvPr id="6" name="Text 4"/>
          <p:cNvSpPr txBox="1"/>
          <p:nvPr/>
        </p:nvSpPr>
        <p:spPr>
          <a:xfrm>
            <a:off x="548640" y="237744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02</a:t>
            </a:r>
            <a:endParaRPr lang="en-US" sz="2400" dirty="0"/>
          </a:p>
        </p:txBody>
      </p:sp>
      <p:sp>
        <p:nvSpPr>
          <p:cNvPr id="7" name="Text 5"/>
          <p:cNvSpPr txBox="1"/>
          <p:nvPr/>
        </p:nvSpPr>
        <p:spPr>
          <a:xfrm>
            <a:off x="1280160" y="237744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Related work and gap</a:t>
            </a:r>
            <a:endParaRPr lang="en-US" sz="1800" dirty="0"/>
          </a:p>
        </p:txBody>
      </p:sp>
      <p:sp>
        <p:nvSpPr>
          <p:cNvPr id="8" name="Text 6"/>
          <p:cNvSpPr txBox="1"/>
          <p:nvPr/>
        </p:nvSpPr>
        <p:spPr>
          <a:xfrm>
            <a:off x="548640" y="324612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03</a:t>
            </a:r>
            <a:endParaRPr lang="en-US" sz="2400" dirty="0"/>
          </a:p>
        </p:txBody>
      </p:sp>
      <p:sp>
        <p:nvSpPr>
          <p:cNvPr id="9" name="Text 7"/>
          <p:cNvSpPr txBox="1"/>
          <p:nvPr/>
        </p:nvSpPr>
        <p:spPr>
          <a:xfrm>
            <a:off x="1280160" y="324612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Contributions</a:t>
            </a:r>
            <a:endParaRPr lang="en-US" sz="1800" dirty="0"/>
          </a:p>
        </p:txBody>
      </p:sp>
      <p:sp>
        <p:nvSpPr>
          <p:cNvPr id="10" name="Text 8"/>
          <p:cNvSpPr txBox="1"/>
          <p:nvPr/>
        </p:nvSpPr>
        <p:spPr>
          <a:xfrm>
            <a:off x="548640" y="411480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04</a:t>
            </a:r>
            <a:endParaRPr lang="en-US" sz="2400" dirty="0"/>
          </a:p>
        </p:txBody>
      </p:sp>
      <p:sp>
        <p:nvSpPr>
          <p:cNvPr id="11" name="Text 9"/>
          <p:cNvSpPr txBox="1"/>
          <p:nvPr/>
        </p:nvSpPr>
        <p:spPr>
          <a:xfrm>
            <a:off x="1280160" y="411480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System architecture</a:t>
            </a:r>
            <a:endParaRPr lang="en-US" sz="1800" dirty="0"/>
          </a:p>
        </p:txBody>
      </p:sp>
      <p:sp>
        <p:nvSpPr>
          <p:cNvPr id="12" name="Text 10"/>
          <p:cNvSpPr txBox="1"/>
          <p:nvPr/>
        </p:nvSpPr>
        <p:spPr>
          <a:xfrm>
            <a:off x="548640" y="498348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05</a:t>
            </a:r>
            <a:endParaRPr lang="en-US" sz="2400" dirty="0"/>
          </a:p>
        </p:txBody>
      </p:sp>
      <p:sp>
        <p:nvSpPr>
          <p:cNvPr id="13" name="Text 11"/>
          <p:cNvSpPr txBox="1"/>
          <p:nvPr/>
        </p:nvSpPr>
        <p:spPr>
          <a:xfrm>
            <a:off x="1280160" y="498348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Edge node</a:t>
            </a:r>
            <a:endParaRPr lang="en-US" sz="1800" dirty="0"/>
          </a:p>
        </p:txBody>
      </p:sp>
      <p:sp>
        <p:nvSpPr>
          <p:cNvPr id="14" name="Text 12"/>
          <p:cNvSpPr txBox="1"/>
          <p:nvPr/>
        </p:nvSpPr>
        <p:spPr>
          <a:xfrm>
            <a:off x="6355080" y="150876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06</a:t>
            </a:r>
            <a:endParaRPr lang="en-US" sz="2400" dirty="0"/>
          </a:p>
        </p:txBody>
      </p:sp>
      <p:sp>
        <p:nvSpPr>
          <p:cNvPr id="15" name="Text 13"/>
          <p:cNvSpPr txBox="1"/>
          <p:nvPr/>
        </p:nvSpPr>
        <p:spPr>
          <a:xfrm>
            <a:off x="7086600" y="150876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Fog-level ML model</a:t>
            </a:r>
            <a:endParaRPr lang="en-US" sz="1800" dirty="0"/>
          </a:p>
        </p:txBody>
      </p:sp>
      <p:sp>
        <p:nvSpPr>
          <p:cNvPr id="16" name="Text 14"/>
          <p:cNvSpPr txBox="1"/>
          <p:nvPr/>
        </p:nvSpPr>
        <p:spPr>
          <a:xfrm>
            <a:off x="6355080" y="237744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07</a:t>
            </a:r>
            <a:endParaRPr lang="en-US" sz="2400" dirty="0"/>
          </a:p>
        </p:txBody>
      </p:sp>
      <p:sp>
        <p:nvSpPr>
          <p:cNvPr id="17" name="Text 15"/>
          <p:cNvSpPr txBox="1"/>
          <p:nvPr/>
        </p:nvSpPr>
        <p:spPr>
          <a:xfrm>
            <a:off x="7086600" y="237744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Results</a:t>
            </a:r>
            <a:endParaRPr lang="en-US" sz="1800" dirty="0"/>
          </a:p>
        </p:txBody>
      </p:sp>
      <p:sp>
        <p:nvSpPr>
          <p:cNvPr id="18" name="Text 16"/>
          <p:cNvSpPr txBox="1"/>
          <p:nvPr/>
        </p:nvSpPr>
        <p:spPr>
          <a:xfrm>
            <a:off x="6355080" y="324612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08</a:t>
            </a:r>
            <a:endParaRPr lang="en-US" sz="2400" dirty="0"/>
          </a:p>
        </p:txBody>
      </p:sp>
      <p:sp>
        <p:nvSpPr>
          <p:cNvPr id="19" name="Text 17"/>
          <p:cNvSpPr txBox="1"/>
          <p:nvPr/>
        </p:nvSpPr>
        <p:spPr>
          <a:xfrm>
            <a:off x="7086600" y="324612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Dashboard and system tests</a:t>
            </a:r>
            <a:endParaRPr lang="en-US" sz="1800" dirty="0"/>
          </a:p>
        </p:txBody>
      </p:sp>
      <p:sp>
        <p:nvSpPr>
          <p:cNvPr id="20" name="Text 18"/>
          <p:cNvSpPr txBox="1"/>
          <p:nvPr/>
        </p:nvSpPr>
        <p:spPr>
          <a:xfrm>
            <a:off x="6355080" y="411480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09</a:t>
            </a:r>
            <a:endParaRPr lang="en-US" sz="2400" dirty="0"/>
          </a:p>
        </p:txBody>
      </p:sp>
      <p:sp>
        <p:nvSpPr>
          <p:cNvPr id="21" name="Text 19"/>
          <p:cNvSpPr txBox="1"/>
          <p:nvPr/>
        </p:nvSpPr>
        <p:spPr>
          <a:xfrm>
            <a:off x="7086600" y="411480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LoRa and GPS deployment variant</a:t>
            </a:r>
            <a:endParaRPr lang="en-US" sz="1800" dirty="0"/>
          </a:p>
        </p:txBody>
      </p:sp>
      <p:sp>
        <p:nvSpPr>
          <p:cNvPr id="22" name="Text 20"/>
          <p:cNvSpPr txBox="1"/>
          <p:nvPr/>
        </p:nvSpPr>
        <p:spPr>
          <a:xfrm>
            <a:off x="6355080" y="4983480"/>
            <a:ext cx="640080" cy="731520"/>
          </a:xfrm>
          <a:prstGeom prst="rect">
            <a:avLst/>
          </a:prstGeom>
          <a:noFill/>
          <a:ln/>
        </p:spPr>
        <p:txBody>
          <a:bodyPr wrap="square" lIns="0" tIns="0" rIns="0" bIns="0" rtlCol="0" anchor="ctr"/>
          <a:lstStyle/>
          <a:p>
            <a:pPr indent="0" marL="0">
              <a:buNone/>
            </a:pPr>
            <a:r>
              <a:rPr lang="en-US" sz="2400" b="1" dirty="0">
                <a:solidFill>
                  <a:srgbClr val="C2410C"/>
                </a:solidFill>
                <a:latin typeface="Calibri" pitchFamily="34" charset="0"/>
                <a:ea typeface="Calibri" pitchFamily="34" charset="-122"/>
                <a:cs typeface="Calibri" pitchFamily="34" charset="-120"/>
              </a:rPr>
              <a:t>10</a:t>
            </a:r>
            <a:endParaRPr lang="en-US" sz="2400" dirty="0"/>
          </a:p>
        </p:txBody>
      </p:sp>
      <p:sp>
        <p:nvSpPr>
          <p:cNvPr id="23" name="Text 21"/>
          <p:cNvSpPr txBox="1"/>
          <p:nvPr/>
        </p:nvSpPr>
        <p:spPr>
          <a:xfrm>
            <a:off x="7086600" y="4983480"/>
            <a:ext cx="448056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Limitations and conclusion</a:t>
            </a:r>
            <a:endParaRPr lang="en-US" sz="18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MOTIVATION</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Small pumping stations fail silently</a:t>
            </a:r>
            <a:endParaRPr lang="en-US" sz="2800" dirty="0"/>
          </a:p>
        </p:txBody>
      </p:sp>
      <p:sp>
        <p:nvSpPr>
          <p:cNvPr id="4" name="Text 2"/>
          <p:cNvSpPr txBox="1"/>
          <p:nvPr/>
        </p:nvSpPr>
        <p:spPr>
          <a:xfrm>
            <a:off x="548640" y="1463040"/>
            <a:ext cx="5669280" cy="91440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Borewell, sump and booster pumps supply drinking water to towns and villages. Most of them run unattended and are visited once or twice a day.</a:t>
            </a:r>
            <a:endParaRPr lang="en-US" sz="1700" dirty="0"/>
          </a:p>
        </p:txBody>
      </p:sp>
      <p:sp>
        <p:nvSpPr>
          <p:cNvPr id="5" name="Text 3"/>
          <p:cNvSpPr txBox="1"/>
          <p:nvPr/>
        </p:nvSpPr>
        <p:spPr>
          <a:xfrm>
            <a:off x="548640" y="2514600"/>
            <a:ext cx="5669280" cy="3566160"/>
          </a:xfrm>
          <a:prstGeom prst="rect">
            <a:avLst/>
          </a:prstGeom>
          <a:noFill/>
          <a:ln/>
        </p:spPr>
        <p:txBody>
          <a:bodyPr wrap="square" lIns="0" tIns="0" rIns="0" bIns="0" rtlCol="0" anchor="t"/>
          <a:lstStyle/>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Bearing wear, imbalance and misalignment change vibration long before the pump fails</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Nobody is on site to notice it, so the fault is found when the taps run dry</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A bearing that could have been replaced becomes a burnt motor and a supply cut</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Mobile and internet coverage at these sites is unreliable</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Industrial vibration monitoring exists but is priced for large plants</a:t>
            </a:r>
            <a:endParaRPr lang="en-US" sz="1600" dirty="0"/>
          </a:p>
        </p:txBody>
      </p:sp>
      <p:sp>
        <p:nvSpPr>
          <p:cNvPr id="6" name="Shape 4"/>
          <p:cNvSpPr/>
          <p:nvPr/>
        </p:nvSpPr>
        <p:spPr>
          <a:xfrm>
            <a:off x="6675120" y="1463040"/>
            <a:ext cx="4965192" cy="4480560"/>
          </a:xfrm>
          <a:prstGeom prst="roundRect">
            <a:avLst>
              <a:gd name="adj" fmla="val 1633"/>
            </a:avLst>
          </a:prstGeom>
          <a:solidFill>
            <a:srgbClr val="F3F5F8"/>
          </a:solidFill>
          <a:ln w="12700">
            <a:solidFill>
              <a:srgbClr val="E3E7ED"/>
            </a:solidFill>
            <a:prstDash val="solid"/>
          </a:ln>
        </p:spPr>
      </p:sp>
      <p:sp>
        <p:nvSpPr>
          <p:cNvPr id="7" name="Text 5"/>
          <p:cNvSpPr txBox="1"/>
          <p:nvPr/>
        </p:nvSpPr>
        <p:spPr>
          <a:xfrm>
            <a:off x="7040880" y="1783080"/>
            <a:ext cx="420624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Unmanned</a:t>
            </a:r>
            <a:endParaRPr lang="en-US" sz="3600" dirty="0"/>
          </a:p>
        </p:txBody>
      </p:sp>
      <p:sp>
        <p:nvSpPr>
          <p:cNvPr id="8" name="Text 6"/>
          <p:cNvSpPr txBox="1"/>
          <p:nvPr/>
        </p:nvSpPr>
        <p:spPr>
          <a:xfrm>
            <a:off x="7040880" y="2496312"/>
            <a:ext cx="420624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sites spread over several kilometres</a:t>
            </a:r>
            <a:endParaRPr lang="en-US" sz="1300" dirty="0"/>
          </a:p>
        </p:txBody>
      </p:sp>
      <p:sp>
        <p:nvSpPr>
          <p:cNvPr id="9" name="Text 7"/>
          <p:cNvSpPr txBox="1"/>
          <p:nvPr/>
        </p:nvSpPr>
        <p:spPr>
          <a:xfrm>
            <a:off x="7040880" y="3108960"/>
            <a:ext cx="420624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Vibration</a:t>
            </a:r>
            <a:endParaRPr lang="en-US" sz="3600" dirty="0"/>
          </a:p>
        </p:txBody>
      </p:sp>
      <p:sp>
        <p:nvSpPr>
          <p:cNvPr id="10" name="Text 8"/>
          <p:cNvSpPr txBox="1"/>
          <p:nvPr/>
        </p:nvSpPr>
        <p:spPr>
          <a:xfrm>
            <a:off x="7040880" y="3822192"/>
            <a:ext cx="420624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the earliest measurable sign of mechanical faults</a:t>
            </a:r>
            <a:endParaRPr lang="en-US" sz="1300" dirty="0"/>
          </a:p>
        </p:txBody>
      </p:sp>
      <p:sp>
        <p:nvSpPr>
          <p:cNvPr id="11" name="Text 9"/>
          <p:cNvSpPr txBox="1"/>
          <p:nvPr/>
        </p:nvSpPr>
        <p:spPr>
          <a:xfrm>
            <a:off x="7040880" y="4434840"/>
            <a:ext cx="4206240" cy="685800"/>
          </a:xfrm>
          <a:prstGeom prst="rect">
            <a:avLst/>
          </a:prstGeom>
          <a:noFill/>
          <a:ln/>
        </p:spPr>
        <p:txBody>
          <a:bodyPr wrap="square" lIns="0" tIns="0" rIns="0" bIns="0" rtlCol="0" anchor="t"/>
          <a:lstStyle/>
          <a:p>
            <a:pPr indent="0" marL="0">
              <a:buNone/>
            </a:pPr>
            <a:r>
              <a:rPr lang="en-US" sz="3600" b="1" dirty="0">
                <a:solidFill>
                  <a:srgbClr val="C2410C"/>
                </a:solidFill>
                <a:latin typeface="Calibri" pitchFamily="34" charset="0"/>
                <a:ea typeface="Calibri" pitchFamily="34" charset="-122"/>
                <a:cs typeface="Calibri" pitchFamily="34" charset="-120"/>
              </a:rPr>
              <a:t>≈ INR 1,040</a:t>
            </a:r>
            <a:endParaRPr lang="en-US" sz="3600" dirty="0"/>
          </a:p>
        </p:txBody>
      </p:sp>
      <p:sp>
        <p:nvSpPr>
          <p:cNvPr id="12" name="Text 10"/>
          <p:cNvSpPr txBox="1"/>
          <p:nvPr/>
        </p:nvSpPr>
        <p:spPr>
          <a:xfrm>
            <a:off x="7040880" y="5148072"/>
            <a:ext cx="420624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cost of one ResQFog node per pump</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PROBLEM STATEMENT</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What we set out to solve</a:t>
            </a:r>
            <a:endParaRPr lang="en-US" sz="2800" dirty="0"/>
          </a:p>
        </p:txBody>
      </p:sp>
      <p:sp>
        <p:nvSpPr>
          <p:cNvPr id="4" name="Shape 2"/>
          <p:cNvSpPr/>
          <p:nvPr/>
        </p:nvSpPr>
        <p:spPr>
          <a:xfrm>
            <a:off x="548640" y="1508760"/>
            <a:ext cx="11094415" cy="1325880"/>
          </a:xfrm>
          <a:prstGeom prst="roundRect">
            <a:avLst>
              <a:gd name="adj" fmla="val 5517"/>
            </a:avLst>
          </a:prstGeom>
          <a:solidFill>
            <a:srgbClr val="FCEFE7"/>
          </a:solidFill>
          <a:ln w="12700">
            <a:solidFill>
              <a:srgbClr val="FCEFE7"/>
            </a:solidFill>
            <a:prstDash val="solid"/>
          </a:ln>
        </p:spPr>
      </p:sp>
      <p:sp>
        <p:nvSpPr>
          <p:cNvPr id="5" name="Text 3"/>
          <p:cNvSpPr txBox="1"/>
          <p:nvPr/>
        </p:nvSpPr>
        <p:spPr>
          <a:xfrm>
            <a:off x="868680" y="1645920"/>
            <a:ext cx="10454335" cy="1097280"/>
          </a:xfrm>
          <a:prstGeom prst="rect">
            <a:avLst/>
          </a:prstGeom>
          <a:noFill/>
          <a:ln/>
        </p:spPr>
        <p:txBody>
          <a:bodyPr wrap="square" lIns="0" tIns="0" rIns="0" bIns="0" rtlCol="0" anchor="ctr"/>
          <a:lstStyle/>
          <a:p>
            <a:pPr indent="0" marL="0">
              <a:buNone/>
            </a:pPr>
            <a:r>
              <a:rPr lang="en-US" sz="1800" b="1" dirty="0">
                <a:solidFill>
                  <a:srgbClr val="13294B"/>
                </a:solidFill>
                <a:latin typeface="Calibri" pitchFamily="34" charset="0"/>
                <a:ea typeface="Calibri" pitchFamily="34" charset="-122"/>
                <a:cs typeface="Calibri" pitchFamily="34" charset="-120"/>
              </a:rPr>
              <a:t>How can a low-cost node on each pump give an early warning of mechanical faults, protect the motor without depending on the network, and keep a record of every fault, using a sensor that a small water utility can afford?</a:t>
            </a:r>
            <a:endParaRPr lang="en-US" sz="1800" dirty="0"/>
          </a:p>
        </p:txBody>
      </p:sp>
      <p:sp>
        <p:nvSpPr>
          <p:cNvPr id="6" name="Text 4"/>
          <p:cNvSpPr txBox="1"/>
          <p:nvPr/>
        </p:nvSpPr>
        <p:spPr>
          <a:xfrm>
            <a:off x="548640" y="3200400"/>
            <a:ext cx="914400" cy="457200"/>
          </a:xfrm>
          <a:prstGeom prst="rect">
            <a:avLst/>
          </a:prstGeom>
          <a:noFill/>
          <a:ln/>
        </p:spPr>
        <p:txBody>
          <a:bodyPr wrap="square" lIns="0" tIns="0" rIns="0" bIns="0" rtlCol="0" anchor="t"/>
          <a:lstStyle/>
          <a:p>
            <a:pPr indent="0" marL="0">
              <a:buNone/>
            </a:pPr>
            <a:r>
              <a:rPr lang="en-US" sz="2200" b="1" dirty="0">
                <a:solidFill>
                  <a:srgbClr val="C2410C"/>
                </a:solidFill>
                <a:latin typeface="Calibri" pitchFamily="34" charset="0"/>
                <a:ea typeface="Calibri" pitchFamily="34" charset="-122"/>
                <a:cs typeface="Calibri" pitchFamily="34" charset="-120"/>
              </a:rPr>
              <a:t>Q1</a:t>
            </a:r>
            <a:endParaRPr lang="en-US" sz="2200" dirty="0"/>
          </a:p>
        </p:txBody>
      </p:sp>
      <p:sp>
        <p:nvSpPr>
          <p:cNvPr id="7" name="Text 5"/>
          <p:cNvSpPr txBox="1"/>
          <p:nvPr/>
        </p:nvSpPr>
        <p:spPr>
          <a:xfrm>
            <a:off x="548640" y="3703320"/>
            <a:ext cx="3520440" cy="411480"/>
          </a:xfrm>
          <a:prstGeom prst="rect">
            <a:avLst/>
          </a:prstGeom>
          <a:noFill/>
          <a:ln/>
        </p:spPr>
        <p:txBody>
          <a:bodyPr wrap="square" lIns="0" tIns="0" rIns="0" bIns="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Where should decisions run?</a:t>
            </a:r>
            <a:endParaRPr lang="en-US" sz="1700" dirty="0"/>
          </a:p>
        </p:txBody>
      </p:sp>
      <p:sp>
        <p:nvSpPr>
          <p:cNvPr id="8" name="Text 6"/>
          <p:cNvSpPr txBox="1"/>
          <p:nvPr/>
        </p:nvSpPr>
        <p:spPr>
          <a:xfrm>
            <a:off x="548640" y="4160520"/>
            <a:ext cx="3520440" cy="137160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Protection must not wait for Wi-Fi or a laptop; analysis needs more compute than a microcontroller.</a:t>
            </a:r>
            <a:endParaRPr lang="en-US" sz="1400" dirty="0"/>
          </a:p>
        </p:txBody>
      </p:sp>
      <p:sp>
        <p:nvSpPr>
          <p:cNvPr id="9" name="Text 7"/>
          <p:cNvSpPr txBox="1"/>
          <p:nvPr/>
        </p:nvSpPr>
        <p:spPr>
          <a:xfrm>
            <a:off x="4315968" y="3200400"/>
            <a:ext cx="914400" cy="457200"/>
          </a:xfrm>
          <a:prstGeom prst="rect">
            <a:avLst/>
          </a:prstGeom>
          <a:noFill/>
          <a:ln/>
        </p:spPr>
        <p:txBody>
          <a:bodyPr wrap="square" lIns="0" tIns="0" rIns="0" bIns="0" rtlCol="0" anchor="t"/>
          <a:lstStyle/>
          <a:p>
            <a:pPr indent="0" marL="0">
              <a:buNone/>
            </a:pPr>
            <a:r>
              <a:rPr lang="en-US" sz="2200" b="1" dirty="0">
                <a:solidFill>
                  <a:srgbClr val="C2410C"/>
                </a:solidFill>
                <a:latin typeface="Calibri" pitchFamily="34" charset="0"/>
                <a:ea typeface="Calibri" pitchFamily="34" charset="-122"/>
                <a:cs typeface="Calibri" pitchFamily="34" charset="-120"/>
              </a:rPr>
              <a:t>Q2</a:t>
            </a:r>
            <a:endParaRPr lang="en-US" sz="2200" dirty="0"/>
          </a:p>
        </p:txBody>
      </p:sp>
      <p:sp>
        <p:nvSpPr>
          <p:cNvPr id="10" name="Text 8"/>
          <p:cNvSpPr txBox="1"/>
          <p:nvPr/>
        </p:nvSpPr>
        <p:spPr>
          <a:xfrm>
            <a:off x="4315968" y="3703320"/>
            <a:ext cx="3520440" cy="411480"/>
          </a:xfrm>
          <a:prstGeom prst="rect">
            <a:avLst/>
          </a:prstGeom>
          <a:noFill/>
          <a:ln/>
        </p:spPr>
        <p:txBody>
          <a:bodyPr wrap="square" lIns="0" tIns="0" rIns="0" bIns="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Does published ML transfer?</a:t>
            </a:r>
            <a:endParaRPr lang="en-US" sz="1700" dirty="0"/>
          </a:p>
        </p:txBody>
      </p:sp>
      <p:sp>
        <p:nvSpPr>
          <p:cNvPr id="11" name="Text 9"/>
          <p:cNvSpPr txBox="1"/>
          <p:nvPr/>
        </p:nvSpPr>
        <p:spPr>
          <a:xfrm>
            <a:off x="4315968" y="4160520"/>
            <a:ext cx="3520440" cy="137160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Most bearing studies use 12 kHz data; a low-cost MPU6050 measures only up to 184 Hz.</a:t>
            </a:r>
            <a:endParaRPr lang="en-US" sz="1400" dirty="0"/>
          </a:p>
        </p:txBody>
      </p:sp>
      <p:sp>
        <p:nvSpPr>
          <p:cNvPr id="12" name="Text 10"/>
          <p:cNvSpPr txBox="1"/>
          <p:nvPr/>
        </p:nvSpPr>
        <p:spPr>
          <a:xfrm>
            <a:off x="8083296" y="3200400"/>
            <a:ext cx="914400" cy="457200"/>
          </a:xfrm>
          <a:prstGeom prst="rect">
            <a:avLst/>
          </a:prstGeom>
          <a:noFill/>
          <a:ln/>
        </p:spPr>
        <p:txBody>
          <a:bodyPr wrap="square" lIns="0" tIns="0" rIns="0" bIns="0" rtlCol="0" anchor="t"/>
          <a:lstStyle/>
          <a:p>
            <a:pPr indent="0" marL="0">
              <a:buNone/>
            </a:pPr>
            <a:r>
              <a:rPr lang="en-US" sz="2200" b="1" dirty="0">
                <a:solidFill>
                  <a:srgbClr val="C2410C"/>
                </a:solidFill>
                <a:latin typeface="Calibri" pitchFamily="34" charset="0"/>
                <a:ea typeface="Calibri" pitchFamily="34" charset="-122"/>
                <a:cs typeface="Calibri" pitchFamily="34" charset="-120"/>
              </a:rPr>
              <a:t>Q3</a:t>
            </a:r>
            <a:endParaRPr lang="en-US" sz="2200" dirty="0"/>
          </a:p>
        </p:txBody>
      </p:sp>
      <p:sp>
        <p:nvSpPr>
          <p:cNvPr id="13" name="Text 11"/>
          <p:cNvSpPr txBox="1"/>
          <p:nvPr/>
        </p:nvSpPr>
        <p:spPr>
          <a:xfrm>
            <a:off x="8083296" y="3703320"/>
            <a:ext cx="3520440" cy="411480"/>
          </a:xfrm>
          <a:prstGeom prst="rect">
            <a:avLst/>
          </a:prstGeom>
          <a:noFill/>
          <a:ln/>
        </p:spPr>
        <p:txBody>
          <a:bodyPr wrap="square" lIns="0" tIns="0" rIns="0" bIns="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How to deploy without fault data?</a:t>
            </a:r>
            <a:endParaRPr lang="en-US" sz="1700" dirty="0"/>
          </a:p>
        </p:txBody>
      </p:sp>
      <p:sp>
        <p:nvSpPr>
          <p:cNvPr id="14" name="Text 12"/>
          <p:cNvSpPr txBox="1"/>
          <p:nvPr/>
        </p:nvSpPr>
        <p:spPr>
          <a:xfrm>
            <a:off x="8083296" y="4160520"/>
            <a:ext cx="3520440" cy="137160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Each pump is different and faults are rare, so the model must learn from normal running.</a:t>
            </a:r>
            <a:endParaRPr lang="en-US" sz="14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RELATED WORK</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Existing research and the gap</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514600"/>
                <a:gridCol w="2148840"/>
                <a:gridCol w="1965960"/>
                <a:gridCol w="2377440"/>
                <a:gridCol w="1188720"/>
                <a:gridCol w="896112"/>
              </a:tblGrid>
              <a:tr h="530352">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Work</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Detection</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Reported result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Fleet / alerts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Protection</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Loukatos et al., Sensors 2023</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Arduino Nano 33 BLE, 100 Hz</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On-device neural network</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Lab water pump, 5 states; 93 %</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Mostafavi et al., Sharif J. 2025</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STM32H743 + accelerometer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Autoencoder trained on MCU</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Centrifugal pump; &gt; 99.9 %</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Arciniegas et al., Discover IoT 2025</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Low-power MCU</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Spectral + deep learning</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Motor bearings; 96.5 %</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Alerts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Yang et al., CSCWD 2023</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MCU + edge server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Stacked autoencoder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CWRU; 100 % binary</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Kolar et al., Teh. Glas. 2022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IIoT accelerometer, edge + fog</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ISO 10816 rules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Industrial equipment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Dashboard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ResQFog (ours)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ESP32 + MPU6050, ≈ INR 1,040</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Edge thresholds + fog Isolation Forest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CWRU at MPU6050 bandwidth; 97.7 % det., 0.7 % FA</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Dashboard, SMS, CSV</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Edge trip, remote restart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bl>
          </a:graphicData>
        </a:graphic>
      </p:graphicFrame>
      <p:sp>
        <p:nvSpPr>
          <p:cNvPr id="5" name="Text 2"/>
          <p:cNvSpPr txBox="1"/>
          <p:nvPr/>
        </p:nvSpPr>
        <p:spPr>
          <a:xfrm>
            <a:off x="548640" y="5440680"/>
            <a:ext cx="11094415"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 means the paper does not report it. Accuracies come from different datasets and are not directly comparable. Vibration alarms on pumps are also covered by patents (US 10,317,875; US 10,711,802).</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CONTRIBUTIONS</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What this work adds</a:t>
            </a:r>
            <a:endParaRPr lang="en-US" sz="2800" dirty="0"/>
          </a:p>
        </p:txBody>
      </p:sp>
      <p:sp>
        <p:nvSpPr>
          <p:cNvPr id="4" name="Shape 2"/>
          <p:cNvSpPr/>
          <p:nvPr/>
        </p:nvSpPr>
        <p:spPr>
          <a:xfrm>
            <a:off x="548640" y="1508760"/>
            <a:ext cx="5449824" cy="2103120"/>
          </a:xfrm>
          <a:prstGeom prst="roundRect">
            <a:avLst>
              <a:gd name="adj" fmla="val 3478"/>
            </a:avLst>
          </a:prstGeom>
          <a:solidFill>
            <a:srgbClr val="F3F5F8"/>
          </a:solidFill>
          <a:ln w="12700">
            <a:solidFill>
              <a:srgbClr val="E3E7ED"/>
            </a:solidFill>
            <a:prstDash val="solid"/>
          </a:ln>
        </p:spPr>
      </p:sp>
      <p:sp>
        <p:nvSpPr>
          <p:cNvPr id="5" name="Text 3"/>
          <p:cNvSpPr txBox="1"/>
          <p:nvPr/>
        </p:nvSpPr>
        <p:spPr>
          <a:xfrm>
            <a:off x="822960" y="1737360"/>
            <a:ext cx="548640" cy="548640"/>
          </a:xfrm>
          <a:prstGeom prst="rect">
            <a:avLst/>
          </a:prstGeom>
          <a:noFill/>
          <a:ln/>
        </p:spPr>
        <p:txBody>
          <a:bodyPr wrap="square" lIns="0" tIns="0" rIns="0" bIns="0" rtlCol="0" anchor="t"/>
          <a:lstStyle/>
          <a:p>
            <a:pPr indent="0" marL="0">
              <a:buNone/>
            </a:pPr>
            <a:r>
              <a:rPr lang="en-US" sz="3000" b="1" dirty="0">
                <a:solidFill>
                  <a:srgbClr val="C2410C"/>
                </a:solidFill>
                <a:latin typeface="Calibri" pitchFamily="34" charset="0"/>
                <a:ea typeface="Calibri" pitchFamily="34" charset="-122"/>
                <a:cs typeface="Calibri" pitchFamily="34" charset="-120"/>
              </a:rPr>
              <a:t>1</a:t>
            </a:r>
            <a:endParaRPr lang="en-US" sz="3000" dirty="0"/>
          </a:p>
        </p:txBody>
      </p:sp>
      <p:sp>
        <p:nvSpPr>
          <p:cNvPr id="6" name="Text 4"/>
          <p:cNvSpPr txBox="1"/>
          <p:nvPr/>
        </p:nvSpPr>
        <p:spPr>
          <a:xfrm>
            <a:off x="1463040" y="1783080"/>
            <a:ext cx="4297680" cy="457200"/>
          </a:xfrm>
          <a:prstGeom prst="rect">
            <a:avLst/>
          </a:prstGeom>
          <a:noFill/>
          <a:ln/>
        </p:spPr>
        <p:txBody>
          <a:bodyPr wrap="square" lIns="0" tIns="0" rIns="0" bIns="0" rtlCol="0" anchor="t"/>
          <a:lstStyle/>
          <a:p>
            <a:pPr indent="0" marL="0">
              <a:buNone/>
            </a:pPr>
            <a:r>
              <a:rPr lang="en-US" sz="1800" b="1" dirty="0">
                <a:solidFill>
                  <a:srgbClr val="13294B"/>
                </a:solidFill>
                <a:latin typeface="Calibri" pitchFamily="34" charset="0"/>
                <a:ea typeface="Calibri" pitchFamily="34" charset="-122"/>
                <a:cs typeface="Calibri" pitchFamily="34" charset="-120"/>
              </a:rPr>
              <a:t>Two-layer edge–fog detection</a:t>
            </a:r>
            <a:endParaRPr lang="en-US" sz="1800" dirty="0"/>
          </a:p>
        </p:txBody>
      </p:sp>
      <p:sp>
        <p:nvSpPr>
          <p:cNvPr id="7" name="Text 5"/>
          <p:cNvSpPr txBox="1"/>
          <p:nvPr/>
        </p:nvSpPr>
        <p:spPr>
          <a:xfrm>
            <a:off x="1463040" y="2286000"/>
            <a:ext cx="4297680" cy="118872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Threshold alarm and motor trip on the ESP32, independent of the network; Isolation Forest on the fog that warns before the threshold is crossed.</a:t>
            </a:r>
            <a:endParaRPr lang="en-US" sz="1400" dirty="0"/>
          </a:p>
        </p:txBody>
      </p:sp>
      <p:sp>
        <p:nvSpPr>
          <p:cNvPr id="8" name="Shape 6"/>
          <p:cNvSpPr/>
          <p:nvPr/>
        </p:nvSpPr>
        <p:spPr>
          <a:xfrm>
            <a:off x="6190488" y="1508760"/>
            <a:ext cx="5449824" cy="2103120"/>
          </a:xfrm>
          <a:prstGeom prst="roundRect">
            <a:avLst>
              <a:gd name="adj" fmla="val 3478"/>
            </a:avLst>
          </a:prstGeom>
          <a:solidFill>
            <a:srgbClr val="F3F5F8"/>
          </a:solidFill>
          <a:ln w="12700">
            <a:solidFill>
              <a:srgbClr val="E3E7ED"/>
            </a:solidFill>
            <a:prstDash val="solid"/>
          </a:ln>
        </p:spPr>
      </p:sp>
      <p:sp>
        <p:nvSpPr>
          <p:cNvPr id="9" name="Text 7"/>
          <p:cNvSpPr txBox="1"/>
          <p:nvPr/>
        </p:nvSpPr>
        <p:spPr>
          <a:xfrm>
            <a:off x="6464808" y="1737360"/>
            <a:ext cx="548640" cy="548640"/>
          </a:xfrm>
          <a:prstGeom prst="rect">
            <a:avLst/>
          </a:prstGeom>
          <a:noFill/>
          <a:ln/>
        </p:spPr>
        <p:txBody>
          <a:bodyPr wrap="square" lIns="0" tIns="0" rIns="0" bIns="0" rtlCol="0" anchor="t"/>
          <a:lstStyle/>
          <a:p>
            <a:pPr indent="0" marL="0">
              <a:buNone/>
            </a:pPr>
            <a:r>
              <a:rPr lang="en-US" sz="3000" b="1" dirty="0">
                <a:solidFill>
                  <a:srgbClr val="C2410C"/>
                </a:solidFill>
                <a:latin typeface="Calibri" pitchFamily="34" charset="0"/>
                <a:ea typeface="Calibri" pitchFamily="34" charset="-122"/>
                <a:cs typeface="Calibri" pitchFamily="34" charset="-120"/>
              </a:rPr>
              <a:t>2</a:t>
            </a:r>
            <a:endParaRPr lang="en-US" sz="3000" dirty="0"/>
          </a:p>
        </p:txBody>
      </p:sp>
      <p:sp>
        <p:nvSpPr>
          <p:cNvPr id="10" name="Text 8"/>
          <p:cNvSpPr txBox="1"/>
          <p:nvPr/>
        </p:nvSpPr>
        <p:spPr>
          <a:xfrm>
            <a:off x="7104888" y="1783080"/>
            <a:ext cx="4297680" cy="457200"/>
          </a:xfrm>
          <a:prstGeom prst="rect">
            <a:avLst/>
          </a:prstGeom>
          <a:noFill/>
          <a:ln/>
        </p:spPr>
        <p:txBody>
          <a:bodyPr wrap="square" lIns="0" tIns="0" rIns="0" bIns="0" rtlCol="0" anchor="t"/>
          <a:lstStyle/>
          <a:p>
            <a:pPr indent="0" marL="0">
              <a:buNone/>
            </a:pPr>
            <a:r>
              <a:rPr lang="en-US" sz="1800" b="1" dirty="0">
                <a:solidFill>
                  <a:srgbClr val="13294B"/>
                </a:solidFill>
                <a:latin typeface="Calibri" pitchFamily="34" charset="0"/>
                <a:ea typeface="Calibri" pitchFamily="34" charset="-122"/>
                <a:cs typeface="Calibri" pitchFamily="34" charset="-120"/>
              </a:rPr>
              <a:t>Bandwidth-matched training</a:t>
            </a:r>
            <a:endParaRPr lang="en-US" sz="1800" dirty="0"/>
          </a:p>
        </p:txBody>
      </p:sp>
      <p:sp>
        <p:nvSpPr>
          <p:cNvPr id="11" name="Text 9"/>
          <p:cNvSpPr txBox="1"/>
          <p:nvPr/>
        </p:nvSpPr>
        <p:spPr>
          <a:xfrm>
            <a:off x="7104888" y="2286000"/>
            <a:ext cx="4297680" cy="118872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Public CWRU bearing data filtered at 184 Hz and resampled to 500 Hz, exactly what the MPU6050 node measures, before training.</a:t>
            </a:r>
            <a:endParaRPr lang="en-US" sz="1400" dirty="0"/>
          </a:p>
        </p:txBody>
      </p:sp>
      <p:sp>
        <p:nvSpPr>
          <p:cNvPr id="12" name="Shape 10"/>
          <p:cNvSpPr/>
          <p:nvPr/>
        </p:nvSpPr>
        <p:spPr>
          <a:xfrm>
            <a:off x="548640" y="3840480"/>
            <a:ext cx="5449824" cy="2103120"/>
          </a:xfrm>
          <a:prstGeom prst="roundRect">
            <a:avLst>
              <a:gd name="adj" fmla="val 3478"/>
            </a:avLst>
          </a:prstGeom>
          <a:solidFill>
            <a:srgbClr val="F3F5F8"/>
          </a:solidFill>
          <a:ln w="12700">
            <a:solidFill>
              <a:srgbClr val="E3E7ED"/>
            </a:solidFill>
            <a:prstDash val="solid"/>
          </a:ln>
        </p:spPr>
      </p:sp>
      <p:sp>
        <p:nvSpPr>
          <p:cNvPr id="13" name="Text 11"/>
          <p:cNvSpPr txBox="1"/>
          <p:nvPr/>
        </p:nvSpPr>
        <p:spPr>
          <a:xfrm>
            <a:off x="822960" y="4069080"/>
            <a:ext cx="548640" cy="548640"/>
          </a:xfrm>
          <a:prstGeom prst="rect">
            <a:avLst/>
          </a:prstGeom>
          <a:noFill/>
          <a:ln/>
        </p:spPr>
        <p:txBody>
          <a:bodyPr wrap="square" lIns="0" tIns="0" rIns="0" bIns="0" rtlCol="0" anchor="t"/>
          <a:lstStyle/>
          <a:p>
            <a:pPr indent="0" marL="0">
              <a:buNone/>
            </a:pPr>
            <a:r>
              <a:rPr lang="en-US" sz="3000" b="1" dirty="0">
                <a:solidFill>
                  <a:srgbClr val="C2410C"/>
                </a:solidFill>
                <a:latin typeface="Calibri" pitchFamily="34" charset="0"/>
                <a:ea typeface="Calibri" pitchFamily="34" charset="-122"/>
                <a:cs typeface="Calibri" pitchFamily="34" charset="-120"/>
              </a:rPr>
              <a:t>3</a:t>
            </a:r>
            <a:endParaRPr lang="en-US" sz="3000" dirty="0"/>
          </a:p>
        </p:txBody>
      </p:sp>
      <p:sp>
        <p:nvSpPr>
          <p:cNvPr id="14" name="Text 12"/>
          <p:cNvSpPr txBox="1"/>
          <p:nvPr/>
        </p:nvSpPr>
        <p:spPr>
          <a:xfrm>
            <a:off x="1463040" y="4114800"/>
            <a:ext cx="4297680" cy="457200"/>
          </a:xfrm>
          <a:prstGeom prst="rect">
            <a:avLst/>
          </a:prstGeom>
          <a:noFill/>
          <a:ln/>
        </p:spPr>
        <p:txBody>
          <a:bodyPr wrap="square" lIns="0" tIns="0" rIns="0" bIns="0" rtlCol="0" anchor="t"/>
          <a:lstStyle/>
          <a:p>
            <a:pPr indent="0" marL="0">
              <a:buNone/>
            </a:pPr>
            <a:r>
              <a:rPr lang="en-US" sz="1800" b="1" dirty="0">
                <a:solidFill>
                  <a:srgbClr val="13294B"/>
                </a:solidFill>
                <a:latin typeface="Calibri" pitchFamily="34" charset="0"/>
                <a:ea typeface="Calibri" pitchFamily="34" charset="-122"/>
                <a:cs typeface="Calibri" pitchFamily="34" charset="-120"/>
              </a:rPr>
              <a:t>Evaluation under that constraint</a:t>
            </a:r>
            <a:endParaRPr lang="en-US" sz="1800" dirty="0"/>
          </a:p>
        </p:txBody>
      </p:sp>
      <p:sp>
        <p:nvSpPr>
          <p:cNvPr id="15" name="Text 13"/>
          <p:cNvSpPr txBox="1"/>
          <p:nvPr/>
        </p:nvSpPr>
        <p:spPr>
          <a:xfrm>
            <a:off x="1463040" y="4617720"/>
            <a:ext cx="4297680" cy="118872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Feature ablation, four detectors, ten seeds, leave-one-load-out and timing. Shape features fail at this bandwidth; band energies do not.</a:t>
            </a:r>
            <a:endParaRPr lang="en-US" sz="1400" dirty="0"/>
          </a:p>
        </p:txBody>
      </p:sp>
      <p:sp>
        <p:nvSpPr>
          <p:cNvPr id="16" name="Shape 14"/>
          <p:cNvSpPr/>
          <p:nvPr/>
        </p:nvSpPr>
        <p:spPr>
          <a:xfrm>
            <a:off x="6190488" y="3840480"/>
            <a:ext cx="5449824" cy="2103120"/>
          </a:xfrm>
          <a:prstGeom prst="roundRect">
            <a:avLst>
              <a:gd name="adj" fmla="val 3478"/>
            </a:avLst>
          </a:prstGeom>
          <a:solidFill>
            <a:srgbClr val="F3F5F8"/>
          </a:solidFill>
          <a:ln w="12700">
            <a:solidFill>
              <a:srgbClr val="E3E7ED"/>
            </a:solidFill>
            <a:prstDash val="solid"/>
          </a:ln>
        </p:spPr>
      </p:sp>
      <p:sp>
        <p:nvSpPr>
          <p:cNvPr id="17" name="Text 15"/>
          <p:cNvSpPr txBox="1"/>
          <p:nvPr/>
        </p:nvSpPr>
        <p:spPr>
          <a:xfrm>
            <a:off x="6464808" y="4069080"/>
            <a:ext cx="548640" cy="548640"/>
          </a:xfrm>
          <a:prstGeom prst="rect">
            <a:avLst/>
          </a:prstGeom>
          <a:noFill/>
          <a:ln/>
        </p:spPr>
        <p:txBody>
          <a:bodyPr wrap="square" lIns="0" tIns="0" rIns="0" bIns="0" rtlCol="0" anchor="t"/>
          <a:lstStyle/>
          <a:p>
            <a:pPr indent="0" marL="0">
              <a:buNone/>
            </a:pPr>
            <a:r>
              <a:rPr lang="en-US" sz="3000" b="1" dirty="0">
                <a:solidFill>
                  <a:srgbClr val="C2410C"/>
                </a:solidFill>
                <a:latin typeface="Calibri" pitchFamily="34" charset="0"/>
                <a:ea typeface="Calibri" pitchFamily="34" charset="-122"/>
                <a:cs typeface="Calibri" pitchFamily="34" charset="-120"/>
              </a:rPr>
              <a:t>4</a:t>
            </a:r>
            <a:endParaRPr lang="en-US" sz="3000" dirty="0"/>
          </a:p>
        </p:txBody>
      </p:sp>
      <p:sp>
        <p:nvSpPr>
          <p:cNvPr id="18" name="Text 16"/>
          <p:cNvSpPr txBox="1"/>
          <p:nvPr/>
        </p:nvSpPr>
        <p:spPr>
          <a:xfrm>
            <a:off x="7104888" y="4114800"/>
            <a:ext cx="4297680" cy="457200"/>
          </a:xfrm>
          <a:prstGeom prst="rect">
            <a:avLst/>
          </a:prstGeom>
          <a:noFill/>
          <a:ln/>
        </p:spPr>
        <p:txBody>
          <a:bodyPr wrap="square" lIns="0" tIns="0" rIns="0" bIns="0" rtlCol="0" anchor="t"/>
          <a:lstStyle/>
          <a:p>
            <a:pPr indent="0" marL="0">
              <a:buNone/>
            </a:pPr>
            <a:r>
              <a:rPr lang="en-US" sz="1800" b="1" dirty="0">
                <a:solidFill>
                  <a:srgbClr val="13294B"/>
                </a:solidFill>
                <a:latin typeface="Calibri" pitchFamily="34" charset="0"/>
                <a:ea typeface="Calibri" pitchFamily="34" charset="-122"/>
                <a:cs typeface="Calibri" pitchFamily="34" charset="-120"/>
              </a:rPr>
              <a:t>Complete low-cost system</a:t>
            </a:r>
            <a:endParaRPr lang="en-US" sz="1800" dirty="0"/>
          </a:p>
        </p:txBody>
      </p:sp>
      <p:sp>
        <p:nvSpPr>
          <p:cNvPr id="19" name="Text 17"/>
          <p:cNvSpPr txBox="1"/>
          <p:nvPr/>
        </p:nvSpPr>
        <p:spPr>
          <a:xfrm>
            <a:off x="7104888" y="4617720"/>
            <a:ext cx="4297680" cy="1188720"/>
          </a:xfrm>
          <a:prstGeom prst="rect">
            <a:avLst/>
          </a:prstGeom>
          <a:noFill/>
          <a:ln/>
        </p:spPr>
        <p:txBody>
          <a:bodyPr wrap="square" lIns="0" tIns="0" rIns="0" bIns="0" rtlCol="0" anchor="t"/>
          <a:lstStyle/>
          <a:p>
            <a:pPr indent="0" marL="0">
              <a:buNone/>
            </a:pPr>
            <a:r>
              <a:rPr lang="en-US" sz="1400" dirty="0">
                <a:solidFill>
                  <a:srgbClr val="374151"/>
                </a:solidFill>
                <a:latin typeface="Calibri" pitchFamily="34" charset="0"/>
                <a:ea typeface="Calibri" pitchFamily="34" charset="-122"/>
                <a:cs typeface="Calibri" pitchFamily="34" charset="-120"/>
              </a:rPr>
              <a:t>Fleet dashboard, per-pump calibration, store-and-forward, fault recording, SMS and remote restart; LoRa and GPS variant for remote sites.</a:t>
            </a:r>
            <a:endParaRPr lang="en-US" sz="14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SYSTEM ARCHITECTURE</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Three tiers, two detection layers</a:t>
            </a:r>
            <a:endParaRPr lang="en-US" sz="2800" dirty="0"/>
          </a:p>
        </p:txBody>
      </p:sp>
      <p:sp>
        <p:nvSpPr>
          <p:cNvPr id="4" name="Shape 2"/>
          <p:cNvSpPr/>
          <p:nvPr/>
        </p:nvSpPr>
        <p:spPr>
          <a:xfrm>
            <a:off x="548640" y="1463040"/>
            <a:ext cx="3246120" cy="2651760"/>
          </a:xfrm>
          <a:prstGeom prst="rect">
            <a:avLst/>
          </a:prstGeom>
          <a:solidFill>
            <a:srgbClr val="FFFFFF"/>
          </a:solidFill>
          <a:ln w="12700">
            <a:solidFill>
              <a:srgbClr val="13294B"/>
            </a:solidFill>
            <a:prstDash val="solid"/>
          </a:ln>
        </p:spPr>
      </p:sp>
      <p:sp>
        <p:nvSpPr>
          <p:cNvPr id="5" name="Shape 3"/>
          <p:cNvSpPr/>
          <p:nvPr/>
        </p:nvSpPr>
        <p:spPr>
          <a:xfrm>
            <a:off x="548640" y="1463040"/>
            <a:ext cx="3246120" cy="384048"/>
          </a:xfrm>
          <a:prstGeom prst="rect">
            <a:avLst/>
          </a:prstGeom>
          <a:solidFill>
            <a:srgbClr val="13294B"/>
          </a:solidFill>
          <a:ln w="12700">
            <a:solidFill>
              <a:srgbClr val="13294B"/>
            </a:solidFill>
            <a:prstDash val="solid"/>
          </a:ln>
        </p:spPr>
      </p:sp>
      <p:sp>
        <p:nvSpPr>
          <p:cNvPr id="6" name="Text 4"/>
          <p:cNvSpPr txBox="1"/>
          <p:nvPr/>
        </p:nvSpPr>
        <p:spPr>
          <a:xfrm>
            <a:off x="685800" y="1463040"/>
            <a:ext cx="3063240" cy="38404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EDGE  ·  one node per pump</a:t>
            </a:r>
            <a:endParaRPr lang="en-US" sz="1200" dirty="0"/>
          </a:p>
        </p:txBody>
      </p:sp>
      <p:sp>
        <p:nvSpPr>
          <p:cNvPr id="7" name="Text 5"/>
          <p:cNvSpPr txBox="1"/>
          <p:nvPr/>
        </p:nvSpPr>
        <p:spPr>
          <a:xfrm>
            <a:off x="731520" y="1965960"/>
            <a:ext cx="2926080"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ESP32 + MPU6050</a:t>
            </a:r>
            <a:endParaRPr lang="en-US" sz="1500" dirty="0"/>
          </a:p>
        </p:txBody>
      </p:sp>
      <p:sp>
        <p:nvSpPr>
          <p:cNvPr id="8" name="Text 6"/>
          <p:cNvSpPr txBox="1"/>
          <p:nvPr/>
        </p:nvSpPr>
        <p:spPr>
          <a:xfrm>
            <a:off x="731520" y="2359152"/>
            <a:ext cx="2926080" cy="173736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256 samples @ 500 Hz every second</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L1: thresholds, buzzer, motor trip</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300-reading offline buffer</a:t>
            </a:r>
            <a:endParaRPr lang="en-US" sz="1300" dirty="0"/>
          </a:p>
        </p:txBody>
      </p:sp>
      <p:sp>
        <p:nvSpPr>
          <p:cNvPr id="9" name="Shape 7"/>
          <p:cNvSpPr/>
          <p:nvPr/>
        </p:nvSpPr>
        <p:spPr>
          <a:xfrm>
            <a:off x="5257800" y="1463040"/>
            <a:ext cx="3291840" cy="2651760"/>
          </a:xfrm>
          <a:prstGeom prst="rect">
            <a:avLst/>
          </a:prstGeom>
          <a:solidFill>
            <a:srgbClr val="FFFFFF"/>
          </a:solidFill>
          <a:ln w="12700">
            <a:solidFill>
              <a:srgbClr val="13294B"/>
            </a:solidFill>
            <a:prstDash val="solid"/>
          </a:ln>
        </p:spPr>
      </p:sp>
      <p:sp>
        <p:nvSpPr>
          <p:cNvPr id="10" name="Shape 8"/>
          <p:cNvSpPr/>
          <p:nvPr/>
        </p:nvSpPr>
        <p:spPr>
          <a:xfrm>
            <a:off x="5257800" y="1463040"/>
            <a:ext cx="3291840" cy="384048"/>
          </a:xfrm>
          <a:prstGeom prst="rect">
            <a:avLst/>
          </a:prstGeom>
          <a:solidFill>
            <a:srgbClr val="13294B"/>
          </a:solidFill>
          <a:ln w="12700">
            <a:solidFill>
              <a:srgbClr val="13294B"/>
            </a:solidFill>
            <a:prstDash val="solid"/>
          </a:ln>
        </p:spPr>
      </p:sp>
      <p:sp>
        <p:nvSpPr>
          <p:cNvPr id="11" name="Text 9"/>
          <p:cNvSpPr txBox="1"/>
          <p:nvPr/>
        </p:nvSpPr>
        <p:spPr>
          <a:xfrm>
            <a:off x="5394960" y="1463040"/>
            <a:ext cx="3108960" cy="38404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FOG  ·  pump office</a:t>
            </a:r>
            <a:endParaRPr lang="en-US" sz="1200" dirty="0"/>
          </a:p>
        </p:txBody>
      </p:sp>
      <p:sp>
        <p:nvSpPr>
          <p:cNvPr id="12" name="Text 10"/>
          <p:cNvSpPr txBox="1"/>
          <p:nvPr/>
        </p:nvSpPr>
        <p:spPr>
          <a:xfrm>
            <a:off x="5440680" y="1965960"/>
            <a:ext cx="2971800"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Flask server</a:t>
            </a:r>
            <a:endParaRPr lang="en-US" sz="1500" dirty="0"/>
          </a:p>
        </p:txBody>
      </p:sp>
      <p:sp>
        <p:nvSpPr>
          <p:cNvPr id="13" name="Text 11"/>
          <p:cNvSpPr txBox="1"/>
          <p:nvPr/>
        </p:nvSpPr>
        <p:spPr>
          <a:xfrm>
            <a:off x="5440680" y="2359152"/>
            <a:ext cx="2971800" cy="173736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L2: band energies + Isolation Forest</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Fleet dashboard, fault CSVs</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Calibration, restart commands</a:t>
            </a:r>
            <a:endParaRPr lang="en-US" sz="1300" dirty="0"/>
          </a:p>
        </p:txBody>
      </p:sp>
      <p:sp>
        <p:nvSpPr>
          <p:cNvPr id="14" name="Shape 12"/>
          <p:cNvSpPr/>
          <p:nvPr/>
        </p:nvSpPr>
        <p:spPr>
          <a:xfrm>
            <a:off x="9829800" y="1463040"/>
            <a:ext cx="1813255" cy="2651760"/>
          </a:xfrm>
          <a:prstGeom prst="rect">
            <a:avLst/>
          </a:prstGeom>
          <a:solidFill>
            <a:srgbClr val="FFFFFF"/>
          </a:solidFill>
          <a:ln w="12700">
            <a:solidFill>
              <a:srgbClr val="13294B"/>
            </a:solidFill>
            <a:prstDash val="solid"/>
          </a:ln>
        </p:spPr>
      </p:sp>
      <p:sp>
        <p:nvSpPr>
          <p:cNvPr id="15" name="Shape 13"/>
          <p:cNvSpPr/>
          <p:nvPr/>
        </p:nvSpPr>
        <p:spPr>
          <a:xfrm>
            <a:off x="9829800" y="1463040"/>
            <a:ext cx="1813255" cy="384048"/>
          </a:xfrm>
          <a:prstGeom prst="rect">
            <a:avLst/>
          </a:prstGeom>
          <a:solidFill>
            <a:srgbClr val="13294B"/>
          </a:solidFill>
          <a:ln w="12700">
            <a:solidFill>
              <a:srgbClr val="13294B"/>
            </a:solidFill>
            <a:prstDash val="solid"/>
          </a:ln>
        </p:spPr>
      </p:sp>
      <p:sp>
        <p:nvSpPr>
          <p:cNvPr id="16" name="Text 14"/>
          <p:cNvSpPr txBox="1"/>
          <p:nvPr/>
        </p:nvSpPr>
        <p:spPr>
          <a:xfrm>
            <a:off x="9966960" y="1463040"/>
            <a:ext cx="1630375" cy="38404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CLOUD</a:t>
            </a:r>
            <a:endParaRPr lang="en-US" sz="1200" dirty="0"/>
          </a:p>
        </p:txBody>
      </p:sp>
      <p:sp>
        <p:nvSpPr>
          <p:cNvPr id="17" name="Text 15"/>
          <p:cNvSpPr txBox="1"/>
          <p:nvPr/>
        </p:nvSpPr>
        <p:spPr>
          <a:xfrm>
            <a:off x="10012680" y="1965960"/>
            <a:ext cx="1493215"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Twilio SMS</a:t>
            </a:r>
            <a:endParaRPr lang="en-US" sz="1500" dirty="0"/>
          </a:p>
        </p:txBody>
      </p:sp>
      <p:sp>
        <p:nvSpPr>
          <p:cNvPr id="18" name="Text 16"/>
          <p:cNvSpPr txBox="1"/>
          <p:nvPr/>
        </p:nvSpPr>
        <p:spPr>
          <a:xfrm>
            <a:off x="10012680" y="2359152"/>
            <a:ext cx="1493215" cy="173736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Pump ID, site, reading</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Any phone</a:t>
            </a:r>
            <a:endParaRPr lang="en-US" sz="1300" dirty="0"/>
          </a:p>
        </p:txBody>
      </p:sp>
      <p:sp>
        <p:nvSpPr>
          <p:cNvPr id="19" name="Shape 17"/>
          <p:cNvSpPr/>
          <p:nvPr/>
        </p:nvSpPr>
        <p:spPr>
          <a:xfrm>
            <a:off x="3840480" y="2423160"/>
            <a:ext cx="1371600" cy="0"/>
          </a:xfrm>
          <a:prstGeom prst="line">
            <a:avLst/>
          </a:prstGeom>
          <a:noFill/>
          <a:ln w="25400">
            <a:solidFill>
              <a:srgbClr val="13294B"/>
            </a:solidFill>
            <a:prstDash val="solid"/>
            <a:tailEnd type="triangle"/>
          </a:ln>
        </p:spPr>
      </p:sp>
      <p:sp>
        <p:nvSpPr>
          <p:cNvPr id="20" name="Text 18"/>
          <p:cNvSpPr txBox="1"/>
          <p:nvPr/>
        </p:nvSpPr>
        <p:spPr>
          <a:xfrm>
            <a:off x="3840480" y="1874520"/>
            <a:ext cx="1371600" cy="502920"/>
          </a:xfrm>
          <a:prstGeom prst="rect">
            <a:avLst/>
          </a:prstGeom>
          <a:noFill/>
          <a:ln/>
        </p:spPr>
        <p:txBody>
          <a:bodyPr wrap="square" lIns="0" tIns="0" rIns="0" bIns="0" rtlCol="0" anchor="b"/>
          <a:lstStyle/>
          <a:p>
            <a:pPr algn="ctr" indent="0" marL="0">
              <a:buNone/>
            </a:pPr>
            <a:r>
              <a:rPr lang="en-US" sz="1100" dirty="0">
                <a:solidFill>
                  <a:srgbClr val="13294B"/>
                </a:solidFill>
                <a:latin typeface="Calibri" pitchFamily="34" charset="0"/>
                <a:ea typeface="Calibri" pitchFamily="34" charset="-122"/>
                <a:cs typeface="Calibri" pitchFamily="34" charset="-120"/>
              </a:rPr>
              <a:t>reading + window</a:t>
            </a:r>
            <a:endParaRPr lang="en-US" sz="1100" dirty="0"/>
          </a:p>
          <a:p>
            <a:pPr algn="ctr" indent="0" marL="0">
              <a:buNone/>
            </a:pPr>
            <a:r>
              <a:rPr lang="en-US" sz="1100" dirty="0">
                <a:solidFill>
                  <a:srgbClr val="13294B"/>
                </a:solidFill>
                <a:latin typeface="Calibri" pitchFamily="34" charset="0"/>
                <a:ea typeface="Calibri" pitchFamily="34" charset="-122"/>
                <a:cs typeface="Calibri" pitchFamily="34" charset="-120"/>
              </a:rPr>
              <a:t>every second</a:t>
            </a:r>
            <a:endParaRPr lang="en-US" sz="1100" dirty="0"/>
          </a:p>
        </p:txBody>
      </p:sp>
      <p:sp>
        <p:nvSpPr>
          <p:cNvPr id="21" name="Shape 19"/>
          <p:cNvSpPr/>
          <p:nvPr/>
        </p:nvSpPr>
        <p:spPr>
          <a:xfrm flipH="1">
            <a:off x="3840480" y="3246120"/>
            <a:ext cx="1371600" cy="0"/>
          </a:xfrm>
          <a:prstGeom prst="line">
            <a:avLst/>
          </a:prstGeom>
          <a:noFill/>
          <a:ln w="25400">
            <a:solidFill>
              <a:srgbClr val="C2410C"/>
            </a:solidFill>
            <a:prstDash val="solid"/>
            <a:tailEnd type="triangle"/>
          </a:ln>
        </p:spPr>
      </p:sp>
      <p:sp>
        <p:nvSpPr>
          <p:cNvPr id="22" name="Text 20"/>
          <p:cNvSpPr txBox="1"/>
          <p:nvPr/>
        </p:nvSpPr>
        <p:spPr>
          <a:xfrm>
            <a:off x="3840480" y="3310128"/>
            <a:ext cx="1371600" cy="365760"/>
          </a:xfrm>
          <a:prstGeom prst="rect">
            <a:avLst/>
          </a:prstGeom>
          <a:noFill/>
          <a:ln/>
        </p:spPr>
        <p:txBody>
          <a:bodyPr wrap="square" lIns="0" tIns="0" rIns="0" bIns="0" rtlCol="0" anchor="t"/>
          <a:lstStyle/>
          <a:p>
            <a:pPr algn="ctr" indent="0" marL="0">
              <a:buNone/>
            </a:pPr>
            <a:r>
              <a:rPr lang="en-US" sz="1100" dirty="0">
                <a:solidFill>
                  <a:srgbClr val="C2410C"/>
                </a:solidFill>
                <a:latin typeface="Calibri" pitchFamily="34" charset="0"/>
                <a:ea typeface="Calibri" pitchFamily="34" charset="-122"/>
                <a:cs typeface="Calibri" pitchFamily="34" charset="-120"/>
              </a:rPr>
              <a:t>restart (in reply)</a:t>
            </a:r>
            <a:endParaRPr lang="en-US" sz="1100" dirty="0"/>
          </a:p>
        </p:txBody>
      </p:sp>
      <p:sp>
        <p:nvSpPr>
          <p:cNvPr id="23" name="Shape 21"/>
          <p:cNvSpPr/>
          <p:nvPr/>
        </p:nvSpPr>
        <p:spPr>
          <a:xfrm>
            <a:off x="8595360" y="2423160"/>
            <a:ext cx="1188720" cy="0"/>
          </a:xfrm>
          <a:prstGeom prst="line">
            <a:avLst/>
          </a:prstGeom>
          <a:noFill/>
          <a:ln w="25400">
            <a:solidFill>
              <a:srgbClr val="13294B"/>
            </a:solidFill>
            <a:prstDash val="solid"/>
            <a:tailEnd type="triangle"/>
          </a:ln>
        </p:spPr>
      </p:sp>
      <p:sp>
        <p:nvSpPr>
          <p:cNvPr id="24" name="Text 22"/>
          <p:cNvSpPr txBox="1"/>
          <p:nvPr/>
        </p:nvSpPr>
        <p:spPr>
          <a:xfrm>
            <a:off x="8595360" y="1874520"/>
            <a:ext cx="1188720" cy="502920"/>
          </a:xfrm>
          <a:prstGeom prst="rect">
            <a:avLst/>
          </a:prstGeom>
          <a:noFill/>
          <a:ln/>
        </p:spPr>
        <p:txBody>
          <a:bodyPr wrap="square" lIns="0" tIns="0" rIns="0" bIns="0" rtlCol="0" anchor="b"/>
          <a:lstStyle/>
          <a:p>
            <a:pPr algn="ctr" indent="0" marL="0">
              <a:buNone/>
            </a:pPr>
            <a:r>
              <a:rPr lang="en-US" sz="1100" dirty="0">
                <a:solidFill>
                  <a:srgbClr val="13294B"/>
                </a:solidFill>
                <a:latin typeface="Calibri" pitchFamily="34" charset="0"/>
                <a:ea typeface="Calibri" pitchFamily="34" charset="-122"/>
                <a:cs typeface="Calibri" pitchFamily="34" charset="-120"/>
              </a:rPr>
              <a:t>HTTPS</a:t>
            </a:r>
            <a:endParaRPr lang="en-US" sz="1100" dirty="0"/>
          </a:p>
          <a:p>
            <a:pPr algn="ctr" indent="0" marL="0">
              <a:buNone/>
            </a:pPr>
            <a:r>
              <a:rPr lang="en-US" sz="1100" dirty="0">
                <a:solidFill>
                  <a:srgbClr val="13294B"/>
                </a:solidFill>
                <a:latin typeface="Calibri" pitchFamily="34" charset="0"/>
                <a:ea typeface="Calibri" pitchFamily="34" charset="-122"/>
                <a:cs typeface="Calibri" pitchFamily="34" charset="-120"/>
              </a:rPr>
              <a:t>new fault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11094415" cy="914400"/>
        </p:xfrm>
        <a:graphic>
          <a:graphicData uri="http://schemas.openxmlformats.org/drawingml/2006/table">
            <a:tbl>
              <a:tblPr/>
              <a:tblGrid>
                <a:gridCol w="2377440"/>
                <a:gridCol w="1645920"/>
                <a:gridCol w="4965192"/>
                <a:gridCol w="2103120"/>
              </a:tblGrid>
              <a:tr h="41148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Runs on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Reacts to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Needs network?</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1148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L1 thresholds + trip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ESP32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Vibration level v ≥ 1.20 g for 3 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L2 anomaly model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Fog server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Change in the vibration spectrum (3 of 5 windows)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Local network only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26" name="Text 23"/>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Commands travel back inside the HTTP reply, so the ESP32 never has to accept incoming connections.</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EDGE NODE</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Hardware and wiring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1600200"/>
                <a:gridCol w="2834640"/>
                <a:gridCol w="2423160"/>
                <a:gridCol w="640080"/>
              </a:tblGrid>
              <a:tr h="438912">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Component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Connection to ESP32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INR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ESP32 DevKit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Controller with Wi-Fi</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USB powered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400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MPU6050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3-axis accelerometer, ±2 g, DLPF 184 Hz</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I²C SDA 21, SCL 22 (0x68)</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16×2 LCD (I²C)</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 state, buffered count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Shared I²C bus (0x27)</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L298N driver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Drives motor; trip sets PWM to 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ENA 25, IN1 26, IN2 27</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DC motor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Stands in for the pump motor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L298N outputs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Potentiometer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Speed; turning to zero resets a trip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GPIO 34</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Buzzer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2 kHz alarm, beeps while tripped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GPIO 32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1,040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5" name="Shape 2"/>
          <p:cNvSpPr/>
          <p:nvPr/>
        </p:nvSpPr>
        <p:spPr>
          <a:xfrm>
            <a:off x="8321040" y="1463040"/>
            <a:ext cx="3319272" cy="3931920"/>
          </a:xfrm>
          <a:prstGeom prst="roundRect">
            <a:avLst>
              <a:gd name="adj" fmla="val 2204"/>
            </a:avLst>
          </a:prstGeom>
          <a:solidFill>
            <a:srgbClr val="F3F5F8"/>
          </a:solidFill>
          <a:ln w="12700">
            <a:solidFill>
              <a:srgbClr val="E3E7ED"/>
            </a:solidFill>
            <a:prstDash val="solid"/>
          </a:ln>
        </p:spPr>
      </p:sp>
      <p:sp>
        <p:nvSpPr>
          <p:cNvPr id="6" name="Text 3"/>
          <p:cNvSpPr txBox="1"/>
          <p:nvPr/>
        </p:nvSpPr>
        <p:spPr>
          <a:xfrm>
            <a:off x="8549640" y="1645920"/>
            <a:ext cx="29260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Firmware footprint</a:t>
            </a:r>
            <a:endParaRPr lang="en-US" sz="1600" dirty="0"/>
          </a:p>
        </p:txBody>
      </p:sp>
      <p:sp>
        <p:nvSpPr>
          <p:cNvPr id="7" name="Text 4"/>
          <p:cNvSpPr txBox="1"/>
          <p:nvPr/>
        </p:nvSpPr>
        <p:spPr>
          <a:xfrm>
            <a:off x="8549640" y="2103120"/>
            <a:ext cx="292608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81 %</a:t>
            </a:r>
            <a:endParaRPr lang="en-US" sz="3600" dirty="0"/>
          </a:p>
        </p:txBody>
      </p:sp>
      <p:sp>
        <p:nvSpPr>
          <p:cNvPr id="8" name="Text 5"/>
          <p:cNvSpPr txBox="1"/>
          <p:nvPr/>
        </p:nvSpPr>
        <p:spPr>
          <a:xfrm>
            <a:off x="8549640" y="2816352"/>
            <a:ext cx="292608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of 1.31 MB flash</a:t>
            </a:r>
            <a:endParaRPr lang="en-US" sz="1300" dirty="0"/>
          </a:p>
        </p:txBody>
      </p:sp>
      <p:sp>
        <p:nvSpPr>
          <p:cNvPr id="9" name="Text 6"/>
          <p:cNvSpPr txBox="1"/>
          <p:nvPr/>
        </p:nvSpPr>
        <p:spPr>
          <a:xfrm>
            <a:off x="8549640" y="3429000"/>
            <a:ext cx="292608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16 %</a:t>
            </a:r>
            <a:endParaRPr lang="en-US" sz="3600" dirty="0"/>
          </a:p>
        </p:txBody>
      </p:sp>
      <p:sp>
        <p:nvSpPr>
          <p:cNvPr id="10" name="Text 7"/>
          <p:cNvSpPr txBox="1"/>
          <p:nvPr/>
        </p:nvSpPr>
        <p:spPr>
          <a:xfrm>
            <a:off x="8549640" y="4142232"/>
            <a:ext cx="292608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of RAM (54.9 kB)</a:t>
            </a:r>
            <a:endParaRPr lang="en-US" sz="1300" dirty="0"/>
          </a:p>
        </p:txBody>
      </p:sp>
      <p:sp>
        <p:nvSpPr>
          <p:cNvPr id="11" name="Text 8"/>
          <p:cNvSpPr txBox="1"/>
          <p:nvPr/>
        </p:nvSpPr>
        <p:spPr>
          <a:xfrm>
            <a:off x="548640" y="5577840"/>
            <a:ext cx="7498080" cy="45720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 a real pump the L298N is replaced by a relay driving the motor contactor.</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EDGE NODE</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Layer 1: sampling, thresholds and protection</a:t>
            </a:r>
            <a:endParaRPr lang="en-US" sz="2800" dirty="0"/>
          </a:p>
        </p:txBody>
      </p:sp>
      <p:sp>
        <p:nvSpPr>
          <p:cNvPr id="4" name="Shape 2"/>
          <p:cNvSpPr/>
          <p:nvPr/>
        </p:nvSpPr>
        <p:spPr>
          <a:xfrm>
            <a:off x="548640" y="1463040"/>
            <a:ext cx="5212080" cy="868680"/>
          </a:xfrm>
          <a:prstGeom prst="roundRect">
            <a:avLst>
              <a:gd name="adj" fmla="val 8421"/>
            </a:avLst>
          </a:prstGeom>
          <a:solidFill>
            <a:srgbClr val="F3F5F8"/>
          </a:solidFill>
          <a:ln w="12700">
            <a:solidFill>
              <a:srgbClr val="E3E7ED"/>
            </a:solidFill>
            <a:prstDash val="solid"/>
          </a:ln>
        </p:spPr>
      </p:sp>
      <p:sp>
        <p:nvSpPr>
          <p:cNvPr id="5" name="Text 3"/>
          <p:cNvSpPr/>
          <p:nvPr/>
        </p:nvSpPr>
        <p:spPr>
          <a:xfrm>
            <a:off x="548640" y="1463040"/>
            <a:ext cx="5212080" cy="868680"/>
          </a:xfrm>
          <a:prstGeom prst="rect">
            <a:avLst/>
          </a:prstGeom>
          <a:noFill/>
          <a:ln/>
        </p:spPr>
        <p:txBody>
          <a:bodyPr wrap="square" lIns="0" tIns="0" rIns="0" bIns="0" rtlCol="0" anchor="ctr"/>
          <a:lstStyle/>
          <a:p>
            <a:pPr algn="ctr" indent="0" marL="0">
              <a:buNone/>
            </a:pPr>
            <a:r>
              <a:rPr lang="en-US" sz="2400" dirty="0">
                <a:solidFill>
                  <a:srgbClr val="1F2937"/>
                </a:solidFill>
                <a:latin typeface="Cambria" pitchFamily="34" charset="0"/>
                <a:ea typeface="Cambria" pitchFamily="34" charset="-122"/>
                <a:cs typeface="Cambria" pitchFamily="34" charset="-120"/>
              </a:rPr>
              <a:t>v = | √(ax² + ay² + az²) − 1 g |</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5212080" cy="914400"/>
        </p:xfrm>
        <a:graphic>
          <a:graphicData uri="http://schemas.openxmlformats.org/drawingml/2006/table">
            <a:tbl>
              <a:tblPr/>
              <a:tblGrid>
                <a:gridCol w="1280160"/>
                <a:gridCol w="1828800"/>
                <a:gridCol w="2103120"/>
              </a:tblGrid>
              <a:tr h="438912">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Condition</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38912">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NORMAL</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v &lt; 1.00 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WARNING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1.00 ≤ v &lt; 1.20 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Logged, amber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CRITICAL</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v ≥ 1.20 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Buzzer, SMS, fault CSV</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TRIPPED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3 CRITICAL in a row</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Motor PWM set to 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4937760"/>
            <a:ext cx="521208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Thresholds from the test rig: normal running averages about 0.1 g, with short peaks near 1.0 g.</a:t>
            </a:r>
            <a:endParaRPr lang="en-US" sz="1300" dirty="0"/>
          </a:p>
        </p:txBody>
      </p:sp>
      <p:sp>
        <p:nvSpPr>
          <p:cNvPr id="8" name="Text 5"/>
          <p:cNvSpPr txBox="1"/>
          <p:nvPr/>
        </p:nvSpPr>
        <p:spPr>
          <a:xfrm>
            <a:off x="6355080" y="1463040"/>
            <a:ext cx="530352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Every second</a:t>
            </a:r>
            <a:endParaRPr lang="en-US" sz="1600" dirty="0"/>
          </a:p>
        </p:txBody>
      </p:sp>
      <p:sp>
        <p:nvSpPr>
          <p:cNvPr id="9" name="Text 6"/>
          <p:cNvSpPr txBox="1"/>
          <p:nvPr/>
        </p:nvSpPr>
        <p:spPr>
          <a:xfrm>
            <a:off x="6355080" y="1874520"/>
            <a:ext cx="5285232" cy="402336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Read 256 samples at 2 ms intervals (0.512 s); the 184 Hz filter prevents aliasing</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Classify v and drive the buzzer before any network call</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Trip after three CRITICAL readings; clear by turning the knob to zero or by a restart from the fog</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POST the reading and window; if that fails, store it in a 300-entry ring buffer</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When the fog is back, upload the buffer 30 readings at a time with their age</a:t>
            </a:r>
            <a:endParaRPr lang="en-US" sz="15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FOG-LEVEL ML</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Layer 2: anomaly detection on the fog</a:t>
            </a:r>
            <a:endParaRPr lang="en-US" sz="2800" dirty="0"/>
          </a:p>
        </p:txBody>
      </p:sp>
      <p:sp>
        <p:nvSpPr>
          <p:cNvPr id="4" name="Shape 2"/>
          <p:cNvSpPr/>
          <p:nvPr/>
        </p:nvSpPr>
        <p:spPr>
          <a:xfrm>
            <a:off x="548640" y="1508760"/>
            <a:ext cx="2011680" cy="914400"/>
          </a:xfrm>
          <a:prstGeom prst="rect">
            <a:avLst/>
          </a:prstGeom>
          <a:solidFill>
            <a:srgbClr val="FFFFFF"/>
          </a:solidFill>
          <a:ln w="12700">
            <a:solidFill>
              <a:srgbClr val="6B7280"/>
            </a:solidFill>
            <a:prstDash val="solid"/>
          </a:ln>
        </p:spPr>
      </p:sp>
      <p:sp>
        <p:nvSpPr>
          <p:cNvPr id="5" name="Text 3"/>
          <p:cNvSpPr txBox="1"/>
          <p:nvPr/>
        </p:nvSpPr>
        <p:spPr>
          <a:xfrm>
            <a:off x="621792" y="1508760"/>
            <a:ext cx="1865376" cy="91440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CWRU recordings</a:t>
            </a:r>
            <a:endParaRPr lang="en-US" sz="1300" dirty="0"/>
          </a:p>
          <a:p>
            <a:pPr algn="ctr" indent="0" marL="0">
              <a:buNone/>
            </a:pPr>
            <a:r>
              <a:rPr lang="en-US" sz="1300" dirty="0">
                <a:solidFill>
                  <a:srgbClr val="1F2937"/>
                </a:solidFill>
                <a:latin typeface="Calibri" pitchFamily="34" charset="0"/>
                <a:ea typeface="Calibri" pitchFamily="34" charset="-122"/>
                <a:cs typeface="Calibri" pitchFamily="34" charset="-120"/>
              </a:rPr>
              <a:t>(12 / 48 kHz)</a:t>
            </a:r>
            <a:endParaRPr lang="en-US" sz="1300" dirty="0"/>
          </a:p>
        </p:txBody>
      </p:sp>
      <p:sp>
        <p:nvSpPr>
          <p:cNvPr id="6" name="Shape 4"/>
          <p:cNvSpPr/>
          <p:nvPr/>
        </p:nvSpPr>
        <p:spPr>
          <a:xfrm>
            <a:off x="2587752" y="1965960"/>
            <a:ext cx="201168" cy="0"/>
          </a:xfrm>
          <a:prstGeom prst="line">
            <a:avLst/>
          </a:prstGeom>
          <a:noFill/>
          <a:ln w="25400">
            <a:solidFill>
              <a:srgbClr val="13294B"/>
            </a:solidFill>
            <a:prstDash val="solid"/>
            <a:tailEnd type="triangle"/>
          </a:ln>
        </p:spPr>
      </p:sp>
      <p:sp>
        <p:nvSpPr>
          <p:cNvPr id="7" name="Shape 5"/>
          <p:cNvSpPr/>
          <p:nvPr/>
        </p:nvSpPr>
        <p:spPr>
          <a:xfrm>
            <a:off x="2816352" y="1508760"/>
            <a:ext cx="2011680" cy="914400"/>
          </a:xfrm>
          <a:prstGeom prst="rect">
            <a:avLst/>
          </a:prstGeom>
          <a:solidFill>
            <a:srgbClr val="FFFFFF"/>
          </a:solidFill>
          <a:ln w="12700">
            <a:solidFill>
              <a:srgbClr val="6B7280"/>
            </a:solidFill>
            <a:prstDash val="solid"/>
          </a:ln>
        </p:spPr>
      </p:sp>
      <p:sp>
        <p:nvSpPr>
          <p:cNvPr id="8" name="Text 6"/>
          <p:cNvSpPr txBox="1"/>
          <p:nvPr/>
        </p:nvSpPr>
        <p:spPr>
          <a:xfrm>
            <a:off x="2889504" y="1508760"/>
            <a:ext cx="1865376" cy="91440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184 Hz low-pass</a:t>
            </a:r>
            <a:endParaRPr lang="en-US" sz="1300" dirty="0"/>
          </a:p>
          <a:p>
            <a:pPr algn="ctr" indent="0" marL="0">
              <a:buNone/>
            </a:pPr>
            <a:r>
              <a:rPr lang="en-US" sz="1300" dirty="0">
                <a:solidFill>
                  <a:srgbClr val="1F2937"/>
                </a:solidFill>
                <a:latin typeface="Calibri" pitchFamily="34" charset="0"/>
                <a:ea typeface="Calibri" pitchFamily="34" charset="-122"/>
                <a:cs typeface="Calibri" pitchFamily="34" charset="-120"/>
              </a:rPr>
              <a:t>(MPU6050 DLPF)</a:t>
            </a:r>
            <a:endParaRPr lang="en-US" sz="1300" dirty="0"/>
          </a:p>
        </p:txBody>
      </p:sp>
      <p:sp>
        <p:nvSpPr>
          <p:cNvPr id="9" name="Shape 7"/>
          <p:cNvSpPr/>
          <p:nvPr/>
        </p:nvSpPr>
        <p:spPr>
          <a:xfrm>
            <a:off x="4855464" y="1965960"/>
            <a:ext cx="201168" cy="0"/>
          </a:xfrm>
          <a:prstGeom prst="line">
            <a:avLst/>
          </a:prstGeom>
          <a:noFill/>
          <a:ln w="25400">
            <a:solidFill>
              <a:srgbClr val="13294B"/>
            </a:solidFill>
            <a:prstDash val="solid"/>
            <a:tailEnd type="triangle"/>
          </a:ln>
        </p:spPr>
      </p:sp>
      <p:sp>
        <p:nvSpPr>
          <p:cNvPr id="10" name="Shape 8"/>
          <p:cNvSpPr/>
          <p:nvPr/>
        </p:nvSpPr>
        <p:spPr>
          <a:xfrm>
            <a:off x="5084064" y="1508760"/>
            <a:ext cx="2011680" cy="914400"/>
          </a:xfrm>
          <a:prstGeom prst="rect">
            <a:avLst/>
          </a:prstGeom>
          <a:solidFill>
            <a:srgbClr val="FFFFFF"/>
          </a:solidFill>
          <a:ln w="12700">
            <a:solidFill>
              <a:srgbClr val="6B7280"/>
            </a:solidFill>
            <a:prstDash val="solid"/>
          </a:ln>
        </p:spPr>
      </p:sp>
      <p:sp>
        <p:nvSpPr>
          <p:cNvPr id="11" name="Text 9"/>
          <p:cNvSpPr txBox="1"/>
          <p:nvPr/>
        </p:nvSpPr>
        <p:spPr>
          <a:xfrm>
            <a:off x="5157216" y="1508760"/>
            <a:ext cx="1865376" cy="91440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Resample to 500 Hz</a:t>
            </a:r>
            <a:endParaRPr lang="en-US" sz="1300" dirty="0"/>
          </a:p>
          <a:p>
            <a:pPr algn="ctr" indent="0" marL="0">
              <a:buNone/>
            </a:pPr>
            <a:r>
              <a:rPr lang="en-US" sz="1300" dirty="0">
                <a:solidFill>
                  <a:srgbClr val="1F2937"/>
                </a:solidFill>
                <a:latin typeface="Calibri" pitchFamily="34" charset="0"/>
                <a:ea typeface="Calibri" pitchFamily="34" charset="-122"/>
                <a:cs typeface="Calibri" pitchFamily="34" charset="-120"/>
              </a:rPr>
              <a:t>256-sample windows</a:t>
            </a:r>
            <a:endParaRPr lang="en-US" sz="1300" dirty="0"/>
          </a:p>
        </p:txBody>
      </p:sp>
      <p:sp>
        <p:nvSpPr>
          <p:cNvPr id="12" name="Shape 10"/>
          <p:cNvSpPr/>
          <p:nvPr/>
        </p:nvSpPr>
        <p:spPr>
          <a:xfrm>
            <a:off x="7123176" y="1965960"/>
            <a:ext cx="201168" cy="0"/>
          </a:xfrm>
          <a:prstGeom prst="line">
            <a:avLst/>
          </a:prstGeom>
          <a:noFill/>
          <a:ln w="25400">
            <a:solidFill>
              <a:srgbClr val="13294B"/>
            </a:solidFill>
            <a:prstDash val="solid"/>
            <a:tailEnd type="triangle"/>
          </a:ln>
        </p:spPr>
      </p:sp>
      <p:sp>
        <p:nvSpPr>
          <p:cNvPr id="13" name="Shape 11"/>
          <p:cNvSpPr/>
          <p:nvPr/>
        </p:nvSpPr>
        <p:spPr>
          <a:xfrm>
            <a:off x="7351776" y="1508760"/>
            <a:ext cx="2011680" cy="914400"/>
          </a:xfrm>
          <a:prstGeom prst="rect">
            <a:avLst/>
          </a:prstGeom>
          <a:solidFill>
            <a:srgbClr val="FFFFFF"/>
          </a:solidFill>
          <a:ln w="12700">
            <a:solidFill>
              <a:srgbClr val="6B7280"/>
            </a:solidFill>
            <a:prstDash val="solid"/>
          </a:ln>
        </p:spPr>
      </p:sp>
      <p:sp>
        <p:nvSpPr>
          <p:cNvPr id="14" name="Text 12"/>
          <p:cNvSpPr txBox="1"/>
          <p:nvPr/>
        </p:nvSpPr>
        <p:spPr>
          <a:xfrm>
            <a:off x="7424928" y="1508760"/>
            <a:ext cx="1865376" cy="91440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Log energy in</a:t>
            </a:r>
            <a:endParaRPr lang="en-US" sz="1300" dirty="0"/>
          </a:p>
          <a:p>
            <a:pPr algn="ctr" indent="0" marL="0">
              <a:buNone/>
            </a:pPr>
            <a:r>
              <a:rPr lang="en-US" sz="1300" dirty="0">
                <a:solidFill>
                  <a:srgbClr val="1F2937"/>
                </a:solidFill>
                <a:latin typeface="Calibri" pitchFamily="34" charset="0"/>
                <a:ea typeface="Calibri" pitchFamily="34" charset="-122"/>
                <a:cs typeface="Calibri" pitchFamily="34" charset="-120"/>
              </a:rPr>
              <a:t>10 bands, 0–250 Hz</a:t>
            </a:r>
            <a:endParaRPr lang="en-US" sz="1300" dirty="0"/>
          </a:p>
        </p:txBody>
      </p:sp>
      <p:sp>
        <p:nvSpPr>
          <p:cNvPr id="15" name="Shape 13"/>
          <p:cNvSpPr/>
          <p:nvPr/>
        </p:nvSpPr>
        <p:spPr>
          <a:xfrm>
            <a:off x="9390888" y="1965960"/>
            <a:ext cx="201168" cy="0"/>
          </a:xfrm>
          <a:prstGeom prst="line">
            <a:avLst/>
          </a:prstGeom>
          <a:noFill/>
          <a:ln w="25400">
            <a:solidFill>
              <a:srgbClr val="13294B"/>
            </a:solidFill>
            <a:prstDash val="solid"/>
            <a:tailEnd type="triangle"/>
          </a:ln>
        </p:spPr>
      </p:sp>
      <p:sp>
        <p:nvSpPr>
          <p:cNvPr id="16" name="Shape 14"/>
          <p:cNvSpPr/>
          <p:nvPr/>
        </p:nvSpPr>
        <p:spPr>
          <a:xfrm>
            <a:off x="9619488" y="1508760"/>
            <a:ext cx="2011680" cy="914400"/>
          </a:xfrm>
          <a:prstGeom prst="rect">
            <a:avLst/>
          </a:prstGeom>
          <a:solidFill>
            <a:srgbClr val="FCEFE7"/>
          </a:solidFill>
          <a:ln w="12700">
            <a:solidFill>
              <a:srgbClr val="C2410C"/>
            </a:solidFill>
            <a:prstDash val="solid"/>
          </a:ln>
        </p:spPr>
      </p:sp>
      <p:sp>
        <p:nvSpPr>
          <p:cNvPr id="17" name="Text 15"/>
          <p:cNvSpPr txBox="1"/>
          <p:nvPr/>
        </p:nvSpPr>
        <p:spPr>
          <a:xfrm>
            <a:off x="9692640" y="1508760"/>
            <a:ext cx="1865376" cy="91440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Isolation Forest</a:t>
            </a:r>
            <a:endParaRPr lang="en-US" sz="1300" dirty="0"/>
          </a:p>
          <a:p>
            <a:pPr algn="ctr" indent="0" marL="0">
              <a:buNone/>
            </a:pPr>
            <a:r>
              <a:rPr lang="en-US" sz="1300" dirty="0">
                <a:solidFill>
                  <a:srgbClr val="1F2937"/>
                </a:solidFill>
                <a:latin typeface="Calibri" pitchFamily="34" charset="0"/>
                <a:ea typeface="Calibri" pitchFamily="34" charset="-122"/>
                <a:cs typeface="Calibri" pitchFamily="34" charset="-120"/>
              </a:rPr>
              <a:t>(normal data only)</a:t>
            </a:r>
            <a:endParaRPr lang="en-US" sz="1300" dirty="0"/>
          </a:p>
        </p:txBody>
      </p:sp>
      <p:sp>
        <p:nvSpPr>
          <p:cNvPr id="18" name="Shape 16"/>
          <p:cNvSpPr/>
          <p:nvPr/>
        </p:nvSpPr>
        <p:spPr>
          <a:xfrm>
            <a:off x="548640" y="2743200"/>
            <a:ext cx="5394960" cy="914400"/>
          </a:xfrm>
          <a:prstGeom prst="roundRect">
            <a:avLst>
              <a:gd name="adj" fmla="val 8000"/>
            </a:avLst>
          </a:prstGeom>
          <a:solidFill>
            <a:srgbClr val="F3F5F8"/>
          </a:solidFill>
          <a:ln w="12700">
            <a:solidFill>
              <a:srgbClr val="E3E7ED"/>
            </a:solidFill>
            <a:prstDash val="solid"/>
          </a:ln>
        </p:spPr>
      </p:sp>
      <p:sp>
        <p:nvSpPr>
          <p:cNvPr id="19" name="Text 17"/>
          <p:cNvSpPr/>
          <p:nvPr/>
        </p:nvSpPr>
        <p:spPr>
          <a:xfrm>
            <a:off x="548640" y="2743200"/>
            <a:ext cx="5394960" cy="914400"/>
          </a:xfrm>
          <a:prstGeom prst="rect">
            <a:avLst/>
          </a:prstGeom>
          <a:noFill/>
          <a:ln/>
        </p:spPr>
        <p:txBody>
          <a:bodyPr wrap="square" lIns="0" tIns="0" rIns="0" bIns="0" rtlCol="0" anchor="ctr"/>
          <a:lstStyle/>
          <a:p>
            <a:pPr algn="ctr" indent="0" marL="0">
              <a:buNone/>
            </a:pPr>
            <a:r>
              <a:rPr lang="en-US" sz="2000" dirty="0">
                <a:solidFill>
                  <a:srgbClr val="1F2937"/>
                </a:solidFill>
                <a:latin typeface="Cambria" pitchFamily="34" charset="0"/>
                <a:ea typeface="Cambria" pitchFamily="34" charset="-122"/>
                <a:cs typeface="Cambria" pitchFamily="34" charset="-120"/>
              </a:rPr>
              <a:t>eₖ = log₁₀ Σ P(f),   f ∈ Bₖ,   k = 1 … 10</a:t>
            </a:r>
            <a:endParaRPr lang="en-US" sz="2000" dirty="0"/>
          </a:p>
        </p:txBody>
      </p:sp>
      <p:sp>
        <p:nvSpPr>
          <p:cNvPr id="20" name="Text 18"/>
          <p:cNvSpPr txBox="1"/>
          <p:nvPr/>
        </p:nvSpPr>
        <p:spPr>
          <a:xfrm>
            <a:off x="548640" y="3886200"/>
            <a:ext cx="5394960" cy="219456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Threshold τ: 99th percentile of training scores</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Anomaly when ≥ 3 of the last 5 windows exceed τ</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False anomaly probability ≈ 4 × 10⁻⁶ at the measured per-window rate of 0.74 %</a:t>
            </a:r>
            <a:endParaRPr lang="en-US" sz="1500" dirty="0"/>
          </a:p>
        </p:txBody>
      </p:sp>
      <p:sp>
        <p:nvSpPr>
          <p:cNvPr id="21" name="Text 19"/>
          <p:cNvSpPr txBox="1"/>
          <p:nvPr/>
        </p:nvSpPr>
        <p:spPr>
          <a:xfrm>
            <a:off x="6263640" y="2743200"/>
            <a:ext cx="5376672"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Per-pump calibration</a:t>
            </a:r>
            <a:endParaRPr lang="en-US" sz="1600" dirty="0"/>
          </a:p>
        </p:txBody>
      </p:sp>
      <p:sp>
        <p:nvSpPr>
          <p:cNvPr id="22" name="Text 20"/>
          <p:cNvSpPr txBox="1"/>
          <p:nvPr/>
        </p:nvSpPr>
        <p:spPr>
          <a:xfrm>
            <a:off x="6263640" y="3154680"/>
            <a:ext cx="5376672" cy="292608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A real pump differs from the CWRU test bench, so each pump is calibrated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"Calibrate ML": 120 windows (≈ 2 min) of normal running, ideally at several speeds</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New Isolation Forest, threshold at the 95th percentile; the 3-of-5 vote keeps false anomalies near 0.1 %</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Fitting takes 34 ms; the model is saved and reloaded after a restart</a:t>
            </a:r>
            <a:endParaRPr lang="en-US" sz="15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FOG-LEVEL ML</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Data: CWRU bearing recordings at our sensor's bandwidth</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400800" cy="914400"/>
        </p:xfrm>
        <a:graphic>
          <a:graphicData uri="http://schemas.openxmlformats.org/drawingml/2006/table">
            <a:tbl>
              <a:tblPr/>
              <a:tblGrid>
                <a:gridCol w="1463040"/>
                <a:gridCol w="4023360"/>
                <a:gridCol w="914400"/>
              </a:tblGrid>
              <a:tr h="50292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Set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Content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Windows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Normal, train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First 70 % of each normal recording, loads 0–3 hp (hop 32)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357</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Normal, test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Last 30 % of each normal recording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Faults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Inner race, ball, outer race; 0.007, 0.014, 0.021 in; 0–3 hp (hop 128)</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1369</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657600"/>
            <a:ext cx="6400800" cy="23774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Drive-end accelerometer, 40 recordings</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Normal files are 48 kHz: they show the same machine peaks as the 48 kHz fault files</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Every step after filtering is identical in training and on the live fog server</a:t>
            </a:r>
            <a:endParaRPr lang="en-US" sz="1500" dirty="0"/>
          </a:p>
        </p:txBody>
      </p:sp>
      <p:graphicFrame>
        <p:nvGraphicFramePr>
          <p:cNvPr id="6" name="Chart 0" descr=""/>
          <p:cNvGraphicFramePr/>
          <p:nvPr/>
        </p:nvGraphicFramePr>
        <p:xfrm>
          <a:off x="7178040" y="1417320"/>
          <a:ext cx="4462272"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178040" y="5669280"/>
            <a:ext cx="4462272"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Most of the separation lies below 100 Hz.</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RESULTS</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Finding 1: the sensor's bandwidth decides which features work</a:t>
            </a:r>
            <a:endParaRPr lang="en-US" sz="2800" dirty="0"/>
          </a:p>
        </p:txBody>
      </p:sp>
      <p:graphicFrame>
        <p:nvGraphicFramePr>
          <p:cNvPr id="4" name="Chart 0" descr=""/>
          <p:cNvGraphicFramePr/>
          <p:nvPr/>
        </p:nvGraphicFramePr>
        <p:xfrm>
          <a:off x="548640" y="1417320"/>
          <a:ext cx="576072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92240" y="1417320"/>
          <a:ext cx="5148072" cy="41148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669280"/>
            <a:ext cx="11094415" cy="548640"/>
          </a:xfrm>
          <a:prstGeom prst="rect">
            <a:avLst/>
          </a:prstGeom>
          <a:noFill/>
          <a:ln/>
        </p:spPr>
        <p:txBody>
          <a:bodyPr wrap="square" lIns="0" tIns="0" rIns="0" bIns="0" rtlCol="0" anchor="t"/>
          <a:lstStyle/>
          <a:p>
            <a:pPr indent="0" marL="0">
              <a:buNone/>
            </a:pPr>
            <a:r>
              <a:rPr lang="en-US" sz="1400" b="1" dirty="0">
                <a:solidFill>
                  <a:srgbClr val="13294B"/>
                </a:solidFill>
                <a:latin typeface="Calibri" pitchFamily="34" charset="0"/>
                <a:ea typeface="Calibri" pitchFamily="34" charset="-122"/>
                <a:cs typeface="Calibri" pitchFamily="34" charset="-120"/>
              </a:rPr>
              <a:t>Kurtosis and crest factor respond to short, high-frequency impacts. The 184 Hz filter removes them: shape features fall from 75 % to 16 %, while band energies stay at 98 %.</a:t>
            </a:r>
            <a:endParaRPr lang="en-US" sz="14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RESULTS</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Finding 2: Isolation Forest gives the fewest false alarms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2651760"/>
                <a:gridCol w="1097280"/>
                <a:gridCol w="1280160"/>
                <a:gridCol w="914400"/>
                <a:gridCol w="1005840"/>
              </a:tblGrid>
              <a:tr h="502920">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Detector (log band energy)</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Detected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False alarms</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AUC</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Isolation Forest (ours)</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97.7 %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0.7 %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0.988</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0.999</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One-Class SVM</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100.0 %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B91C1C"/>
                          </a:solidFill>
                          <a:latin typeface="Calibri" pitchFamily="34" charset="0"/>
                          <a:ea typeface="Calibri" pitchFamily="34" charset="-122"/>
                          <a:cs typeface="Calibri" pitchFamily="34" charset="-120"/>
                        </a:rPr>
                        <a:t>51.5 %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0.975</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Local Outlier Factor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99.9 %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2.9 %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0.998</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0.999</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Max z-score baseline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99.8 %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2.9 %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0.997</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0.999</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206240"/>
            <a:ext cx="6949440" cy="73152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Per window, threshold at the 99th percentile of training scores for every detector. False alarms matter most at an unattended site.</a:t>
            </a:r>
            <a:endParaRPr lang="en-US" sz="1300" dirty="0"/>
          </a:p>
        </p:txBody>
      </p:sp>
      <p:sp>
        <p:nvSpPr>
          <p:cNvPr id="6" name="Shape 3"/>
          <p:cNvSpPr/>
          <p:nvPr/>
        </p:nvSpPr>
        <p:spPr>
          <a:xfrm>
            <a:off x="7818120" y="1508760"/>
            <a:ext cx="3822192" cy="4114800"/>
          </a:xfrm>
          <a:prstGeom prst="roundRect">
            <a:avLst>
              <a:gd name="adj" fmla="val 1914"/>
            </a:avLst>
          </a:prstGeom>
          <a:solidFill>
            <a:srgbClr val="F3F5F8"/>
          </a:solidFill>
          <a:ln w="12700">
            <a:solidFill>
              <a:srgbClr val="E3E7ED"/>
            </a:solidFill>
            <a:prstDash val="solid"/>
          </a:ln>
        </p:spPr>
      </p:sp>
      <p:sp>
        <p:nvSpPr>
          <p:cNvPr id="7" name="Text 4"/>
          <p:cNvSpPr txBox="1"/>
          <p:nvPr/>
        </p:nvSpPr>
        <p:spPr>
          <a:xfrm>
            <a:off x="8092440" y="1691640"/>
            <a:ext cx="33832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Over 10 random seeds</a:t>
            </a:r>
            <a:endParaRPr lang="en-US" sz="1600" dirty="0"/>
          </a:p>
        </p:txBody>
      </p:sp>
      <p:sp>
        <p:nvSpPr>
          <p:cNvPr id="8" name="Text 5"/>
          <p:cNvSpPr txBox="1"/>
          <p:nvPr/>
        </p:nvSpPr>
        <p:spPr>
          <a:xfrm>
            <a:off x="8092440" y="2148840"/>
            <a:ext cx="338328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95.2 ± 2.8 %</a:t>
            </a:r>
            <a:endParaRPr lang="en-US" sz="3600" dirty="0"/>
          </a:p>
        </p:txBody>
      </p:sp>
      <p:sp>
        <p:nvSpPr>
          <p:cNvPr id="9" name="Text 6"/>
          <p:cNvSpPr txBox="1"/>
          <p:nvPr/>
        </p:nvSpPr>
        <p:spPr>
          <a:xfrm>
            <a:off x="8092440" y="2862072"/>
            <a:ext cx="338328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fault windows detected</a:t>
            </a:r>
            <a:endParaRPr lang="en-US" sz="1300" dirty="0"/>
          </a:p>
        </p:txBody>
      </p:sp>
      <p:sp>
        <p:nvSpPr>
          <p:cNvPr id="10" name="Text 7"/>
          <p:cNvSpPr txBox="1"/>
          <p:nvPr/>
        </p:nvSpPr>
        <p:spPr>
          <a:xfrm>
            <a:off x="8092440" y="3429000"/>
            <a:ext cx="3383280" cy="685800"/>
          </a:xfrm>
          <a:prstGeom prst="rect">
            <a:avLst/>
          </a:prstGeom>
          <a:noFill/>
          <a:ln/>
        </p:spPr>
        <p:txBody>
          <a:bodyPr wrap="square" lIns="0" tIns="0" rIns="0" bIns="0" rtlCol="0" anchor="t"/>
          <a:lstStyle/>
          <a:p>
            <a:pPr indent="0" marL="0">
              <a:buNone/>
            </a:pPr>
            <a:r>
              <a:rPr lang="en-US" sz="3600" b="1" dirty="0">
                <a:solidFill>
                  <a:srgbClr val="15803D"/>
                </a:solidFill>
                <a:latin typeface="Calibri" pitchFamily="34" charset="0"/>
                <a:ea typeface="Calibri" pitchFamily="34" charset="-122"/>
                <a:cs typeface="Calibri" pitchFamily="34" charset="-120"/>
              </a:rPr>
              <a:t>1.0 ± 0.4 %</a:t>
            </a:r>
            <a:endParaRPr lang="en-US" sz="3600" dirty="0"/>
          </a:p>
        </p:txBody>
      </p:sp>
      <p:sp>
        <p:nvSpPr>
          <p:cNvPr id="11" name="Text 8"/>
          <p:cNvSpPr txBox="1"/>
          <p:nvPr/>
        </p:nvSpPr>
        <p:spPr>
          <a:xfrm>
            <a:off x="8092440" y="4142232"/>
            <a:ext cx="338328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false alarms</a:t>
            </a:r>
            <a:endParaRPr lang="en-US" sz="1300" dirty="0"/>
          </a:p>
        </p:txBody>
      </p:sp>
      <p:sp>
        <p:nvSpPr>
          <p:cNvPr id="12" name="Text 9"/>
          <p:cNvSpPr txBox="1"/>
          <p:nvPr/>
        </p:nvSpPr>
        <p:spPr>
          <a:xfrm>
            <a:off x="8092440" y="4892040"/>
            <a:ext cx="3383280" cy="36576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AUC 0.998 ± 0.001</a:t>
            </a:r>
            <a:endParaRPr lang="en-US" sz="15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RESULTS</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Finding 3: robust across fault types and unseen loads</a:t>
            </a:r>
            <a:endParaRPr lang="en-US" sz="2800" dirty="0"/>
          </a:p>
        </p:txBody>
      </p:sp>
      <p:graphicFrame>
        <p:nvGraphicFramePr>
          <p:cNvPr id="4" name="Chart 0" descr=""/>
          <p:cNvGraphicFramePr/>
          <p:nvPr/>
        </p:nvGraphicFramePr>
        <p:xfrm>
          <a:off x="548640" y="141732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766560" y="1508760"/>
            <a:ext cx="484632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Leave-one-load-out</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766560" y="1920240"/>
          <a:ext cx="4873752" cy="914400"/>
        </p:xfrm>
        <a:graphic>
          <a:graphicData uri="http://schemas.openxmlformats.org/drawingml/2006/table">
            <a:tbl>
              <a:tblPr/>
              <a:tblGrid>
                <a:gridCol w="1399032"/>
                <a:gridCol w="868680"/>
                <a:gridCol w="868680"/>
                <a:gridCol w="868680"/>
                <a:gridCol w="868680"/>
              </a:tblGrid>
              <a:tr h="45720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Held-out load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0 hp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1 hp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2 hp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3 hp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5720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Detected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99.7 %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97.1 %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95.9 %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98.8 %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False alarms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6.3 %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0.0 %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0.0 %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5.0 %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3520440"/>
            <a:ext cx="4873752" cy="22860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Trained on three loads, tested on the fourth</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False alarms rise to 5–6 % at the extreme loads, so each pump is calibrated over its speed range</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Supervised Random Forest reference: 87.4 % on the unseen load</a:t>
            </a:r>
            <a:endParaRPr lang="en-US" sz="14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IMPLEMENTATION</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Fog dashboard with ML early warning</a:t>
            </a:r>
            <a:endParaRPr lang="en-US" sz="2800" dirty="0"/>
          </a:p>
        </p:txBody>
      </p:sp>
      <p:pic>
        <p:nvPicPr>
          <p:cNvPr id="4" name="Image 0" descr="/Users/arushmishra/Desktop/resqfog-fog/docs/images/dashboard.png">    </p:cNvPr>
          <p:cNvPicPr>
            <a:picLocks noChangeAspect="1"/>
          </p:cNvPicPr>
          <p:nvPr/>
        </p:nvPicPr>
        <p:blipFill>
          <a:blip r:embed="rId1"/>
          <a:stretch>
            <a:fillRect/>
          </a:stretch>
        </p:blipFill>
        <p:spPr>
          <a:xfrm>
            <a:off x="548640" y="1417320"/>
            <a:ext cx="11094415" cy="3520440"/>
          </a:xfrm>
          <a:prstGeom prst="rect">
            <a:avLst/>
          </a:prstGeom>
        </p:spPr>
      </p:pic>
      <p:sp>
        <p:nvSpPr>
          <p:cNvPr id="5" name="Shape 2"/>
          <p:cNvSpPr/>
          <p:nvPr/>
        </p:nvSpPr>
        <p:spPr>
          <a:xfrm>
            <a:off x="548640" y="1417320"/>
            <a:ext cx="11094415" cy="3520440"/>
          </a:xfrm>
          <a:prstGeom prst="rect">
            <a:avLst/>
          </a:prstGeom>
          <a:ln w="9525">
            <a:solidFill>
              <a:srgbClr val="C9CED6"/>
            </a:solidFill>
            <a:prstDash val="solid"/>
          </a:ln>
        </p:spPr>
      </p:sp>
      <p:sp>
        <p:nvSpPr>
          <p:cNvPr id="6" name="Text 3"/>
          <p:cNvSpPr txBox="1"/>
          <p:nvPr/>
        </p:nvSpPr>
        <p:spPr>
          <a:xfrm>
            <a:off x="548640" y="5029200"/>
            <a:ext cx="11094415" cy="274320"/>
          </a:xfrm>
          <a:prstGeom prst="rect">
            <a:avLst/>
          </a:prstGeom>
          <a:noFill/>
          <a:ln/>
        </p:spPr>
        <p:txBody>
          <a:bodyPr wrap="square" lIns="0" tIns="0" rIns="0" bIns="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Demo replaying real CWRU windows: PUMP-03 shows an ML early warning at 0.47 g (threshold 1.00 g); PUMP-02 and PUMP-04 have tripped.</a:t>
            </a:r>
            <a:endParaRPr lang="en-US" sz="1300" dirty="0"/>
          </a:p>
        </p:txBody>
      </p:sp>
      <p:sp>
        <p:nvSpPr>
          <p:cNvPr id="7" name="Text 4"/>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Pump cards</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state, reading and ML status per pump</a:t>
            </a:r>
            <a:endParaRPr lang="en-US" sz="1500" dirty="0"/>
          </a:p>
        </p:txBody>
      </p:sp>
      <p:sp>
        <p:nvSpPr>
          <p:cNvPr id="8" name="Text 5"/>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Early warning</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amber panel when ML flags a pump below the threshold</a:t>
            </a:r>
            <a:endParaRPr lang="en-US" sz="1500" dirty="0"/>
          </a:p>
        </p:txBody>
      </p:sp>
      <p:sp>
        <p:nvSpPr>
          <p:cNvPr id="9" name="Text 6"/>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Actions</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calibrate ML, restart a tripped motor, download fault CSV</a:t>
            </a:r>
            <a:endParaRPr lang="en-US" sz="15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EVALUATION</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System tests and timing</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2240280"/>
                <a:gridCol w="3291840"/>
                <a:gridCol w="1691640"/>
              </a:tblGrid>
              <a:tr h="420624">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Function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Telemetry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1.0 msg/s, HTTP 200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Hardware rig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Threshold states, buzzer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Correct at 1.00 / 1.20 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Hardware rig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SMS alert and rate limit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Delivered; ≤ 1 per 60 s per pump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Hardware rig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Fault recording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101-row CSV per fault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Hardware rig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Offline detection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Flagged within 5 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Hardware rig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Motor trip, remote restart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Trip after 3 readings; restart in next reply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Emulated edge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Store-and-forward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Readings restored at original time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Emulated edge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420624">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Calibration, early warning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 false anomalies in 30 normal windows; faults flagged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Emulated edge, CWRU windows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bl>
          </a:graphicData>
        </a:graphic>
      </p:graphicFrame>
      <p:sp>
        <p:nvSpPr>
          <p:cNvPr id="5" name="Shape 2"/>
          <p:cNvSpPr/>
          <p:nvPr/>
        </p:nvSpPr>
        <p:spPr>
          <a:xfrm>
            <a:off x="8092440" y="1417320"/>
            <a:ext cx="3547872" cy="4526280"/>
          </a:xfrm>
          <a:prstGeom prst="roundRect">
            <a:avLst>
              <a:gd name="adj" fmla="val 2062"/>
            </a:avLst>
          </a:prstGeom>
          <a:solidFill>
            <a:srgbClr val="F3F5F8"/>
          </a:solidFill>
          <a:ln w="12700">
            <a:solidFill>
              <a:srgbClr val="E3E7ED"/>
            </a:solidFill>
            <a:prstDash val="solid"/>
          </a:ln>
        </p:spPr>
      </p:sp>
      <p:sp>
        <p:nvSpPr>
          <p:cNvPr id="6" name="Text 3"/>
          <p:cNvSpPr txBox="1"/>
          <p:nvPr/>
        </p:nvSpPr>
        <p:spPr>
          <a:xfrm>
            <a:off x="8321040" y="1600200"/>
            <a:ext cx="3200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Fog timing (laptop)</a:t>
            </a:r>
            <a:endParaRPr lang="en-US" sz="1600" dirty="0"/>
          </a:p>
        </p:txBody>
      </p:sp>
      <p:sp>
        <p:nvSpPr>
          <p:cNvPr id="7" name="Text 4"/>
          <p:cNvSpPr txBox="1"/>
          <p:nvPr/>
        </p:nvSpPr>
        <p:spPr>
          <a:xfrm>
            <a:off x="8321040" y="2011680"/>
            <a:ext cx="320040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3.6 ms</a:t>
            </a:r>
            <a:endParaRPr lang="en-US" sz="3600" dirty="0"/>
          </a:p>
        </p:txBody>
      </p:sp>
      <p:sp>
        <p:nvSpPr>
          <p:cNvPr id="8" name="Text 5"/>
          <p:cNvSpPr txBox="1"/>
          <p:nvPr/>
        </p:nvSpPr>
        <p:spPr>
          <a:xfrm>
            <a:off x="8321040" y="2724912"/>
            <a:ext cx="320040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ML score per reading</a:t>
            </a:r>
            <a:endParaRPr lang="en-US" sz="1300" dirty="0"/>
          </a:p>
        </p:txBody>
      </p:sp>
      <p:sp>
        <p:nvSpPr>
          <p:cNvPr id="9" name="Text 6"/>
          <p:cNvSpPr txBox="1"/>
          <p:nvPr/>
        </p:nvSpPr>
        <p:spPr>
          <a:xfrm>
            <a:off x="8321040" y="3291840"/>
            <a:ext cx="320040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34 ms</a:t>
            </a:r>
            <a:endParaRPr lang="en-US" sz="3600" dirty="0"/>
          </a:p>
        </p:txBody>
      </p:sp>
      <p:sp>
        <p:nvSpPr>
          <p:cNvPr id="10" name="Text 7"/>
          <p:cNvSpPr txBox="1"/>
          <p:nvPr/>
        </p:nvSpPr>
        <p:spPr>
          <a:xfrm>
            <a:off x="8321040" y="4005072"/>
            <a:ext cx="320040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calibration fit, 120 windows</a:t>
            </a:r>
            <a:endParaRPr lang="en-US" sz="1300" dirty="0"/>
          </a:p>
        </p:txBody>
      </p:sp>
      <p:sp>
        <p:nvSpPr>
          <p:cNvPr id="11" name="Text 8"/>
          <p:cNvSpPr txBox="1"/>
          <p:nvPr/>
        </p:nvSpPr>
        <p:spPr>
          <a:xfrm>
            <a:off x="8321040" y="4572000"/>
            <a:ext cx="3200400" cy="685800"/>
          </a:xfrm>
          <a:prstGeom prst="rect">
            <a:avLst/>
          </a:prstGeom>
          <a:noFill/>
          <a:ln/>
        </p:spPr>
        <p:txBody>
          <a:bodyPr wrap="square" lIns="0" tIns="0" rIns="0" bIns="0" rtlCol="0" anchor="t"/>
          <a:lstStyle/>
          <a:p>
            <a:pPr indent="0" marL="0">
              <a:buNone/>
            </a:pPr>
            <a:r>
              <a:rPr lang="en-US" sz="3600" b="1" dirty="0">
                <a:solidFill>
                  <a:srgbClr val="13294B"/>
                </a:solidFill>
                <a:latin typeface="Calibri" pitchFamily="34" charset="0"/>
                <a:ea typeface="Calibri" pitchFamily="34" charset="-122"/>
                <a:cs typeface="Calibri" pitchFamily="34" charset="-120"/>
              </a:rPr>
              <a:t>1.39 kB</a:t>
            </a:r>
            <a:endParaRPr lang="en-US" sz="3600" dirty="0"/>
          </a:p>
        </p:txBody>
      </p:sp>
      <p:sp>
        <p:nvSpPr>
          <p:cNvPr id="12" name="Text 9"/>
          <p:cNvSpPr txBox="1"/>
          <p:nvPr/>
        </p:nvSpPr>
        <p:spPr>
          <a:xfrm>
            <a:off x="8321040" y="5285232"/>
            <a:ext cx="320040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message per reading</a:t>
            </a:r>
            <a:endParaRPr lang="en-US" sz="1300" dirty="0"/>
          </a:p>
        </p:txBody>
      </p:sp>
      <p:sp>
        <p:nvSpPr>
          <p:cNvPr id="13" name="Text 10"/>
          <p:cNvSpPr txBox="1"/>
          <p:nvPr/>
        </p:nvSpPr>
        <p:spPr>
          <a:xfrm>
            <a:off x="548640" y="5806440"/>
            <a:ext cx="722376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Emulated edge: the fog server tested with a script sending the same JSON as the firmware.</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DEPLOYMENT VARIANT (PROPOSED)</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LoRa and GPS for sites without Wi-Fi</a:t>
            </a:r>
            <a:endParaRPr lang="en-US" sz="2800" dirty="0"/>
          </a:p>
        </p:txBody>
      </p:sp>
      <p:sp>
        <p:nvSpPr>
          <p:cNvPr id="4" name="Text 2"/>
          <p:cNvSpPr txBox="1"/>
          <p:nvPr/>
        </p:nvSpPr>
        <p:spPr>
          <a:xfrm>
            <a:off x="548640" y="1417320"/>
            <a:ext cx="557784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LoRa link (SX1278) to a gateway at the fog</a:t>
            </a:r>
            <a:endParaRPr lang="en-US" sz="1600" dirty="0"/>
          </a:p>
        </p:txBody>
      </p:sp>
      <p:sp>
        <p:nvSpPr>
          <p:cNvPr id="5" name="Text 3"/>
          <p:cNvSpPr txBox="1"/>
          <p:nvPr/>
        </p:nvSpPr>
        <p:spPr>
          <a:xfrm>
            <a:off x="548640" y="1828800"/>
            <a:ext cx="5577840" cy="14630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A raw window (256 × 16 bit = 512 B) exceeds the 255 B LoRa payload limit</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So the node computes the 10 band energies itself and sends 27 bytes</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Same features, so the fog model is unchanged; L1 protection still runs every second</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383280"/>
          <a:ext cx="2743200" cy="914400"/>
        </p:xfrm>
        <a:graphic>
          <a:graphicData uri="http://schemas.openxmlformats.org/drawingml/2006/table">
            <a:tbl>
              <a:tblPr/>
              <a:tblGrid>
                <a:gridCol w="2011680"/>
                <a:gridCol w="731520"/>
              </a:tblGrid>
              <a:tr h="310896">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Bytes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Pump ID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Sequence no.</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Level v</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PWM, state flags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10 band energies (int16)</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3520440" y="3383280"/>
          <a:ext cx="2606040" cy="914400"/>
        </p:xfrm>
        <a:graphic>
          <a:graphicData uri="http://schemas.openxmlformats.org/drawingml/2006/table">
            <a:tbl>
              <a:tblPr/>
              <a:tblGrid>
                <a:gridCol w="1417320"/>
                <a:gridCol w="1188720"/>
              </a:tblGrid>
              <a:tr h="310896">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Spreading factor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Time on air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SF7</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66.8 ms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SF10</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411.6 ms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SF12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1,646.6 ms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760720"/>
            <a:ext cx="5577840" cy="4572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125 kHz, CR 4/5, 8-symbol preamble (Semtech AN1200.13). At long range the report interval grows to several seconds.</a:t>
            </a:r>
            <a:endParaRPr lang="en-US" sz="1200" dirty="0"/>
          </a:p>
        </p:txBody>
      </p:sp>
      <p:sp>
        <p:nvSpPr>
          <p:cNvPr id="9" name="Shape 5"/>
          <p:cNvSpPr/>
          <p:nvPr/>
        </p:nvSpPr>
        <p:spPr>
          <a:xfrm>
            <a:off x="6400800" y="1417320"/>
            <a:ext cx="5239512" cy="4526280"/>
          </a:xfrm>
          <a:prstGeom prst="roundRect">
            <a:avLst>
              <a:gd name="adj" fmla="val 1616"/>
            </a:avLst>
          </a:prstGeom>
          <a:solidFill>
            <a:srgbClr val="F3F5F8"/>
          </a:solidFill>
          <a:ln w="12700">
            <a:solidFill>
              <a:srgbClr val="E3E7ED"/>
            </a:solidFill>
            <a:prstDash val="solid"/>
          </a:ln>
        </p:spPr>
      </p:sp>
      <p:sp>
        <p:nvSpPr>
          <p:cNvPr id="10" name="Text 6"/>
          <p:cNvSpPr txBox="1"/>
          <p:nvPr/>
        </p:nvSpPr>
        <p:spPr>
          <a:xfrm>
            <a:off x="6675120" y="1600200"/>
            <a:ext cx="47548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GPS (NEO-6M on UART2)</a:t>
            </a:r>
            <a:endParaRPr lang="en-US" sz="1600" dirty="0"/>
          </a:p>
        </p:txBody>
      </p:sp>
      <p:sp>
        <p:nvSpPr>
          <p:cNvPr id="11" name="Text 7"/>
          <p:cNvSpPr txBox="1"/>
          <p:nvPr/>
        </p:nvSpPr>
        <p:spPr>
          <a:xfrm>
            <a:off x="6675120" y="2011680"/>
            <a:ext cx="4754880" cy="29260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Registers each node's coordinates at installation</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Adds a map link to the SMS for technicians covering many sites</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Indoors a fix is often unavailable, so the node falls back to coordinates entered at installation</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Wiring: GPS TX → GPIO 16, GPS RX → GPIO 17, 9600 baud</a:t>
            </a:r>
            <a:endParaRPr lang="en-US" sz="1400" dirty="0"/>
          </a:p>
        </p:txBody>
      </p:sp>
      <p:sp>
        <p:nvSpPr>
          <p:cNvPr id="12" name="Text 8"/>
          <p:cNvSpPr txBox="1"/>
          <p:nvPr/>
        </p:nvSpPr>
        <p:spPr>
          <a:xfrm>
            <a:off x="6675120" y="5257800"/>
            <a:ext cx="4754880" cy="365760"/>
          </a:xfrm>
          <a:prstGeom prst="rect">
            <a:avLst/>
          </a:prstGeom>
          <a:noFill/>
          <a:ln/>
        </p:spPr>
        <p:txBody>
          <a:bodyPr wrap="square" lIns="0" tIns="0" rIns="0" bIns="0" rtlCol="0" anchor="t"/>
          <a:lstStyle/>
          <a:p>
            <a:pPr indent="0" marL="0">
              <a:buNone/>
            </a:pPr>
            <a:r>
              <a:rPr lang="en-US" sz="1400" b="1" dirty="0">
                <a:solidFill>
                  <a:srgbClr val="C2410C"/>
                </a:solidFill>
                <a:latin typeface="Calibri" pitchFamily="34" charset="0"/>
                <a:ea typeface="Calibri" pitchFamily="34" charset="-122"/>
                <a:cs typeface="Calibri" pitchFamily="34" charset="-120"/>
              </a:rPr>
              <a:t>Design proposal: not yet built or measured.</a:t>
            </a:r>
            <a:endParaRPr lang="en-US" sz="14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DISCUSSION</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Limitations</a:t>
            </a:r>
            <a:endParaRPr lang="en-US" sz="2800" dirty="0"/>
          </a:p>
        </p:txBody>
      </p:sp>
      <p:sp>
        <p:nvSpPr>
          <p:cNvPr id="4" name="Text 2"/>
          <p:cNvSpPr txBox="1"/>
          <p:nvPr/>
        </p:nvSpPr>
        <p:spPr>
          <a:xfrm>
            <a:off x="548640" y="1463040"/>
            <a:ext cx="548640" cy="914400"/>
          </a:xfrm>
          <a:prstGeom prst="rect">
            <a:avLst/>
          </a:prstGeom>
          <a:noFill/>
          <a:ln/>
        </p:spPr>
        <p:txBody>
          <a:bodyPr wrap="square" lIns="0" tIns="0" rIns="0" bIns="0" rtlCol="0" anchor="ctr"/>
          <a:lstStyle/>
          <a:p>
            <a:pPr indent="0" marL="0">
              <a:buNone/>
            </a:pPr>
            <a:r>
              <a:rPr lang="en-US" sz="2600" b="1" dirty="0">
                <a:solidFill>
                  <a:srgbClr val="C2410C"/>
                </a:solidFill>
                <a:latin typeface="Calibri" pitchFamily="34" charset="0"/>
                <a:ea typeface="Calibri" pitchFamily="34" charset="-122"/>
                <a:cs typeface="Calibri" pitchFamily="34" charset="-120"/>
              </a:rPr>
              <a:t>1</a:t>
            </a:r>
            <a:endParaRPr lang="en-US" sz="2600" dirty="0"/>
          </a:p>
        </p:txBody>
      </p:sp>
      <p:sp>
        <p:nvSpPr>
          <p:cNvPr id="5" name="Text 3"/>
          <p:cNvSpPr txBox="1"/>
          <p:nvPr/>
        </p:nvSpPr>
        <p:spPr>
          <a:xfrm>
            <a:off x="1234440" y="1463040"/>
            <a:ext cx="10408615" cy="960120"/>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Dataset</a:t>
            </a:r>
            <a:endParaRPr lang="en-US" sz="1700" dirty="0"/>
          </a:p>
          <a:p>
            <a:pPr indent="0" marL="0">
              <a:buNone/>
            </a:pPr>
            <a:r>
              <a:rPr lang="en-US" sz="1500" dirty="0">
                <a:solidFill>
                  <a:srgbClr val="374151"/>
                </a:solidFill>
                <a:latin typeface="Calibri" pitchFamily="34" charset="0"/>
                <a:ea typeface="Calibri" pitchFamily="34" charset="-122"/>
                <a:cs typeface="Calibri" pitchFamily="34" charset="-120"/>
              </a:rPr>
              <a:t>CWRU normal and fault data were recorded in separate sessions; part of the separation may come from recording conditions.</a:t>
            </a:r>
            <a:endParaRPr lang="en-US" sz="1700" dirty="0"/>
          </a:p>
        </p:txBody>
      </p:sp>
      <p:sp>
        <p:nvSpPr>
          <p:cNvPr id="6" name="Shape 4"/>
          <p:cNvSpPr/>
          <p:nvPr/>
        </p:nvSpPr>
        <p:spPr>
          <a:xfrm>
            <a:off x="548640" y="2478024"/>
            <a:ext cx="11094415" cy="0"/>
          </a:xfrm>
          <a:prstGeom prst="line">
            <a:avLst/>
          </a:prstGeom>
          <a:noFill/>
          <a:ln w="9525">
            <a:solidFill>
              <a:srgbClr val="E5E7EB"/>
            </a:solidFill>
            <a:prstDash val="solid"/>
          </a:ln>
        </p:spPr>
      </p:sp>
      <p:sp>
        <p:nvSpPr>
          <p:cNvPr id="7" name="Text 5"/>
          <p:cNvSpPr txBox="1"/>
          <p:nvPr/>
        </p:nvSpPr>
        <p:spPr>
          <a:xfrm>
            <a:off x="548640" y="2578608"/>
            <a:ext cx="548640" cy="914400"/>
          </a:xfrm>
          <a:prstGeom prst="rect">
            <a:avLst/>
          </a:prstGeom>
          <a:noFill/>
          <a:ln/>
        </p:spPr>
        <p:txBody>
          <a:bodyPr wrap="square" lIns="0" tIns="0" rIns="0" bIns="0" rtlCol="0" anchor="ctr"/>
          <a:lstStyle/>
          <a:p>
            <a:pPr indent="0" marL="0">
              <a:buNone/>
            </a:pPr>
            <a:r>
              <a:rPr lang="en-US" sz="2600" b="1" dirty="0">
                <a:solidFill>
                  <a:srgbClr val="C2410C"/>
                </a:solidFill>
                <a:latin typeface="Calibri" pitchFamily="34" charset="0"/>
                <a:ea typeface="Calibri" pitchFamily="34" charset="-122"/>
                <a:cs typeface="Calibri" pitchFamily="34" charset="-120"/>
              </a:rPr>
              <a:t>2</a:t>
            </a:r>
            <a:endParaRPr lang="en-US" sz="2600" dirty="0"/>
          </a:p>
        </p:txBody>
      </p:sp>
      <p:sp>
        <p:nvSpPr>
          <p:cNvPr id="8" name="Text 6"/>
          <p:cNvSpPr txBox="1"/>
          <p:nvPr/>
        </p:nvSpPr>
        <p:spPr>
          <a:xfrm>
            <a:off x="1234440" y="2578608"/>
            <a:ext cx="10408615" cy="960120"/>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Field validation</a:t>
            </a:r>
            <a:endParaRPr lang="en-US" sz="1700" dirty="0"/>
          </a:p>
          <a:p>
            <a:pPr indent="0" marL="0">
              <a:buNone/>
            </a:pPr>
            <a:r>
              <a:rPr lang="en-US" sz="1500" dirty="0">
                <a:solidFill>
                  <a:srgbClr val="374151"/>
                </a:solidFill>
                <a:latin typeface="Calibri" pitchFamily="34" charset="0"/>
                <a:ea typeface="Calibri" pitchFamily="34" charset="-122"/>
                <a:cs typeface="Calibri" pitchFamily="34" charset="-120"/>
              </a:rPr>
              <a:t>The model has not yet been tested on faults induced on our rig or on a working pump; results validate the method, not field accuracy.</a:t>
            </a:r>
            <a:endParaRPr lang="en-US" sz="1700" dirty="0"/>
          </a:p>
        </p:txBody>
      </p:sp>
      <p:sp>
        <p:nvSpPr>
          <p:cNvPr id="9" name="Shape 7"/>
          <p:cNvSpPr/>
          <p:nvPr/>
        </p:nvSpPr>
        <p:spPr>
          <a:xfrm>
            <a:off x="548640" y="3593592"/>
            <a:ext cx="11094415" cy="0"/>
          </a:xfrm>
          <a:prstGeom prst="line">
            <a:avLst/>
          </a:prstGeom>
          <a:noFill/>
          <a:ln w="9525">
            <a:solidFill>
              <a:srgbClr val="E5E7EB"/>
            </a:solidFill>
            <a:prstDash val="solid"/>
          </a:ln>
        </p:spPr>
      </p:sp>
      <p:sp>
        <p:nvSpPr>
          <p:cNvPr id="10" name="Text 8"/>
          <p:cNvSpPr txBox="1"/>
          <p:nvPr/>
        </p:nvSpPr>
        <p:spPr>
          <a:xfrm>
            <a:off x="548640" y="3694176"/>
            <a:ext cx="548640" cy="914400"/>
          </a:xfrm>
          <a:prstGeom prst="rect">
            <a:avLst/>
          </a:prstGeom>
          <a:noFill/>
          <a:ln/>
        </p:spPr>
        <p:txBody>
          <a:bodyPr wrap="square" lIns="0" tIns="0" rIns="0" bIns="0" rtlCol="0" anchor="ctr"/>
          <a:lstStyle/>
          <a:p>
            <a:pPr indent="0" marL="0">
              <a:buNone/>
            </a:pPr>
            <a:r>
              <a:rPr lang="en-US" sz="2600" b="1" dirty="0">
                <a:solidFill>
                  <a:srgbClr val="C2410C"/>
                </a:solidFill>
                <a:latin typeface="Calibri" pitchFamily="34" charset="0"/>
                <a:ea typeface="Calibri" pitchFamily="34" charset="-122"/>
                <a:cs typeface="Calibri" pitchFamily="34" charset="-120"/>
              </a:rPr>
              <a:t>3</a:t>
            </a:r>
            <a:endParaRPr lang="en-US" sz="2600" dirty="0"/>
          </a:p>
        </p:txBody>
      </p:sp>
      <p:sp>
        <p:nvSpPr>
          <p:cNvPr id="11" name="Text 9"/>
          <p:cNvSpPr txBox="1"/>
          <p:nvPr/>
        </p:nvSpPr>
        <p:spPr>
          <a:xfrm>
            <a:off x="1234440" y="3694176"/>
            <a:ext cx="10408615" cy="960120"/>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Sensor bandwidth</a:t>
            </a:r>
            <a:endParaRPr lang="en-US" sz="1700" dirty="0"/>
          </a:p>
          <a:p>
            <a:pPr indent="0" marL="0">
              <a:buNone/>
            </a:pPr>
            <a:r>
              <a:rPr lang="en-US" sz="1500" dirty="0">
                <a:solidFill>
                  <a:srgbClr val="374151"/>
                </a:solidFill>
                <a:latin typeface="Calibri" pitchFamily="34" charset="0"/>
                <a:ea typeface="Calibri" pitchFamily="34" charset="-122"/>
                <a:cs typeface="Calibri" pitchFamily="34" charset="-120"/>
              </a:rPr>
              <a:t>The 184 Hz MPU6050 cannot see the high-frequency impacts of very early bearing faults.</a:t>
            </a:r>
            <a:endParaRPr lang="en-US" sz="1700" dirty="0"/>
          </a:p>
        </p:txBody>
      </p:sp>
      <p:sp>
        <p:nvSpPr>
          <p:cNvPr id="12" name="Shape 10"/>
          <p:cNvSpPr/>
          <p:nvPr/>
        </p:nvSpPr>
        <p:spPr>
          <a:xfrm>
            <a:off x="548640" y="4709160"/>
            <a:ext cx="11094415" cy="0"/>
          </a:xfrm>
          <a:prstGeom prst="line">
            <a:avLst/>
          </a:prstGeom>
          <a:noFill/>
          <a:ln w="9525">
            <a:solidFill>
              <a:srgbClr val="E5E7EB"/>
            </a:solidFill>
            <a:prstDash val="solid"/>
          </a:ln>
        </p:spPr>
      </p:sp>
      <p:sp>
        <p:nvSpPr>
          <p:cNvPr id="13" name="Text 11"/>
          <p:cNvSpPr txBox="1"/>
          <p:nvPr/>
        </p:nvSpPr>
        <p:spPr>
          <a:xfrm>
            <a:off x="548640" y="4809744"/>
            <a:ext cx="548640" cy="914400"/>
          </a:xfrm>
          <a:prstGeom prst="rect">
            <a:avLst/>
          </a:prstGeom>
          <a:noFill/>
          <a:ln/>
        </p:spPr>
        <p:txBody>
          <a:bodyPr wrap="square" lIns="0" tIns="0" rIns="0" bIns="0" rtlCol="0" anchor="ctr"/>
          <a:lstStyle/>
          <a:p>
            <a:pPr indent="0" marL="0">
              <a:buNone/>
            </a:pPr>
            <a:r>
              <a:rPr lang="en-US" sz="2600" b="1" dirty="0">
                <a:solidFill>
                  <a:srgbClr val="C2410C"/>
                </a:solidFill>
                <a:latin typeface="Calibri" pitchFamily="34" charset="0"/>
                <a:ea typeface="Calibri" pitchFamily="34" charset="-122"/>
                <a:cs typeface="Calibri" pitchFamily="34" charset="-120"/>
              </a:rPr>
              <a:t>4</a:t>
            </a:r>
            <a:endParaRPr lang="en-US" sz="2600" dirty="0"/>
          </a:p>
        </p:txBody>
      </p:sp>
      <p:sp>
        <p:nvSpPr>
          <p:cNvPr id="14" name="Text 12"/>
          <p:cNvSpPr txBox="1"/>
          <p:nvPr/>
        </p:nvSpPr>
        <p:spPr>
          <a:xfrm>
            <a:off x="1234440" y="4809744"/>
            <a:ext cx="10408615" cy="960120"/>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Calibration</a:t>
            </a:r>
            <a:endParaRPr lang="en-US" sz="1700" dirty="0"/>
          </a:p>
          <a:p>
            <a:pPr indent="0" marL="0">
              <a:buNone/>
            </a:pPr>
            <a:r>
              <a:rPr lang="en-US" sz="1500" dirty="0">
                <a:solidFill>
                  <a:srgbClr val="374151"/>
                </a:solidFill>
                <a:latin typeface="Calibri" pitchFamily="34" charset="0"/>
                <a:ea typeface="Calibri" pitchFamily="34" charset="-122"/>
                <a:cs typeface="Calibri" pitchFamily="34" charset="-120"/>
              </a:rPr>
              <a:t>Assumes the pump is healthy during the two calibration minutes.</a:t>
            </a:r>
            <a:endParaRPr lang="en-US" sz="17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CONCLUSION</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Conclusion and future work</a:t>
            </a:r>
            <a:endParaRPr lang="en-US" sz="2800" dirty="0"/>
          </a:p>
        </p:txBody>
      </p:sp>
      <p:sp>
        <p:nvSpPr>
          <p:cNvPr id="4" name="Text 2"/>
          <p:cNvSpPr txBox="1"/>
          <p:nvPr/>
        </p:nvSpPr>
        <p:spPr>
          <a:xfrm>
            <a:off x="548640" y="146304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Conclusion</a:t>
            </a:r>
            <a:endParaRPr lang="en-US" sz="1600" dirty="0"/>
          </a:p>
        </p:txBody>
      </p:sp>
      <p:sp>
        <p:nvSpPr>
          <p:cNvPr id="5" name="Text 3"/>
          <p:cNvSpPr txBox="1"/>
          <p:nvPr/>
        </p:nvSpPr>
        <p:spPr>
          <a:xfrm>
            <a:off x="548640" y="1874520"/>
            <a:ext cx="5486400" cy="4023360"/>
          </a:xfrm>
          <a:prstGeom prst="rect">
            <a:avLst/>
          </a:prstGeom>
          <a:noFill/>
          <a:ln/>
        </p:spPr>
        <p:txBody>
          <a:bodyPr wrap="square" lIns="0" tIns="0" rIns="0" bIns="0" rtlCol="0" anchor="t"/>
          <a:lstStyle/>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A ≈ INR 1,040 node per pump protects the motor without any network</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The fog model detects 95–98 % of fault windows at about 1 % false alarms on bandwidth-matched CWRU data</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Shape features lose most of their value at MEMS bandwidth; band energies do not</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Fleet dashboard, calibration, buffering and fault records make it usable for unattended sites</a:t>
            </a:r>
            <a:endParaRPr lang="en-US" sz="1600" dirty="0"/>
          </a:p>
        </p:txBody>
      </p:sp>
      <p:sp>
        <p:nvSpPr>
          <p:cNvPr id="6" name="Text 4"/>
          <p:cNvSpPr txBox="1"/>
          <p:nvPr/>
        </p:nvSpPr>
        <p:spPr>
          <a:xfrm>
            <a:off x="6400800" y="1463040"/>
            <a:ext cx="52120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Future work</a:t>
            </a:r>
            <a:endParaRPr lang="en-US" sz="1600" dirty="0"/>
          </a:p>
        </p:txBody>
      </p:sp>
      <p:sp>
        <p:nvSpPr>
          <p:cNvPr id="7" name="Text 5"/>
          <p:cNvSpPr txBox="1"/>
          <p:nvPr/>
        </p:nvSpPr>
        <p:spPr>
          <a:xfrm>
            <a:off x="6400800" y="1874520"/>
            <a:ext cx="5239512" cy="4023360"/>
          </a:xfrm>
          <a:prstGeom prst="rect">
            <a:avLst/>
          </a:prstGeom>
          <a:noFill/>
          <a:ln/>
        </p:spPr>
        <p:txBody>
          <a:bodyPr wrap="square" lIns="0" tIns="0" rIns="0" bIns="0" rtlCol="0" anchor="t"/>
          <a:lstStyle/>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Induced-fault data from our rig and a working sump pump</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Motor current and temperature for dry running and overload</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Build and measure the LoRa and GPS variant</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On-node features and TinyML model on the ESP32</a:t>
            </a:r>
            <a:endParaRPr lang="en-US" sz="16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rgbClr val="C2410C"/>
                </a:solidFill>
                <a:latin typeface="Calibri" pitchFamily="34" charset="0"/>
                <a:ea typeface="Calibri" pitchFamily="34" charset="-122"/>
                <a:cs typeface="Calibri" pitchFamily="34" charset="-120"/>
              </a:rPr>
              <a:t>REFERENCES</a:t>
            </a:r>
            <a:endParaRPr lang="en-US" sz="1200" dirty="0"/>
          </a:p>
        </p:txBody>
      </p:sp>
      <p:sp>
        <p:nvSpPr>
          <p:cNvPr id="3" name="Text 0"/>
          <p:cNvSpPr/>
          <p:nvPr>
            <p:ph idx="100" type="title" hasCustomPrompt="1"/>
          </p:nvPr>
        </p:nvSpPr>
        <p:spPr>
          <a:xfrm>
            <a:off x="548640" y="566928"/>
            <a:ext cx="11094415" cy="64008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Key references</a:t>
            </a:r>
            <a:endParaRPr lang="en-US" sz="2800" dirty="0"/>
          </a:p>
        </p:txBody>
      </p:sp>
      <p:sp>
        <p:nvSpPr>
          <p:cNvPr id="4" name="Text 2"/>
          <p:cNvSpPr txBox="1"/>
          <p:nvPr/>
        </p:nvSpPr>
        <p:spPr>
          <a:xfrm>
            <a:off x="548640" y="1463040"/>
            <a:ext cx="11094415" cy="4754880"/>
          </a:xfrm>
          <a:prstGeom prst="rect">
            <a:avLst/>
          </a:prstGeom>
          <a:noFill/>
          <a:ln/>
        </p:spPr>
        <p:txBody>
          <a:bodyPr wrap="square" lIns="0" tIns="0" rIns="0" bIns="0" rtlCol="0" anchor="t"/>
          <a:lstStyle/>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[1]  W. A. Smith and R. B. Randall, "Rolling element bearing diagnostics using the CWRU data: A benchmark study," MSSP, vol. 64–65, pp. 100–131, 2015.</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[2]  F. T. Liu, K. M. Ting, and Z.-H. Zhou, "Isolation forest," in Proc. IEEE ICDM, 2008, pp. 413–422.</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[3]  F. Bonomi et al., "Fog computing and its role in the Internet of Things," in Proc. MCC Workshop, 2012, pp. 13–16.</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[4]  D. Loukatos et al., "On-device intelligence for malfunction detection of water pump equipment," Sensors, vol. 23, no. 2, 839, 2023.</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[5]  A. R. Mostafavi et al., "Edge-computing-based anomaly detection of rotating machines using ANNs," Sharif J. Mech. Eng., vol. 41, no. 2, 2025.</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[6]  S. Arciniegas et al., "IoT device for detecting abnormal vibrations in motors using TinyML," Discover IoT, vol. 5, 41, 2025.</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[7]  D. Kolar et al., "Condition monitoring of rotary machinery using industrial IoT framework," Teh. Glas., vol. 16, no. 3, 2022.</a:t>
            </a:r>
            <a:endParaRPr lang="en-US" sz="1300" dirty="0"/>
          </a:p>
          <a:p>
            <a:pPr indent="0" marL="0">
              <a:spcAft>
                <a:spcPts val="800"/>
              </a:spcAft>
              <a:buNone/>
            </a:pPr>
            <a:r>
              <a:rPr lang="en-US" sz="1300" dirty="0">
                <a:solidFill>
                  <a:srgbClr val="374151"/>
                </a:solidFill>
                <a:latin typeface="Calibri" pitchFamily="34" charset="0"/>
                <a:ea typeface="Calibri" pitchFamily="34" charset="-122"/>
                <a:cs typeface="Calibri" pitchFamily="34" charset="-120"/>
              </a:rPr>
              <a:t>[8]  Case Western Reserve University Bearing Data Center, engineering.case.edu/bearingdatacenter</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731520" y="2377440"/>
            <a:ext cx="10058400" cy="1097280"/>
          </a:xfrm>
          <a:prstGeom prst="rect">
            <a:avLst/>
          </a:prstGeom>
          <a:noFill/>
          <a:ln/>
        </p:spPr>
        <p:txBody>
          <a:bodyPr wrap="square" lIns="0" tIns="0" rIns="0" bIns="0" rtlCol="0" anchor="ctr"/>
          <a:lstStyle/>
          <a:p>
            <a:pPr indent="0" marL="0">
              <a:buNone/>
            </a:pPr>
            <a:r>
              <a:rPr lang="en-US" sz="5600" b="1" dirty="0">
                <a:solidFill>
                  <a:srgbClr val="FFFFFF"/>
                </a:solidFill>
                <a:latin typeface="Calibri" pitchFamily="34" charset="0"/>
                <a:ea typeface="Calibri" pitchFamily="34" charset="-122"/>
                <a:cs typeface="Calibri" pitchFamily="34" charset="-120"/>
              </a:rPr>
              <a:t>Thank you</a:t>
            </a:r>
            <a:endParaRPr lang="en-US" sz="5600" dirty="0"/>
          </a:p>
        </p:txBody>
      </p:sp>
      <p:sp>
        <p:nvSpPr>
          <p:cNvPr id="3" name="Text 1"/>
          <p:cNvSpPr txBox="1"/>
          <p:nvPr/>
        </p:nvSpPr>
        <p:spPr>
          <a:xfrm>
            <a:off x="731520" y="3520440"/>
            <a:ext cx="10058400" cy="457200"/>
          </a:xfrm>
          <a:prstGeom prst="rect">
            <a:avLst/>
          </a:prstGeom>
          <a:noFill/>
          <a:ln/>
        </p:spPr>
        <p:txBody>
          <a:bodyPr wrap="square" lIns="0" tIns="0" rIns="0" bIns="0" rtlCol="0" anchor="t"/>
          <a:lstStyle/>
          <a:p>
            <a:pPr indent="0" marL="0">
              <a:buNone/>
            </a:pPr>
            <a:r>
              <a:rPr lang="en-US" sz="2200" dirty="0">
                <a:solidFill>
                  <a:srgbClr val="C9D3E3"/>
                </a:solidFill>
                <a:latin typeface="Calibri" pitchFamily="34" charset="0"/>
                <a:ea typeface="Calibri" pitchFamily="34" charset="-122"/>
                <a:cs typeface="Calibri" pitchFamily="34" charset="-120"/>
              </a:rPr>
              <a:t>Questions and live demonstration</a:t>
            </a:r>
            <a:endParaRPr lang="en-US" sz="2200" dirty="0"/>
          </a:p>
        </p:txBody>
      </p:sp>
      <p:sp>
        <p:nvSpPr>
          <p:cNvPr id="4" name="Text 2"/>
          <p:cNvSpPr txBox="1"/>
          <p:nvPr/>
        </p:nvSpPr>
        <p:spPr>
          <a:xfrm>
            <a:off x="731520" y="5760720"/>
            <a:ext cx="10058400" cy="365760"/>
          </a:xfrm>
          <a:prstGeom prst="rect">
            <a:avLst/>
          </a:prstGeom>
          <a:noFill/>
          <a:ln/>
        </p:spPr>
        <p:txBody>
          <a:bodyPr wrap="square" lIns="0" tIns="0" rIns="0" bIns="0" rtlCol="0" anchor="t"/>
          <a:lstStyle/>
          <a:p>
            <a:pPr indent="0" marL="0">
              <a:buNone/>
            </a:pPr>
            <a:r>
              <a:rPr lang="en-US" sz="1500" dirty="0">
                <a:solidFill>
                  <a:srgbClr val="FDBA74"/>
                </a:solidFill>
                <a:latin typeface="Calibri" pitchFamily="34" charset="0"/>
                <a:ea typeface="Calibri" pitchFamily="34" charset="-122"/>
                <a:cs typeface="Calibri" pitchFamily="34" charset="-120"/>
              </a:rPr>
              <a:t>github.com/Arush-O7/ResQFog</a:t>
            </a:r>
            <a:endParaRPr lang="en-US" sz="1500" dirty="0"/>
          </a:p>
        </p:txBody>
      </p:sp>
    </p:spTree>
  </p:cSld>
  <p:clrMapOvr>
    <a:masterClrMapping/>
  </p:clrMapOvr>
</p:sld>
</file>

<file path=ppt/theme/theme1.xml><?xml version="1.0" encoding="utf-8"?>
<a:theme xmlns:a="http://schemas.openxmlformats.org/drawingml/2006/main" name="ResQFog">
  <a:themeElements>
    <a:clrScheme name="ResQFog">
      <a:dk1>
        <a:srgbClr val="1F2937"/>
      </a:dk1>
      <a:lt1>
        <a:srgbClr val="FFFFFF"/>
      </a:lt1>
      <a:dk2>
        <a:srgbClr val="13294B"/>
      </a:dk2>
      <a:lt2>
        <a:srgbClr val="F3F5F8"/>
      </a:lt2>
      <a:accent1>
        <a:srgbClr val="13294B"/>
      </a:accent1>
      <a:accent2>
        <a:srgbClr val="C2410C"/>
      </a:accent2>
      <a:accent3>
        <a:srgbClr val="15803D"/>
      </a:accent3>
      <a:accent4>
        <a:srgbClr val="B45309"/>
      </a:accent4>
      <a:accent5>
        <a:srgbClr val="B91C1C"/>
      </a:accent5>
      <a:accent6>
        <a:srgbClr val="6B7280"/>
      </a:accent6>
      <a:hlink>
        <a:srgbClr val="1D4ED8"/>
      </a:hlink>
      <a:folHlink>
        <a:srgbClr val="6D28D9"/>
      </a:folHlink>
    </a:clrScheme>
    <a:fontScheme name="ResQFo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ResQFog - Edge-Fog Condition Monitoring for Water-Supply Pumping Stations</dc:title>
  <dc:subject>PptxGenJS Presentation</dc:subject>
  <dc:creator>Arush Mishra, Abuzar Siddiqi</dc:creator>
  <cp:lastModifiedBy>Arush Mishra, Abuzar Siddiqi</cp:lastModifiedBy>
  <cp:revision>1</cp:revision>
  <dcterms:created xsi:type="dcterms:W3CDTF">2026-10-08T13:10:46Z</dcterms:created>
  <dcterms:modified xsi:type="dcterms:W3CDTF">2026-10-08T13:10:46Z</dcterms:modified>
</cp:coreProperties>
</file>
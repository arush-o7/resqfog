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6cd926a7-a52d-1c6b-4989-fb83d576cc08}">
          <p14:sldIdLst>
            <p14:sldId id="256"/>
            <p14:sldId id="257"/>
            <p14:sldId id="258"/>
            <p14:sldId id="259"/>
            <p14:sldId id="260"/>
          </p14:sldIdLst>
        </p14:section>
        <p14:section name="Design" id="{ebb3fbcc-922c-018c-e6ab-004e3843ec6a}">
          <p14:sldIdLst>
            <p14:sldId id="261"/>
            <p14:sldId id="262"/>
            <p14:sldId id="263"/>
            <p14:sldId id="264"/>
            <p14:sldId id="265"/>
          </p14:sldIdLst>
        </p14:section>
        <p14:section name="Implementation" id="{e5789817-9ed8-bde9-1119-97e7fcad9aaf}">
          <p14:sldIdLst>
            <p14:sldId id="266"/>
            <p14:sldId id="267"/>
            <p14:sldId id="268"/>
            <p14:sldId id="269"/>
          </p14:sldIdLst>
        </p14:section>
        <p14:section name="Results" id="{5b06b331-20f9-1805-218e-5349ec8e854c}">
          <p14:sldIdLst>
            <p14:sldId id="270"/>
            <p14:sldId id="271"/>
            <p14:sldId id="272"/>
            <p14:sldId id="273"/>
          </p14:sldIdLst>
        </p14:section>
        <p14:section name="Future work" id="{ea2d3f93-79d2-0a55-19c7-eba0aa1b657e}">
          <p14:sldIdLst>
            <p14:sldId id="274"/>
            <p14:sldId id="275"/>
            <p14:sldId id="276"/>
            <p14:sldId id="277"/>
            <p14:sldId id="278"/>
            <p14:sldId id="279"/>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presenting ResQFog, our project for Fundamentals of Fog and Edge Computing under Prof. Kauser Ahmed P. In the last review we were asked to focus the system on one industry. We chose water-supply pumping stations, and in this version we added pump identification with GPS, automatic motor protection, two-way control from the fog server and offline buffering at the edge. At the end we show our plan for replacing the fixed thresholds with a machine learning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flow of the presentation. We start with the industry we chose and the problem there, compare existing solutions, then go through our objectives, what is new, the architecture, hardware and software. After that we cover detection and motor protection, how each pump is identified with GPS, the dashboard and test results, possible hardware extensions, and finally Phase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last review we were asked to pick one industry. We chose water-supply pumping stations. These are the borewell pumps, sump pumps and booster pumps that supply drinking water. They are a good fit for three reasons. First, they are rotating machines, and the common pump faults all show up as a change in vibration. Second, the stations are spread out and usually unmanned, so a fault is often discovered only when people stop getting water. Third, the network at these sites is unreliable. The table shows how each need at a pumping station maps to a feature of ResQFog. The same hardware still works on other machines, but this is where all the features matter at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Pumps rarely fail suddenly. Wear, imbalance and misalignment build up over time, and the first sign is higher vibration. At an unmanned station nobody notices this, so the pump keeps running until it stops or the motor burns out. The result is a water cut for the whole area, a much bigger repair bill, and time lost finding which pump failed. So our problem statement is: how can a cheap node on each pump detect abnormal vibration, protect the motor locally, tell the team exactly which pump failed and where, and keep the data for analysis, even with a poor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compares what is used today. Operator visits are cheap but not continuous. SCADA does everything but is meant for large plants and is far too expensive for a single pump. A motor starter with an overload or dry-run relay protects against electrical problems but does not see mechanical wear developing. GSM pump controllers and cloud apps are continuous but depend on the network and usually just switch the pump on and off. ResQFog is low cost like the last two, but it raises the alarm and trips the motor at the edge, identifies the pump with its location, and keeps a recording of every 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set seven objectives. The first six are implemented: continuous monitoring with cheap hardware, classification and protection on the ESP32, identification of each pump with its location, a fleet dashboard on the fog server, an SMS that tells the engineer which pump and where, and no data loss during outages together with fault recordings. The seventh shapes the design for Phase 2, where a learned model replaces the thresholds without changing the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six things that make ResQFog different from a typical IoT vibration monitor. One, the alarm and the motor trip are decided on the ESP32, so they work even if everything else is down. Two, alerts are location-aware: the SMS tells the engineer which pump and gives a map link. Three, control works in both directions: the dashboard can send a restart command back to the pump, and locally the operator has to turn the knob to zero before the motor can restart. Four, the edge stores readings while the fog is unreachable and sends them later, so there are no gaps in the data. Five, every fault is recorded with 50 readings before and after. Six, the system watches its own health.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has three layers. At the edge there is one node per pump: an ESP32 with the MPU6050 and a GPS module. It reads vibration every second, classifies it, drives the buzzer, LCD and motor, and keeps readings in a buffer if the fog cannot be reached. The fog layer is a Flask server, for example on a laptop or a small PC in the pump office. It receives readings from all pumps, runs the dashboard with the map, keeps events and statistics, saves fault recordings and queues restart commands. The cloud layer is Twilio, which delivers the SMS. A detail worth pointing out is the orange arrow: the fog sends commands back to the edge inside the reply to the next reading, so the ESP32 never has to run a server of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components of one edge node. The new part is the NEO-6M GPS module, connected to the second UART of the ESP32 on pins 16 and 17. The accelerometer and LCD share the I2C bus. The potentiometer sets the motor speed to simulate load, and it also acts as the local reset after a trip. The L298N drives the motor, and the trip simply sets its PWM to zero, so no extra hardware was needed for protection. One complete node costs about 1,400 rupees. On a real pump, the L298N would be replaced by a relay that drives the pump's contactor.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firmware is Arduino C++. TinyGPSPlus is the only new library; it parses the NMEA sentences from the GPS. The fog server is Python with Flask, multi-threaded so several pumps and browsers can connect at once. The dashboard is plain HTML and JavaScript; Chart.js and the Leaflet map library are served from the fog server itself, and only the map tiles come from OpenStreetMap. On the right are the endpoints. The new ones are /data/batch for buffered readings and /api/command for the remote restart. The Twilio credentials stay in a .env file that is not in the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MPU6050 gives acceleration on three axes. We take the magnitude and subtract 1 g, because even a motor at rest measures gravity; what remains is the vibration level v. The ESP32 calculates this every second. Below 1 g is normal, 1 to 1.2 g is a warning, and 1.2 g or more is critical, which sounds the buzzer, sends the SMS and starts a fault recording. If the reading stays critical for three seconds in a row, the ESP32 cuts motor power. We chose three readings so that a single knock on the sensor does not stop the pump. The thresholds come from our test rig, where normal running averages about 0.1 g. One limitation we found is that the plus or minus 2 g range caps readings at about 2.46 g, so we keep the thresholds well below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loop that runs every second, in two lanes. On the edge, the ESP32 reads the sensor and the GPS, computes and classifies the vibration, sounds the buzzer and trips the motor if needed, and then sends the reading, or stores it if the fog cannot be reached. On the fog, the server updates the pump's state, graph and map marker, checks if this is a new critical event, sends the SMS with a 60-second cooldown per pump, and saves the fault recording. The orange arrow on the left shows the return path: the reply to each reading can carry a restart command.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answers the question of which pump has failed. Each node has a fixed ID and site name in its firmware. We added a NEO-6M GPS module, and the ESP32 uses its position whenever it has a recent fix. If there is no fix, for example indoors or if the module is not fitted, the node sends the coordinates entered when it was installed and marks them as fixed, so the dashboard always knows where the pump is. The location goes into every message. It is used on the dashboard map, in the SMS as a Google Maps link, and in the fault recordings. We should be honest about one limitation: GPS does not work well indoors. For a small pump house a window or the roof is enough; in a big factory the fixed location is the better option.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features make the edge independent of the network. On the left is the motor trip. If the reading is critical three times in a row, the ESP32 sets the motor PWM to zero and keeps beeping. It can be restarted in two ways: locally by turning the speed knob back to zero, which is how real motor starters work, or remotely from the dashboard. On the right is the store-and-forward buffer. If the fog server cannot be reached, each reading goes into a 300-entry ring buffer. When the connection returns, the ESP32 uploads them in batches with their age, and the fog server puts them back at the right time. We can demonstrate this by stopping the fog server for a short time and starting it again: the gap in the graph fills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new top of the dashboard. On the left is the map of the pump network; each pump appears where its node says it is, coloured by its state. Next to it is the list of machines with their live readings. In this screenshot PUMP-03 has tripped: its marker is red, and the status panel below explains that the ESP32 cut the motor after three critical readings. The Restart motor button only appears in this state. The pipeline panel shows whether each tier is online. Any browser on the same network can open this page on port 5001.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pump also has its detailed view. Figure 2 is a pump in the warning state: the banner turns amber and the headroom before critical is shown. Figure 3 is the live graph, with the dashed warning and critical lines; the line changes colour as it crosses them. Figure 4 is the same page on a phone. If a node stops sending for five seconds, its state changes to offline on both the list and the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analyse a defect we need to see what happened before and after it. For each pump the fog server keeps the latest 50 readings. When a new critical event arrives, that buffer becomes the before data, and the server collects 50 more readings as the after data. The 101 rows are saved as a CSV named with the pump ID and the time of the fault, and listed on the dashboard with a download button. These recordings are also the labelled data we will use to train the model in Phase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tested every function. The first seven tests were run on the hardware: telemetry at one reading per second, correct classification, the buzzer, SMS delivery, the 101-row fault recording, offline detection within five seconds and the SMS rate limit. The four highlighted rows are the new features. We tested them against the fog server with a simulated edge node that sends exactly the same messages as the firmware: the motor trip, the remote restart, the offline buffer, and the location on the map and in the SMS. GPS was tested with the fixed fallback location because our rig is indoors.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 real field deployment, these are the modules we would add. A current sensor is the most useful: dry running, overload and a locked rotor all change the motor current, and some of them do not change vibration much. A temperature sensor on the motor body catches overheating. A flow or pressure sensor shows whether the pump is actually delivering water. For remote sites without Wi-Fi, a GSM module lets the edge send data and even the SMS itself, and LoRa lets many pumps a few kilometres apart reach one fog gateway. An RFID reader lets the technician tag in at the pump to close the fault, and a relay and contactor let the same trip logic switch a real pump. Our first two picks are the current sensor and the GSM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threshold method works, but it has clear limits. One reading per second tells us how strong the vibration is, not its frequency content, and different pump faults have different frequency signatures. A threshold cannot tell them apart, it has to be tuned for every pump, and slow drift below it is missed. Before a model can help, the data must improve: faster sampling, features such as RMS, kurtosis and FFT bands computed on the ESP32, current and temperature as extra inputs, and a labelled dataset from our rig and the public CWRU bearing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compared seven options against our constraints. Isolation Forest and One-Class SVM need no labels and catch new kinds of faults, but they belong on the fog server. A Random Forest on extracted features needs labels but can name the fault type. A 1D CNN needs a lot of labelled data. An autoencoder is trained only on normal data, flags any deviation, and can run on the ESP32 with TensorFlow Lite Micro. An LSTM could predict remaining useful life but needs run-to-failure data. The two highlighted rows are the ones we selected.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will use a two-stage model. Stage 1 runs on the ESP32: a one-kilohertz window is reduced to features and passed to a small autoencoder quantised to 8-bit integers. If its anomaly score passes a limit learned from normal running, the alarm and trip work exactly as they do today, so the edge-first design is kept. Stage 2 runs on the fog server: a Random Forest classifies the anomaly into a fault type. It works well on small feature sets, its decisions are explainable, and it can be retrained on the fog as new fault recordings arrive.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plan for Phase 2, over about twelve weeks: faster sampling and features on the ESP32, building the dataset, training and comparing models, deploying the autoencoder to the ESP32, adding the Random Forest to the fog server so the dashboard can show the fault type, and validating on the rig. We will measure precision, recall and F1 on held-out faults, false alarms per hour, detection delay, and the model's size and speed on the ESP32.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ResQFog gives each pump continuous monitoring for about 1,400 rupees, protects the motor at the edge without depending on the network, tells the engineer exactly which pump failed and where, shows the whole network on one dashboard, and keeps every reading and fault. Next we want to add current and temperature sensing, a GSM module for remote sites, try it on a real pump, and then move to the learned model in Phase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We are happy to take questions, and we can show the system running: the ESP32 on the rig, the dashboard with the pump network, a motor trip and restart, and the offline buffer when the fog server is stopped and started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685800"/>
          </a:xfrm>
          <a:prstGeom prst="rect">
            <a:avLst/>
          </a:prstGeom>
          <a:noFill/>
          <a:ln/>
        </p:spPr>
        <p:txBody>
          <a:bodyPr wrap="square" rtlCol="0"/>
          <a:lstStyle>
            <a:lvl1pPr algn="l" indent="0" marL="0">
              <a:buNone/>
              <a:defRPr lang="en-US" sz="2800" b="1" dirty="0">
                <a:solidFill>
                  <a:srgbClr val="13294B"/>
                </a:solidFill>
                <a:latin typeface="Calibri" pitchFamily="34" charset="0"/>
                <a:ea typeface="Calibri" pitchFamily="34" charset="-122"/>
                <a:cs typeface="Calibri" pitchFamily="34" charset="-120"/>
              </a:defRPr>
            </a:lvl1pPr>
          </a:lstStyle>
          <a:p>
            <a:pPr algn="l" indent="0" marL="0">
              <a:buNone/>
            </a:pPr>
            <a:endParaRPr lang="en-US" sz="28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8A93A1"/>
                </a:solidFill>
                <a:latin typeface="Calibri" pitchFamily="34" charset="0"/>
                <a:ea typeface="Calibri" pitchFamily="34" charset="-122"/>
                <a:cs typeface="Calibri" pitchFamily="34" charset="-120"/>
              </a:rPr>
              <a:t>ResQFog  ·  Fog and Edge Computing project</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1"/>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3294B"/>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1"/>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2.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548640"/>
            <a:ext cx="5486400" cy="36576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VIT</a:t>
            </a:r>
            <a:endParaRPr lang="en-US" sz="1800" dirty="0"/>
          </a:p>
        </p:txBody>
      </p:sp>
      <p:sp>
        <p:nvSpPr>
          <p:cNvPr id="3" name="Text 1"/>
          <p:cNvSpPr txBox="1"/>
          <p:nvPr/>
        </p:nvSpPr>
        <p:spPr>
          <a:xfrm>
            <a:off x="731520" y="914400"/>
            <a:ext cx="7315200" cy="320040"/>
          </a:xfrm>
          <a:prstGeom prst="rect">
            <a:avLst/>
          </a:prstGeom>
          <a:noFill/>
          <a:ln/>
        </p:spPr>
        <p:txBody>
          <a:bodyPr wrap="square" lIns="0" tIns="0" rIns="0" bIns="0" rtlCol="0" anchor="t"/>
          <a:lstStyle/>
          <a:p>
            <a:pPr indent="0" marL="0">
              <a:buNone/>
            </a:pPr>
            <a:r>
              <a:rPr lang="en-US" sz="1400" dirty="0">
                <a:solidFill>
                  <a:srgbClr val="C9D3E3"/>
                </a:solidFill>
                <a:latin typeface="Calibri" pitchFamily="34" charset="0"/>
                <a:ea typeface="Calibri" pitchFamily="34" charset="-122"/>
                <a:cs typeface="Calibri" pitchFamily="34" charset="-120"/>
              </a:rPr>
              <a:t>BCSE313L  ·  Fundamentals of Fog and Edge Computing</a:t>
            </a:r>
            <a:endParaRPr lang="en-US" sz="1400" dirty="0"/>
          </a:p>
        </p:txBody>
      </p:sp>
      <p:sp>
        <p:nvSpPr>
          <p:cNvPr id="4" name="Text 2"/>
          <p:cNvSpPr txBox="1"/>
          <p:nvPr/>
        </p:nvSpPr>
        <p:spPr>
          <a:xfrm>
            <a:off x="731520" y="2011680"/>
            <a:ext cx="5486400" cy="320040"/>
          </a:xfrm>
          <a:prstGeom prst="rect">
            <a:avLst/>
          </a:prstGeom>
          <a:noFill/>
          <a:ln/>
        </p:spPr>
        <p:txBody>
          <a:bodyPr wrap="square" lIns="0" tIns="0" rIns="0" bIns="0" rtlCol="0" anchor="t"/>
          <a:lstStyle/>
          <a:p>
            <a:pPr indent="0" marL="0">
              <a:buNone/>
            </a:pPr>
            <a:r>
              <a:rPr lang="en-US" sz="1300" b="1" spc="200" kern="0" dirty="0">
                <a:solidFill>
                  <a:srgbClr val="FDBA74"/>
                </a:solidFill>
                <a:latin typeface="Calibri" pitchFamily="34" charset="0"/>
                <a:ea typeface="Calibri" pitchFamily="34" charset="-122"/>
                <a:cs typeface="Calibri" pitchFamily="34" charset="-120"/>
              </a:rPr>
              <a:t>PROJECT REVIEW</a:t>
            </a:r>
            <a:endParaRPr lang="en-US" sz="1300" dirty="0"/>
          </a:p>
        </p:txBody>
      </p:sp>
      <p:sp>
        <p:nvSpPr>
          <p:cNvPr id="5" name="Text 3"/>
          <p:cNvSpPr/>
          <p:nvPr/>
        </p:nvSpPr>
        <p:spPr>
          <a:xfrm>
            <a:off x="731520" y="2331720"/>
            <a:ext cx="9144000" cy="914400"/>
          </a:xfrm>
          <a:prstGeom prst="rect">
            <a:avLst/>
          </a:prstGeom>
          <a:noFill/>
          <a:ln/>
        </p:spPr>
        <p:txBody>
          <a:bodyPr wrap="square" lIns="0" tIns="0" rIns="0" bIns="0" rtlCol="0" anchor="ctr"/>
          <a:lstStyle/>
          <a:p>
            <a:pPr indent="0" marL="0">
              <a:buNone/>
            </a:pPr>
            <a:r>
              <a:rPr lang="en-US" sz="5400" b="1" dirty="0">
                <a:solidFill>
                  <a:srgbClr val="FFFFFF"/>
                </a:solidFill>
                <a:latin typeface="Calibri" pitchFamily="34" charset="0"/>
                <a:ea typeface="Calibri" pitchFamily="34" charset="-122"/>
                <a:cs typeface="Calibri" pitchFamily="34" charset="-120"/>
              </a:rPr>
              <a:t>ResQFog</a:t>
            </a:r>
            <a:endParaRPr lang="en-US" sz="5400" dirty="0"/>
          </a:p>
        </p:txBody>
      </p:sp>
      <p:sp>
        <p:nvSpPr>
          <p:cNvPr id="6" name="Text 4"/>
          <p:cNvSpPr txBox="1"/>
          <p:nvPr/>
        </p:nvSpPr>
        <p:spPr>
          <a:xfrm>
            <a:off x="731520" y="3291840"/>
            <a:ext cx="10515600" cy="457200"/>
          </a:xfrm>
          <a:prstGeom prst="rect">
            <a:avLst/>
          </a:prstGeom>
          <a:noFill/>
          <a:ln/>
        </p:spPr>
        <p:txBody>
          <a:bodyPr wrap="square" lIns="0" tIns="0" rIns="0" bIns="0" rtlCol="0" anchor="t"/>
          <a:lstStyle/>
          <a:p>
            <a:pPr indent="0" marL="0">
              <a:buNone/>
            </a:pPr>
            <a:r>
              <a:rPr lang="en-US" sz="2400" dirty="0">
                <a:solidFill>
                  <a:srgbClr val="E5EAF2"/>
                </a:solidFill>
                <a:latin typeface="Calibri" pitchFamily="34" charset="0"/>
                <a:ea typeface="Calibri" pitchFamily="34" charset="-122"/>
                <a:cs typeface="Calibri" pitchFamily="34" charset="-120"/>
              </a:rPr>
              <a:t>Edge–Fog–Cloud Condition Monitoring for Water-Supply Pumping Stations</a:t>
            </a:r>
            <a:endParaRPr lang="en-US" sz="2400" dirty="0"/>
          </a:p>
        </p:txBody>
      </p:sp>
      <p:sp>
        <p:nvSpPr>
          <p:cNvPr id="7" name="Shape 5"/>
          <p:cNvSpPr/>
          <p:nvPr/>
        </p:nvSpPr>
        <p:spPr>
          <a:xfrm>
            <a:off x="731520" y="4892040"/>
            <a:ext cx="10698480" cy="0"/>
          </a:xfrm>
          <a:prstGeom prst="line">
            <a:avLst/>
          </a:prstGeom>
          <a:noFill/>
          <a:ln w="12700">
            <a:solidFill>
              <a:srgbClr val="2E4468"/>
            </a:solidFill>
            <a:prstDash val="solid"/>
          </a:ln>
        </p:spPr>
      </p:sp>
      <p:sp>
        <p:nvSpPr>
          <p:cNvPr id="8" name="Text 6"/>
          <p:cNvSpPr txBox="1"/>
          <p:nvPr/>
        </p:nvSpPr>
        <p:spPr>
          <a:xfrm>
            <a:off x="731520" y="5120640"/>
            <a:ext cx="2743200" cy="274320"/>
          </a:xfrm>
          <a:prstGeom prst="rect">
            <a:avLst/>
          </a:prstGeom>
          <a:noFill/>
          <a:ln/>
        </p:spPr>
        <p:txBody>
          <a:bodyPr wrap="square" lIns="0" tIns="0" rIns="0" bIns="0" rtlCol="0" anchor="t"/>
          <a:lstStyle/>
          <a:p>
            <a:pPr indent="0" marL="0">
              <a:buNone/>
            </a:pPr>
            <a:r>
              <a:rPr lang="en-US" sz="1200" dirty="0">
                <a:solidFill>
                  <a:srgbClr val="C9D3E3"/>
                </a:solidFill>
                <a:latin typeface="Calibri" pitchFamily="34" charset="0"/>
                <a:ea typeface="Calibri" pitchFamily="34" charset="-122"/>
                <a:cs typeface="Calibri" pitchFamily="34" charset="-120"/>
              </a:rPr>
              <a:t>Presented by</a:t>
            </a:r>
            <a:endParaRPr lang="en-US" sz="1200" dirty="0"/>
          </a:p>
        </p:txBody>
      </p:sp>
      <p:sp>
        <p:nvSpPr>
          <p:cNvPr id="9" name="Text 7"/>
          <p:cNvSpPr txBox="1"/>
          <p:nvPr/>
        </p:nvSpPr>
        <p:spPr>
          <a:xfrm>
            <a:off x="731520" y="5413248"/>
            <a:ext cx="3657600" cy="64008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ARUSH MISHRA  23BCT0199</a:t>
            </a:r>
            <a:endParaRPr lang="en-US" sz="1500" dirty="0"/>
          </a:p>
          <a:p>
            <a:pPr indent="0" marL="0">
              <a:buNone/>
            </a:pPr>
            <a:r>
              <a:rPr lang="en-US" sz="1500" b="1" dirty="0">
                <a:solidFill>
                  <a:srgbClr val="FFFFFF"/>
                </a:solidFill>
                <a:latin typeface="Calibri" pitchFamily="34" charset="0"/>
                <a:ea typeface="Calibri" pitchFamily="34" charset="-122"/>
                <a:cs typeface="Calibri" pitchFamily="34" charset="-120"/>
              </a:rPr>
              <a:t>ABUZAR SIDDIQI  23BCT0186</a:t>
            </a:r>
            <a:endParaRPr lang="en-US" sz="1500" dirty="0"/>
          </a:p>
        </p:txBody>
      </p:sp>
      <p:sp>
        <p:nvSpPr>
          <p:cNvPr id="10" name="Text 8"/>
          <p:cNvSpPr txBox="1"/>
          <p:nvPr/>
        </p:nvSpPr>
        <p:spPr>
          <a:xfrm>
            <a:off x="4754880" y="5120640"/>
            <a:ext cx="2743200" cy="274320"/>
          </a:xfrm>
          <a:prstGeom prst="rect">
            <a:avLst/>
          </a:prstGeom>
          <a:noFill/>
          <a:ln/>
        </p:spPr>
        <p:txBody>
          <a:bodyPr wrap="square" lIns="0" tIns="0" rIns="0" bIns="0" rtlCol="0" anchor="t"/>
          <a:lstStyle/>
          <a:p>
            <a:pPr indent="0" marL="0">
              <a:buNone/>
            </a:pPr>
            <a:r>
              <a:rPr lang="en-US" sz="1200" dirty="0">
                <a:solidFill>
                  <a:srgbClr val="C9D3E3"/>
                </a:solidFill>
                <a:latin typeface="Calibri" pitchFamily="34" charset="0"/>
                <a:ea typeface="Calibri" pitchFamily="34" charset="-122"/>
                <a:cs typeface="Calibri" pitchFamily="34" charset="-120"/>
              </a:rPr>
              <a:t>Course faculty</a:t>
            </a:r>
            <a:endParaRPr lang="en-US" sz="1200" dirty="0"/>
          </a:p>
        </p:txBody>
      </p:sp>
      <p:sp>
        <p:nvSpPr>
          <p:cNvPr id="11" name="Text 9"/>
          <p:cNvSpPr txBox="1"/>
          <p:nvPr/>
        </p:nvSpPr>
        <p:spPr>
          <a:xfrm>
            <a:off x="4754880" y="5413248"/>
            <a:ext cx="3657600" cy="32004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Prof. Kauser Ahmed P</a:t>
            </a:r>
            <a:endParaRPr lang="en-US" sz="1500" dirty="0"/>
          </a:p>
        </p:txBody>
      </p:sp>
      <p:sp>
        <p:nvSpPr>
          <p:cNvPr id="12" name="Text 10"/>
          <p:cNvSpPr txBox="1"/>
          <p:nvPr/>
        </p:nvSpPr>
        <p:spPr>
          <a:xfrm>
            <a:off x="8686800" y="5120640"/>
            <a:ext cx="2743200" cy="274320"/>
          </a:xfrm>
          <a:prstGeom prst="rect">
            <a:avLst/>
          </a:prstGeom>
          <a:noFill/>
          <a:ln/>
        </p:spPr>
        <p:txBody>
          <a:bodyPr wrap="square" lIns="0" tIns="0" rIns="0" bIns="0" rtlCol="0" anchor="t"/>
          <a:lstStyle/>
          <a:p>
            <a:pPr algn="r" indent="0" marL="0">
              <a:buNone/>
            </a:pPr>
            <a:r>
              <a:rPr lang="en-US" sz="1200" dirty="0">
                <a:solidFill>
                  <a:srgbClr val="C9D3E3"/>
                </a:solidFill>
                <a:latin typeface="Calibri" pitchFamily="34" charset="0"/>
                <a:ea typeface="Calibri" pitchFamily="34" charset="-122"/>
                <a:cs typeface="Calibri" pitchFamily="34" charset="-120"/>
              </a:rPr>
              <a:t>Date</a:t>
            </a:r>
            <a:endParaRPr lang="en-US" sz="1200" dirty="0"/>
          </a:p>
        </p:txBody>
      </p:sp>
      <p:sp>
        <p:nvSpPr>
          <p:cNvPr id="13" name="Text 11"/>
          <p:cNvSpPr txBox="1"/>
          <p:nvPr/>
        </p:nvSpPr>
        <p:spPr>
          <a:xfrm>
            <a:off x="8686800" y="5413248"/>
            <a:ext cx="2743200" cy="320040"/>
          </a:xfrm>
          <a:prstGeom prst="rect">
            <a:avLst/>
          </a:prstGeom>
          <a:noFill/>
          <a:ln/>
        </p:spPr>
        <p:txBody>
          <a:bodyPr wrap="square" lIns="0" tIns="0" rIns="0" bIns="0" rtlCol="0" anchor="t"/>
          <a:lstStyle/>
          <a:p>
            <a:pPr algn="r" indent="0" marL="0">
              <a:buNone/>
            </a:pPr>
            <a:r>
              <a:rPr lang="en-US" sz="1500" b="1" dirty="0">
                <a:solidFill>
                  <a:srgbClr val="FFFFFF"/>
                </a:solidFill>
                <a:latin typeface="Calibri" pitchFamily="34" charset="0"/>
                <a:ea typeface="Calibri" pitchFamily="34" charset="-122"/>
                <a:cs typeface="Calibri" pitchFamily="34" charset="-120"/>
              </a:rPr>
              <a:t>October 2026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685800"/>
          </a:xfrm>
          <a:prstGeom prst="rect">
            <a:avLst/>
          </a:prstGeom>
          <a:noFill/>
          <a:ln/>
        </p:spPr>
        <p:txBody>
          <a:bodyPr wrap="square" lIns="0" tIns="0" rIns="0" bIns="0" rtlCol="0" anchor="ctr"/>
          <a:lstStyle/>
          <a:p>
            <a:pPr algn="l" indent="0" marL="0">
              <a:buNone/>
            </a:pPr>
            <a:r>
              <a:rPr lang="en-US" sz="2800" b="1" dirty="0">
                <a:solidFill>
                  <a:srgbClr val="13294B"/>
                </a:solidFill>
                <a:latin typeface="Calibri" pitchFamily="34" charset="0"/>
                <a:ea typeface="Calibri" pitchFamily="34" charset="-122"/>
                <a:cs typeface="Calibri" pitchFamily="34" charset="-120"/>
              </a:rPr>
              <a:t>Outline</a:t>
            </a:r>
            <a:endParaRPr lang="en-US" sz="2800" dirty="0"/>
          </a:p>
        </p:txBody>
      </p:sp>
      <p:sp>
        <p:nvSpPr>
          <p:cNvPr id="3" name="Text 1"/>
          <p:cNvSpPr txBox="1"/>
          <p:nvPr/>
        </p:nvSpPr>
        <p:spPr>
          <a:xfrm>
            <a:off x="548640" y="1325880"/>
            <a:ext cx="365760" cy="658368"/>
          </a:xfrm>
          <a:prstGeom prst="rect">
            <a:avLst/>
          </a:prstGeom>
          <a:noFill/>
          <a:ln/>
        </p:spPr>
        <p:txBody>
          <a:bodyPr wrap="square" lIns="0" tIns="0" rIns="0" bIns="0" rtlCol="0" anchor="ctr"/>
          <a:lstStyle/>
          <a:p>
            <a:pPr indent="0" marL="0">
              <a:buNone/>
            </a:pPr>
            <a:r>
              <a:rPr lang="en-US" sz="1800" b="1" dirty="0">
                <a:solidFill>
                  <a:srgbClr val="C2410C"/>
                </a:solidFill>
                <a:latin typeface="Calibri" pitchFamily="34" charset="0"/>
                <a:ea typeface="Calibri" pitchFamily="34" charset="-122"/>
                <a:cs typeface="Calibri" pitchFamily="34" charset="-120"/>
              </a:rPr>
              <a:t>1</a:t>
            </a:r>
            <a:endParaRPr lang="en-US" sz="1800" dirty="0"/>
          </a:p>
        </p:txBody>
      </p:sp>
      <p:sp>
        <p:nvSpPr>
          <p:cNvPr id="4" name="Text 2"/>
          <p:cNvSpPr txBox="1"/>
          <p:nvPr/>
        </p:nvSpPr>
        <p:spPr>
          <a:xfrm>
            <a:off x="1005840" y="1325880"/>
            <a:ext cx="4663440" cy="658368"/>
          </a:xfrm>
          <a:prstGeom prst="rect">
            <a:avLst/>
          </a:prstGeom>
          <a:noFill/>
          <a:ln/>
        </p:spPr>
        <p:txBody>
          <a:bodyPr wrap="square" lIns="0" tIns="0" rIns="0" bIns="0" rtlCol="0" anchor="ctr"/>
          <a:lstStyle/>
          <a:p>
            <a:pPr indent="0" marL="0">
              <a:buNone/>
            </a:pPr>
            <a:r>
              <a:rPr lang="en-US" sz="1700" dirty="0">
                <a:solidFill>
                  <a:srgbClr val="374151"/>
                </a:solidFill>
                <a:latin typeface="Calibri" pitchFamily="34" charset="0"/>
                <a:ea typeface="Calibri" pitchFamily="34" charset="-122"/>
                <a:cs typeface="Calibri" pitchFamily="34" charset="-120"/>
              </a:rPr>
              <a:t>Target industry and problem</a:t>
            </a:r>
            <a:endParaRPr lang="en-US" sz="1700" dirty="0"/>
          </a:p>
        </p:txBody>
      </p:sp>
      <p:sp>
        <p:nvSpPr>
          <p:cNvPr id="5" name="Shape 3"/>
          <p:cNvSpPr/>
          <p:nvPr/>
        </p:nvSpPr>
        <p:spPr>
          <a:xfrm>
            <a:off x="548640" y="1984248"/>
            <a:ext cx="5120640" cy="0"/>
          </a:xfrm>
          <a:prstGeom prst="line">
            <a:avLst/>
          </a:prstGeom>
          <a:noFill/>
          <a:ln w="9525">
            <a:solidFill>
              <a:srgbClr val="E5E7EB"/>
            </a:solidFill>
            <a:prstDash val="solid"/>
          </a:ln>
        </p:spPr>
      </p:sp>
      <p:sp>
        <p:nvSpPr>
          <p:cNvPr id="6" name="Text 4"/>
          <p:cNvSpPr txBox="1"/>
          <p:nvPr/>
        </p:nvSpPr>
        <p:spPr>
          <a:xfrm>
            <a:off x="548640" y="1984248"/>
            <a:ext cx="365760" cy="658368"/>
          </a:xfrm>
          <a:prstGeom prst="rect">
            <a:avLst/>
          </a:prstGeom>
          <a:noFill/>
          <a:ln/>
        </p:spPr>
        <p:txBody>
          <a:bodyPr wrap="square" lIns="0" tIns="0" rIns="0" bIns="0" rtlCol="0" anchor="ctr"/>
          <a:lstStyle/>
          <a:p>
            <a:pPr indent="0" marL="0">
              <a:buNone/>
            </a:pPr>
            <a:r>
              <a:rPr lang="en-US" sz="1800" b="1" dirty="0">
                <a:solidFill>
                  <a:srgbClr val="C2410C"/>
                </a:solidFill>
                <a:latin typeface="Calibri" pitchFamily="34" charset="0"/>
                <a:ea typeface="Calibri" pitchFamily="34" charset="-122"/>
                <a:cs typeface="Calibri" pitchFamily="34" charset="-120"/>
              </a:rPr>
              <a:t>2</a:t>
            </a:r>
            <a:endParaRPr lang="en-US" sz="1800" dirty="0"/>
          </a:p>
        </p:txBody>
      </p:sp>
      <p:sp>
        <p:nvSpPr>
          <p:cNvPr id="7" name="Text 5"/>
          <p:cNvSpPr txBox="1"/>
          <p:nvPr/>
        </p:nvSpPr>
        <p:spPr>
          <a:xfrm>
            <a:off x="1005840" y="1984248"/>
            <a:ext cx="4663440" cy="658368"/>
          </a:xfrm>
          <a:prstGeom prst="rect">
            <a:avLst/>
          </a:prstGeom>
          <a:noFill/>
          <a:ln/>
        </p:spPr>
        <p:txBody>
          <a:bodyPr wrap="square" lIns="0" tIns="0" rIns="0" bIns="0" rtlCol="0" anchor="ctr"/>
          <a:lstStyle/>
          <a:p>
            <a:pPr indent="0" marL="0">
              <a:buNone/>
            </a:pPr>
            <a:r>
              <a:rPr lang="en-US" sz="1700" dirty="0">
                <a:solidFill>
                  <a:srgbClr val="374151"/>
                </a:solidFill>
                <a:latin typeface="Calibri" pitchFamily="34" charset="0"/>
                <a:ea typeface="Calibri" pitchFamily="34" charset="-122"/>
                <a:cs typeface="Calibri" pitchFamily="34" charset="-120"/>
              </a:rPr>
              <a:t>Existing systems and their gaps</a:t>
            </a:r>
            <a:endParaRPr lang="en-US" sz="1700" dirty="0"/>
          </a:p>
        </p:txBody>
      </p:sp>
      <p:sp>
        <p:nvSpPr>
          <p:cNvPr id="8" name="Shape 6"/>
          <p:cNvSpPr/>
          <p:nvPr/>
        </p:nvSpPr>
        <p:spPr>
          <a:xfrm>
            <a:off x="548640" y="2642616"/>
            <a:ext cx="5120640" cy="0"/>
          </a:xfrm>
          <a:prstGeom prst="line">
            <a:avLst/>
          </a:prstGeom>
          <a:noFill/>
          <a:ln w="9525">
            <a:solidFill>
              <a:srgbClr val="E5E7EB"/>
            </a:solidFill>
            <a:prstDash val="solid"/>
          </a:ln>
        </p:spPr>
      </p:sp>
      <p:sp>
        <p:nvSpPr>
          <p:cNvPr id="9" name="Text 7"/>
          <p:cNvSpPr txBox="1"/>
          <p:nvPr/>
        </p:nvSpPr>
        <p:spPr>
          <a:xfrm>
            <a:off x="548640" y="2642616"/>
            <a:ext cx="365760" cy="658368"/>
          </a:xfrm>
          <a:prstGeom prst="rect">
            <a:avLst/>
          </a:prstGeom>
          <a:noFill/>
          <a:ln/>
        </p:spPr>
        <p:txBody>
          <a:bodyPr wrap="square" lIns="0" tIns="0" rIns="0" bIns="0" rtlCol="0" anchor="ctr"/>
          <a:lstStyle/>
          <a:p>
            <a:pPr indent="0" marL="0">
              <a:buNone/>
            </a:pPr>
            <a:r>
              <a:rPr lang="en-US" sz="1800" b="1" dirty="0">
                <a:solidFill>
                  <a:srgbClr val="C2410C"/>
                </a:solidFill>
                <a:latin typeface="Calibri" pitchFamily="34" charset="0"/>
                <a:ea typeface="Calibri" pitchFamily="34" charset="-122"/>
                <a:cs typeface="Calibri" pitchFamily="34" charset="-120"/>
              </a:rPr>
              <a:t>3</a:t>
            </a:r>
            <a:endParaRPr lang="en-US" sz="1800" dirty="0"/>
          </a:p>
        </p:txBody>
      </p:sp>
      <p:sp>
        <p:nvSpPr>
          <p:cNvPr id="10" name="Text 8"/>
          <p:cNvSpPr txBox="1"/>
          <p:nvPr/>
        </p:nvSpPr>
        <p:spPr>
          <a:xfrm>
            <a:off x="1005840" y="2642616"/>
            <a:ext cx="4663440" cy="658368"/>
          </a:xfrm>
          <a:prstGeom prst="rect">
            <a:avLst/>
          </a:prstGeom>
          <a:noFill/>
          <a:ln/>
        </p:spPr>
        <p:txBody>
          <a:bodyPr wrap="square" lIns="0" tIns="0" rIns="0" bIns="0" rtlCol="0" anchor="ctr"/>
          <a:lstStyle/>
          <a:p>
            <a:pPr indent="0" marL="0">
              <a:buNone/>
            </a:pPr>
            <a:r>
              <a:rPr lang="en-US" sz="1700" dirty="0">
                <a:solidFill>
                  <a:srgbClr val="374151"/>
                </a:solidFill>
                <a:latin typeface="Calibri" pitchFamily="34" charset="0"/>
                <a:ea typeface="Calibri" pitchFamily="34" charset="-122"/>
                <a:cs typeface="Calibri" pitchFamily="34" charset="-120"/>
              </a:rPr>
              <a:t>Objectives</a:t>
            </a:r>
            <a:endParaRPr lang="en-US" sz="1700" dirty="0"/>
          </a:p>
        </p:txBody>
      </p:sp>
      <p:sp>
        <p:nvSpPr>
          <p:cNvPr id="11" name="Shape 9"/>
          <p:cNvSpPr/>
          <p:nvPr/>
        </p:nvSpPr>
        <p:spPr>
          <a:xfrm>
            <a:off x="548640" y="3300984"/>
            <a:ext cx="5120640" cy="0"/>
          </a:xfrm>
          <a:prstGeom prst="line">
            <a:avLst/>
          </a:prstGeom>
          <a:noFill/>
          <a:ln w="9525">
            <a:solidFill>
              <a:srgbClr val="E5E7EB"/>
            </a:solidFill>
            <a:prstDash val="solid"/>
          </a:ln>
        </p:spPr>
      </p:sp>
      <p:sp>
        <p:nvSpPr>
          <p:cNvPr id="12" name="Text 10"/>
          <p:cNvSpPr txBox="1"/>
          <p:nvPr/>
        </p:nvSpPr>
        <p:spPr>
          <a:xfrm>
            <a:off x="548640" y="3300984"/>
            <a:ext cx="365760" cy="658368"/>
          </a:xfrm>
          <a:prstGeom prst="rect">
            <a:avLst/>
          </a:prstGeom>
          <a:noFill/>
          <a:ln/>
        </p:spPr>
        <p:txBody>
          <a:bodyPr wrap="square" lIns="0" tIns="0" rIns="0" bIns="0" rtlCol="0" anchor="ctr"/>
          <a:lstStyle/>
          <a:p>
            <a:pPr indent="0" marL="0">
              <a:buNone/>
            </a:pPr>
            <a:r>
              <a:rPr lang="en-US" sz="1800" b="1" dirty="0">
                <a:solidFill>
                  <a:srgbClr val="C2410C"/>
                </a:solidFill>
                <a:latin typeface="Calibri" pitchFamily="34" charset="0"/>
                <a:ea typeface="Calibri" pitchFamily="34" charset="-122"/>
                <a:cs typeface="Calibri" pitchFamily="34" charset="-120"/>
              </a:rPr>
              <a:t>4</a:t>
            </a:r>
            <a:endParaRPr lang="en-US" sz="1800" dirty="0"/>
          </a:p>
        </p:txBody>
      </p:sp>
      <p:sp>
        <p:nvSpPr>
          <p:cNvPr id="13" name="Text 11"/>
          <p:cNvSpPr txBox="1"/>
          <p:nvPr/>
        </p:nvSpPr>
        <p:spPr>
          <a:xfrm>
            <a:off x="1005840" y="3300984"/>
            <a:ext cx="4663440" cy="658368"/>
          </a:xfrm>
          <a:prstGeom prst="rect">
            <a:avLst/>
          </a:prstGeom>
          <a:noFill/>
          <a:ln/>
        </p:spPr>
        <p:txBody>
          <a:bodyPr wrap="square" lIns="0" tIns="0" rIns="0" bIns="0" rtlCol="0" anchor="ctr"/>
          <a:lstStyle/>
          <a:p>
            <a:pPr indent="0" marL="0">
              <a:buNone/>
            </a:pPr>
            <a:r>
              <a:rPr lang="en-US" sz="1700" dirty="0">
                <a:solidFill>
                  <a:srgbClr val="374151"/>
                </a:solidFill>
                <a:latin typeface="Calibri" pitchFamily="34" charset="0"/>
                <a:ea typeface="Calibri" pitchFamily="34" charset="-122"/>
                <a:cs typeface="Calibri" pitchFamily="34" charset="-120"/>
              </a:rPr>
              <a:t>Novelty and contributions</a:t>
            </a:r>
            <a:endParaRPr lang="en-US" sz="1700" dirty="0"/>
          </a:p>
        </p:txBody>
      </p:sp>
      <p:sp>
        <p:nvSpPr>
          <p:cNvPr id="14" name="Shape 12"/>
          <p:cNvSpPr/>
          <p:nvPr/>
        </p:nvSpPr>
        <p:spPr>
          <a:xfrm>
            <a:off x="548640" y="3959352"/>
            <a:ext cx="5120640" cy="0"/>
          </a:xfrm>
          <a:prstGeom prst="line">
            <a:avLst/>
          </a:prstGeom>
          <a:noFill/>
          <a:ln w="9525">
            <a:solidFill>
              <a:srgbClr val="E5E7EB"/>
            </a:solidFill>
            <a:prstDash val="solid"/>
          </a:ln>
        </p:spPr>
      </p:sp>
      <p:sp>
        <p:nvSpPr>
          <p:cNvPr id="15" name="Text 13"/>
          <p:cNvSpPr txBox="1"/>
          <p:nvPr/>
        </p:nvSpPr>
        <p:spPr>
          <a:xfrm>
            <a:off x="548640" y="3959352"/>
            <a:ext cx="365760" cy="658368"/>
          </a:xfrm>
          <a:prstGeom prst="rect">
            <a:avLst/>
          </a:prstGeom>
          <a:noFill/>
          <a:ln/>
        </p:spPr>
        <p:txBody>
          <a:bodyPr wrap="square" lIns="0" tIns="0" rIns="0" bIns="0" rtlCol="0" anchor="ctr"/>
          <a:lstStyle/>
          <a:p>
            <a:pPr indent="0" marL="0">
              <a:buNone/>
            </a:pPr>
            <a:r>
              <a:rPr lang="en-US" sz="1800" b="1" dirty="0">
                <a:solidFill>
                  <a:srgbClr val="C2410C"/>
                </a:solidFill>
                <a:latin typeface="Calibri" pitchFamily="34" charset="0"/>
                <a:ea typeface="Calibri" pitchFamily="34" charset="-122"/>
                <a:cs typeface="Calibri" pitchFamily="34" charset="-120"/>
              </a:rPr>
              <a:t>5</a:t>
            </a:r>
            <a:endParaRPr lang="en-US" sz="1800" dirty="0"/>
          </a:p>
        </p:txBody>
      </p:sp>
      <p:sp>
        <p:nvSpPr>
          <p:cNvPr id="16" name="Text 14"/>
          <p:cNvSpPr txBox="1"/>
          <p:nvPr/>
        </p:nvSpPr>
        <p:spPr>
          <a:xfrm>
            <a:off x="1005840" y="3959352"/>
            <a:ext cx="4663440" cy="658368"/>
          </a:xfrm>
          <a:prstGeom prst="rect">
            <a:avLst/>
          </a:prstGeom>
          <a:noFill/>
          <a:ln/>
        </p:spPr>
        <p:txBody>
          <a:bodyPr wrap="square" lIns="0" tIns="0" rIns="0" bIns="0" rtlCol="0" anchor="ctr"/>
          <a:lstStyle/>
          <a:p>
            <a:pPr indent="0" marL="0">
              <a:buNone/>
            </a:pPr>
            <a:r>
              <a:rPr lang="en-US" sz="1700" dirty="0">
                <a:solidFill>
                  <a:srgbClr val="374151"/>
                </a:solidFill>
                <a:latin typeface="Calibri" pitchFamily="34" charset="0"/>
                <a:ea typeface="Calibri" pitchFamily="34" charset="-122"/>
                <a:cs typeface="Calibri" pitchFamily="34" charset="-120"/>
              </a:rPr>
              <a:t>System architecture</a:t>
            </a:r>
            <a:endParaRPr lang="en-US" sz="1700" dirty="0"/>
          </a:p>
        </p:txBody>
      </p:sp>
      <p:sp>
        <p:nvSpPr>
          <p:cNvPr id="17" name="Shape 15"/>
          <p:cNvSpPr/>
          <p:nvPr/>
        </p:nvSpPr>
        <p:spPr>
          <a:xfrm>
            <a:off x="548640" y="4617720"/>
            <a:ext cx="5120640" cy="0"/>
          </a:xfrm>
          <a:prstGeom prst="line">
            <a:avLst/>
          </a:prstGeom>
          <a:noFill/>
          <a:ln w="9525">
            <a:solidFill>
              <a:srgbClr val="E5E7EB"/>
            </a:solidFill>
            <a:prstDash val="solid"/>
          </a:ln>
        </p:spPr>
      </p:sp>
      <p:sp>
        <p:nvSpPr>
          <p:cNvPr id="18" name="Text 16"/>
          <p:cNvSpPr txBox="1"/>
          <p:nvPr/>
        </p:nvSpPr>
        <p:spPr>
          <a:xfrm>
            <a:off x="548640" y="4617720"/>
            <a:ext cx="365760" cy="658368"/>
          </a:xfrm>
          <a:prstGeom prst="rect">
            <a:avLst/>
          </a:prstGeom>
          <a:noFill/>
          <a:ln/>
        </p:spPr>
        <p:txBody>
          <a:bodyPr wrap="square" lIns="0" tIns="0" rIns="0" bIns="0" rtlCol="0" anchor="ctr"/>
          <a:lstStyle/>
          <a:p>
            <a:pPr indent="0" marL="0">
              <a:buNone/>
            </a:pPr>
            <a:r>
              <a:rPr lang="en-US" sz="1800" b="1" dirty="0">
                <a:solidFill>
                  <a:srgbClr val="C2410C"/>
                </a:solidFill>
                <a:latin typeface="Calibri" pitchFamily="34" charset="0"/>
                <a:ea typeface="Calibri" pitchFamily="34" charset="-122"/>
                <a:cs typeface="Calibri" pitchFamily="34" charset="-120"/>
              </a:rPr>
              <a:t>6</a:t>
            </a:r>
            <a:endParaRPr lang="en-US" sz="1800" dirty="0"/>
          </a:p>
        </p:txBody>
      </p:sp>
      <p:sp>
        <p:nvSpPr>
          <p:cNvPr id="19" name="Text 17"/>
          <p:cNvSpPr txBox="1"/>
          <p:nvPr/>
        </p:nvSpPr>
        <p:spPr>
          <a:xfrm>
            <a:off x="1005840" y="4617720"/>
            <a:ext cx="4663440" cy="658368"/>
          </a:xfrm>
          <a:prstGeom prst="rect">
            <a:avLst/>
          </a:prstGeom>
          <a:noFill/>
          <a:ln/>
        </p:spPr>
        <p:txBody>
          <a:bodyPr wrap="square" lIns="0" tIns="0" rIns="0" bIns="0" rtlCol="0" anchor="ctr"/>
          <a:lstStyle/>
          <a:p>
            <a:pPr indent="0" marL="0">
              <a:buNone/>
            </a:pPr>
            <a:r>
              <a:rPr lang="en-US" sz="1700" dirty="0">
                <a:solidFill>
                  <a:srgbClr val="374151"/>
                </a:solidFill>
                <a:latin typeface="Calibri" pitchFamily="34" charset="0"/>
                <a:ea typeface="Calibri" pitchFamily="34" charset="-122"/>
                <a:cs typeface="Calibri" pitchFamily="34" charset="-120"/>
              </a:rPr>
              <a:t>Hardware and software</a:t>
            </a:r>
            <a:endParaRPr lang="en-US" sz="1700" dirty="0"/>
          </a:p>
        </p:txBody>
      </p:sp>
      <p:sp>
        <p:nvSpPr>
          <p:cNvPr id="20" name="Text 18"/>
          <p:cNvSpPr txBox="1"/>
          <p:nvPr/>
        </p:nvSpPr>
        <p:spPr>
          <a:xfrm>
            <a:off x="6355080" y="1325880"/>
            <a:ext cx="457200" cy="658368"/>
          </a:xfrm>
          <a:prstGeom prst="rect">
            <a:avLst/>
          </a:prstGeom>
          <a:noFill/>
          <a:ln/>
        </p:spPr>
        <p:txBody>
          <a:bodyPr wrap="square" lIns="0" tIns="0" rIns="0" bIns="0" rtlCol="0" anchor="ctr"/>
          <a:lstStyle/>
          <a:p>
            <a:pPr indent="0" marL="0">
              <a:buNone/>
            </a:pPr>
            <a:r>
              <a:rPr lang="en-US" sz="1800" b="1" dirty="0">
                <a:solidFill>
                  <a:srgbClr val="C2410C"/>
                </a:solidFill>
                <a:latin typeface="Calibri" pitchFamily="34" charset="0"/>
                <a:ea typeface="Calibri" pitchFamily="34" charset="-122"/>
                <a:cs typeface="Calibri" pitchFamily="34" charset="-120"/>
              </a:rPr>
              <a:t>7</a:t>
            </a:r>
            <a:endParaRPr lang="en-US" sz="1800" dirty="0"/>
          </a:p>
        </p:txBody>
      </p:sp>
      <p:sp>
        <p:nvSpPr>
          <p:cNvPr id="21" name="Text 19"/>
          <p:cNvSpPr txBox="1"/>
          <p:nvPr/>
        </p:nvSpPr>
        <p:spPr>
          <a:xfrm>
            <a:off x="6858000" y="1325880"/>
            <a:ext cx="4663440" cy="658368"/>
          </a:xfrm>
          <a:prstGeom prst="rect">
            <a:avLst/>
          </a:prstGeom>
          <a:noFill/>
          <a:ln/>
        </p:spPr>
        <p:txBody>
          <a:bodyPr wrap="square" lIns="0" tIns="0" rIns="0" bIns="0" rtlCol="0" anchor="ctr"/>
          <a:lstStyle/>
          <a:p>
            <a:pPr indent="0" marL="0">
              <a:buNone/>
            </a:pPr>
            <a:r>
              <a:rPr lang="en-US" sz="1700" dirty="0">
                <a:solidFill>
                  <a:srgbClr val="374151"/>
                </a:solidFill>
                <a:latin typeface="Calibri" pitchFamily="34" charset="0"/>
                <a:ea typeface="Calibri" pitchFamily="34" charset="-122"/>
                <a:cs typeface="Calibri" pitchFamily="34" charset="-120"/>
              </a:rPr>
              <a:t>Detection and motor protection</a:t>
            </a:r>
            <a:endParaRPr lang="en-US" sz="1700" dirty="0"/>
          </a:p>
        </p:txBody>
      </p:sp>
      <p:sp>
        <p:nvSpPr>
          <p:cNvPr id="22" name="Shape 20"/>
          <p:cNvSpPr/>
          <p:nvPr/>
        </p:nvSpPr>
        <p:spPr>
          <a:xfrm>
            <a:off x="6355080" y="1984248"/>
            <a:ext cx="5257800" cy="0"/>
          </a:xfrm>
          <a:prstGeom prst="line">
            <a:avLst/>
          </a:prstGeom>
          <a:noFill/>
          <a:ln w="9525">
            <a:solidFill>
              <a:srgbClr val="E5E7EB"/>
            </a:solidFill>
            <a:prstDash val="solid"/>
          </a:ln>
        </p:spPr>
      </p:sp>
      <p:sp>
        <p:nvSpPr>
          <p:cNvPr id="23" name="Text 21"/>
          <p:cNvSpPr txBox="1"/>
          <p:nvPr/>
        </p:nvSpPr>
        <p:spPr>
          <a:xfrm>
            <a:off x="6355080" y="1984248"/>
            <a:ext cx="457200" cy="658368"/>
          </a:xfrm>
          <a:prstGeom prst="rect">
            <a:avLst/>
          </a:prstGeom>
          <a:noFill/>
          <a:ln/>
        </p:spPr>
        <p:txBody>
          <a:bodyPr wrap="square" lIns="0" tIns="0" rIns="0" bIns="0" rtlCol="0" anchor="ctr"/>
          <a:lstStyle/>
          <a:p>
            <a:pPr indent="0" marL="0">
              <a:buNone/>
            </a:pPr>
            <a:r>
              <a:rPr lang="en-US" sz="1800" b="1" dirty="0">
                <a:solidFill>
                  <a:srgbClr val="C2410C"/>
                </a:solidFill>
                <a:latin typeface="Calibri" pitchFamily="34" charset="0"/>
                <a:ea typeface="Calibri" pitchFamily="34" charset="-122"/>
                <a:cs typeface="Calibri" pitchFamily="34" charset="-120"/>
              </a:rPr>
              <a:t>8</a:t>
            </a:r>
            <a:endParaRPr lang="en-US" sz="1800" dirty="0"/>
          </a:p>
        </p:txBody>
      </p:sp>
      <p:sp>
        <p:nvSpPr>
          <p:cNvPr id="24" name="Text 22"/>
          <p:cNvSpPr txBox="1"/>
          <p:nvPr/>
        </p:nvSpPr>
        <p:spPr>
          <a:xfrm>
            <a:off x="6858000" y="1984248"/>
            <a:ext cx="4663440" cy="658368"/>
          </a:xfrm>
          <a:prstGeom prst="rect">
            <a:avLst/>
          </a:prstGeom>
          <a:noFill/>
          <a:ln/>
        </p:spPr>
        <p:txBody>
          <a:bodyPr wrap="square" lIns="0" tIns="0" rIns="0" bIns="0" rtlCol="0" anchor="ctr"/>
          <a:lstStyle/>
          <a:p>
            <a:pPr indent="0" marL="0">
              <a:buNone/>
            </a:pPr>
            <a:r>
              <a:rPr lang="en-US" sz="1700" dirty="0">
                <a:solidFill>
                  <a:srgbClr val="374151"/>
                </a:solidFill>
                <a:latin typeface="Calibri" pitchFamily="34" charset="0"/>
                <a:ea typeface="Calibri" pitchFamily="34" charset="-122"/>
                <a:cs typeface="Calibri" pitchFamily="34" charset="-120"/>
              </a:rPr>
              <a:t>Machine identification with GPS</a:t>
            </a:r>
            <a:endParaRPr lang="en-US" sz="1700" dirty="0"/>
          </a:p>
        </p:txBody>
      </p:sp>
      <p:sp>
        <p:nvSpPr>
          <p:cNvPr id="25" name="Shape 23"/>
          <p:cNvSpPr/>
          <p:nvPr/>
        </p:nvSpPr>
        <p:spPr>
          <a:xfrm>
            <a:off x="6355080" y="2642616"/>
            <a:ext cx="5257800" cy="0"/>
          </a:xfrm>
          <a:prstGeom prst="line">
            <a:avLst/>
          </a:prstGeom>
          <a:noFill/>
          <a:ln w="9525">
            <a:solidFill>
              <a:srgbClr val="E5E7EB"/>
            </a:solidFill>
            <a:prstDash val="solid"/>
          </a:ln>
        </p:spPr>
      </p:sp>
      <p:sp>
        <p:nvSpPr>
          <p:cNvPr id="26" name="Text 24"/>
          <p:cNvSpPr txBox="1"/>
          <p:nvPr/>
        </p:nvSpPr>
        <p:spPr>
          <a:xfrm>
            <a:off x="6355080" y="2642616"/>
            <a:ext cx="457200" cy="658368"/>
          </a:xfrm>
          <a:prstGeom prst="rect">
            <a:avLst/>
          </a:prstGeom>
          <a:noFill/>
          <a:ln/>
        </p:spPr>
        <p:txBody>
          <a:bodyPr wrap="square" lIns="0" tIns="0" rIns="0" bIns="0" rtlCol="0" anchor="ctr"/>
          <a:lstStyle/>
          <a:p>
            <a:pPr indent="0" marL="0">
              <a:buNone/>
            </a:pPr>
            <a:r>
              <a:rPr lang="en-US" sz="1800" b="1" dirty="0">
                <a:solidFill>
                  <a:srgbClr val="C2410C"/>
                </a:solidFill>
                <a:latin typeface="Calibri" pitchFamily="34" charset="0"/>
                <a:ea typeface="Calibri" pitchFamily="34" charset="-122"/>
                <a:cs typeface="Calibri" pitchFamily="34" charset="-120"/>
              </a:rPr>
              <a:t>9</a:t>
            </a:r>
            <a:endParaRPr lang="en-US" sz="1800" dirty="0"/>
          </a:p>
        </p:txBody>
      </p:sp>
      <p:sp>
        <p:nvSpPr>
          <p:cNvPr id="27" name="Text 25"/>
          <p:cNvSpPr txBox="1"/>
          <p:nvPr/>
        </p:nvSpPr>
        <p:spPr>
          <a:xfrm>
            <a:off x="6858000" y="2642616"/>
            <a:ext cx="4663440" cy="658368"/>
          </a:xfrm>
          <a:prstGeom prst="rect">
            <a:avLst/>
          </a:prstGeom>
          <a:noFill/>
          <a:ln/>
        </p:spPr>
        <p:txBody>
          <a:bodyPr wrap="square" lIns="0" tIns="0" rIns="0" bIns="0" rtlCol="0" anchor="ctr"/>
          <a:lstStyle/>
          <a:p>
            <a:pPr indent="0" marL="0">
              <a:buNone/>
            </a:pPr>
            <a:r>
              <a:rPr lang="en-US" sz="1700" dirty="0">
                <a:solidFill>
                  <a:srgbClr val="374151"/>
                </a:solidFill>
                <a:latin typeface="Calibri" pitchFamily="34" charset="0"/>
                <a:ea typeface="Calibri" pitchFamily="34" charset="-122"/>
                <a:cs typeface="Calibri" pitchFamily="34" charset="-120"/>
              </a:rPr>
              <a:t>Dashboard and fault recording</a:t>
            </a:r>
            <a:endParaRPr lang="en-US" sz="1700" dirty="0"/>
          </a:p>
        </p:txBody>
      </p:sp>
      <p:sp>
        <p:nvSpPr>
          <p:cNvPr id="28" name="Shape 26"/>
          <p:cNvSpPr/>
          <p:nvPr/>
        </p:nvSpPr>
        <p:spPr>
          <a:xfrm>
            <a:off x="6355080" y="3300984"/>
            <a:ext cx="5257800" cy="0"/>
          </a:xfrm>
          <a:prstGeom prst="line">
            <a:avLst/>
          </a:prstGeom>
          <a:noFill/>
          <a:ln w="9525">
            <a:solidFill>
              <a:srgbClr val="E5E7EB"/>
            </a:solidFill>
            <a:prstDash val="solid"/>
          </a:ln>
        </p:spPr>
      </p:sp>
      <p:sp>
        <p:nvSpPr>
          <p:cNvPr id="29" name="Text 27"/>
          <p:cNvSpPr txBox="1"/>
          <p:nvPr/>
        </p:nvSpPr>
        <p:spPr>
          <a:xfrm>
            <a:off x="6355080" y="3300984"/>
            <a:ext cx="457200" cy="658368"/>
          </a:xfrm>
          <a:prstGeom prst="rect">
            <a:avLst/>
          </a:prstGeom>
          <a:noFill/>
          <a:ln/>
        </p:spPr>
        <p:txBody>
          <a:bodyPr wrap="square" lIns="0" tIns="0" rIns="0" bIns="0" rtlCol="0" anchor="ctr"/>
          <a:lstStyle/>
          <a:p>
            <a:pPr indent="0" marL="0">
              <a:buNone/>
            </a:pPr>
            <a:r>
              <a:rPr lang="en-US" sz="1800" b="1" dirty="0">
                <a:solidFill>
                  <a:srgbClr val="C2410C"/>
                </a:solidFill>
                <a:latin typeface="Calibri" pitchFamily="34" charset="0"/>
                <a:ea typeface="Calibri" pitchFamily="34" charset="-122"/>
                <a:cs typeface="Calibri" pitchFamily="34" charset="-120"/>
              </a:rPr>
              <a:t>10</a:t>
            </a:r>
            <a:endParaRPr lang="en-US" sz="1800" dirty="0"/>
          </a:p>
        </p:txBody>
      </p:sp>
      <p:sp>
        <p:nvSpPr>
          <p:cNvPr id="30" name="Text 28"/>
          <p:cNvSpPr txBox="1"/>
          <p:nvPr/>
        </p:nvSpPr>
        <p:spPr>
          <a:xfrm>
            <a:off x="6858000" y="3300984"/>
            <a:ext cx="4663440" cy="658368"/>
          </a:xfrm>
          <a:prstGeom prst="rect">
            <a:avLst/>
          </a:prstGeom>
          <a:noFill/>
          <a:ln/>
        </p:spPr>
        <p:txBody>
          <a:bodyPr wrap="square" lIns="0" tIns="0" rIns="0" bIns="0" rtlCol="0" anchor="ctr"/>
          <a:lstStyle/>
          <a:p>
            <a:pPr indent="0" marL="0">
              <a:buNone/>
            </a:pPr>
            <a:r>
              <a:rPr lang="en-US" sz="1700" dirty="0">
                <a:solidFill>
                  <a:srgbClr val="374151"/>
                </a:solidFill>
                <a:latin typeface="Calibri" pitchFamily="34" charset="0"/>
                <a:ea typeface="Calibri" pitchFamily="34" charset="-122"/>
                <a:cs typeface="Calibri" pitchFamily="34" charset="-120"/>
              </a:rPr>
              <a:t>Testing and results</a:t>
            </a:r>
            <a:endParaRPr lang="en-US" sz="1700" dirty="0"/>
          </a:p>
        </p:txBody>
      </p:sp>
      <p:sp>
        <p:nvSpPr>
          <p:cNvPr id="31" name="Shape 29"/>
          <p:cNvSpPr/>
          <p:nvPr/>
        </p:nvSpPr>
        <p:spPr>
          <a:xfrm>
            <a:off x="6355080" y="3959352"/>
            <a:ext cx="5257800" cy="0"/>
          </a:xfrm>
          <a:prstGeom prst="line">
            <a:avLst/>
          </a:prstGeom>
          <a:noFill/>
          <a:ln w="9525">
            <a:solidFill>
              <a:srgbClr val="E5E7EB"/>
            </a:solidFill>
            <a:prstDash val="solid"/>
          </a:ln>
        </p:spPr>
      </p:sp>
      <p:sp>
        <p:nvSpPr>
          <p:cNvPr id="32" name="Text 30"/>
          <p:cNvSpPr txBox="1"/>
          <p:nvPr/>
        </p:nvSpPr>
        <p:spPr>
          <a:xfrm>
            <a:off x="6355080" y="3959352"/>
            <a:ext cx="457200" cy="658368"/>
          </a:xfrm>
          <a:prstGeom prst="rect">
            <a:avLst/>
          </a:prstGeom>
          <a:noFill/>
          <a:ln/>
        </p:spPr>
        <p:txBody>
          <a:bodyPr wrap="square" lIns="0" tIns="0" rIns="0" bIns="0" rtlCol="0" anchor="ctr"/>
          <a:lstStyle/>
          <a:p>
            <a:pPr indent="0" marL="0">
              <a:buNone/>
            </a:pPr>
            <a:r>
              <a:rPr lang="en-US" sz="1800" b="1" dirty="0">
                <a:solidFill>
                  <a:srgbClr val="C2410C"/>
                </a:solidFill>
                <a:latin typeface="Calibri" pitchFamily="34" charset="0"/>
                <a:ea typeface="Calibri" pitchFamily="34" charset="-122"/>
                <a:cs typeface="Calibri" pitchFamily="34" charset="-120"/>
              </a:rPr>
              <a:t>11</a:t>
            </a:r>
            <a:endParaRPr lang="en-US" sz="1800" dirty="0"/>
          </a:p>
        </p:txBody>
      </p:sp>
      <p:sp>
        <p:nvSpPr>
          <p:cNvPr id="33" name="Text 31"/>
          <p:cNvSpPr txBox="1"/>
          <p:nvPr/>
        </p:nvSpPr>
        <p:spPr>
          <a:xfrm>
            <a:off x="6858000" y="3959352"/>
            <a:ext cx="4663440" cy="658368"/>
          </a:xfrm>
          <a:prstGeom prst="rect">
            <a:avLst/>
          </a:prstGeom>
          <a:noFill/>
          <a:ln/>
        </p:spPr>
        <p:txBody>
          <a:bodyPr wrap="square" lIns="0" tIns="0" rIns="0" bIns="0" rtlCol="0" anchor="ctr"/>
          <a:lstStyle/>
          <a:p>
            <a:pPr indent="0" marL="0">
              <a:buNone/>
            </a:pPr>
            <a:r>
              <a:rPr lang="en-US" sz="1700" dirty="0">
                <a:solidFill>
                  <a:srgbClr val="374151"/>
                </a:solidFill>
                <a:latin typeface="Calibri" pitchFamily="34" charset="0"/>
                <a:ea typeface="Calibri" pitchFamily="34" charset="-122"/>
                <a:cs typeface="Calibri" pitchFamily="34" charset="-120"/>
              </a:rPr>
              <a:t>Hardware extensions</a:t>
            </a:r>
            <a:endParaRPr lang="en-US" sz="1700" dirty="0"/>
          </a:p>
        </p:txBody>
      </p:sp>
      <p:sp>
        <p:nvSpPr>
          <p:cNvPr id="34" name="Shape 32"/>
          <p:cNvSpPr/>
          <p:nvPr/>
        </p:nvSpPr>
        <p:spPr>
          <a:xfrm>
            <a:off x="6355080" y="4617720"/>
            <a:ext cx="5257800" cy="0"/>
          </a:xfrm>
          <a:prstGeom prst="line">
            <a:avLst/>
          </a:prstGeom>
          <a:noFill/>
          <a:ln w="9525">
            <a:solidFill>
              <a:srgbClr val="E5E7EB"/>
            </a:solidFill>
            <a:prstDash val="solid"/>
          </a:ln>
        </p:spPr>
      </p:sp>
      <p:sp>
        <p:nvSpPr>
          <p:cNvPr id="35" name="Text 33"/>
          <p:cNvSpPr txBox="1"/>
          <p:nvPr/>
        </p:nvSpPr>
        <p:spPr>
          <a:xfrm>
            <a:off x="6355080" y="4617720"/>
            <a:ext cx="457200" cy="658368"/>
          </a:xfrm>
          <a:prstGeom prst="rect">
            <a:avLst/>
          </a:prstGeom>
          <a:noFill/>
          <a:ln/>
        </p:spPr>
        <p:txBody>
          <a:bodyPr wrap="square" lIns="0" tIns="0" rIns="0" bIns="0" rtlCol="0" anchor="ctr"/>
          <a:lstStyle/>
          <a:p>
            <a:pPr indent="0" marL="0">
              <a:buNone/>
            </a:pPr>
            <a:r>
              <a:rPr lang="en-US" sz="1800" b="1" dirty="0">
                <a:solidFill>
                  <a:srgbClr val="C2410C"/>
                </a:solidFill>
                <a:latin typeface="Calibri" pitchFamily="34" charset="0"/>
                <a:ea typeface="Calibri" pitchFamily="34" charset="-122"/>
                <a:cs typeface="Calibri" pitchFamily="34" charset="-120"/>
              </a:rPr>
              <a:t>12</a:t>
            </a:r>
            <a:endParaRPr lang="en-US" sz="1800" dirty="0"/>
          </a:p>
        </p:txBody>
      </p:sp>
      <p:sp>
        <p:nvSpPr>
          <p:cNvPr id="36" name="Text 34"/>
          <p:cNvSpPr txBox="1"/>
          <p:nvPr/>
        </p:nvSpPr>
        <p:spPr>
          <a:xfrm>
            <a:off x="6858000" y="4617720"/>
            <a:ext cx="4663440" cy="658368"/>
          </a:xfrm>
          <a:prstGeom prst="rect">
            <a:avLst/>
          </a:prstGeom>
          <a:noFill/>
          <a:ln/>
        </p:spPr>
        <p:txBody>
          <a:bodyPr wrap="square" lIns="0" tIns="0" rIns="0" bIns="0" rtlCol="0" anchor="ctr"/>
          <a:lstStyle/>
          <a:p>
            <a:pPr indent="0" marL="0">
              <a:buNone/>
            </a:pPr>
            <a:r>
              <a:rPr lang="en-US" sz="1700" dirty="0">
                <a:solidFill>
                  <a:srgbClr val="374151"/>
                </a:solidFill>
                <a:latin typeface="Calibri" pitchFamily="34" charset="0"/>
                <a:ea typeface="Calibri" pitchFamily="34" charset="-122"/>
                <a:cs typeface="Calibri" pitchFamily="34" charset="-120"/>
              </a:rPr>
              <a:t>Phase 2: AI model integration</a:t>
            </a:r>
            <a:endParaRPr lang="en-US" sz="17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1"/>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685800"/>
          </a:xfrm>
          <a:prstGeom prst="rect">
            <a:avLst/>
          </a:prstGeom>
          <a:noFill/>
          <a:ln/>
        </p:spPr>
        <p:txBody>
          <a:bodyPr wrap="square" lIns="0" tIns="0" rIns="0" bIns="0" rtlCol="0" anchor="ctr"/>
          <a:lstStyle/>
          <a:p>
            <a:pPr algn="l" indent="0" marL="0">
              <a:buNone/>
            </a:pPr>
            <a:r>
              <a:rPr lang="en-US" sz="2800" b="1" dirty="0">
                <a:solidFill>
                  <a:srgbClr val="13294B"/>
                </a:solidFill>
                <a:latin typeface="Calibri" pitchFamily="34" charset="0"/>
                <a:ea typeface="Calibri" pitchFamily="34" charset="-122"/>
                <a:cs typeface="Calibri" pitchFamily="34" charset="-120"/>
              </a:rPr>
              <a:t>Target Industry: Water-Supply Pumping Stations</a:t>
            </a:r>
            <a:endParaRPr lang="en-US" sz="2800" dirty="0"/>
          </a:p>
        </p:txBody>
      </p:sp>
      <p:sp>
        <p:nvSpPr>
          <p:cNvPr id="3" name="Text 1"/>
          <p:cNvSpPr txBox="1"/>
          <p:nvPr/>
        </p:nvSpPr>
        <p:spPr>
          <a:xfrm>
            <a:off x="548640" y="1234440"/>
            <a:ext cx="5212080" cy="868680"/>
          </a:xfrm>
          <a:prstGeom prst="rect">
            <a:avLst/>
          </a:prstGeom>
          <a:noFill/>
          <a:ln/>
        </p:spPr>
        <p:txBody>
          <a:bodyPr wrap="square" lIns="0" tIns="0" rIns="0" bIns="0" rtlCol="0" anchor="t"/>
          <a:lstStyle/>
          <a:p>
            <a:pPr indent="0" marL="0">
              <a:buNone/>
            </a:pPr>
            <a:r>
              <a:rPr lang="en-US" sz="1600" dirty="0">
                <a:solidFill>
                  <a:srgbClr val="1F2937"/>
                </a:solidFill>
                <a:latin typeface="Calibri" pitchFamily="34" charset="0"/>
                <a:ea typeface="Calibri" pitchFamily="34" charset="-122"/>
                <a:cs typeface="Calibri" pitchFamily="34" charset="-120"/>
              </a:rPr>
              <a:t>We applied ResQFog to the electric pumps that supply drinking water to towns and villages: borewell pumps, sump and booster pumps, and the pumps that fill overhead tanks.</a:t>
            </a:r>
            <a:endParaRPr lang="en-US" sz="1600" dirty="0"/>
          </a:p>
        </p:txBody>
      </p:sp>
      <p:sp>
        <p:nvSpPr>
          <p:cNvPr id="4" name="Text 2"/>
          <p:cNvSpPr txBox="1"/>
          <p:nvPr/>
        </p:nvSpPr>
        <p:spPr>
          <a:xfrm>
            <a:off x="548640" y="2240280"/>
            <a:ext cx="5212080" cy="320040"/>
          </a:xfrm>
          <a:prstGeom prst="rect">
            <a:avLst/>
          </a:prstGeom>
          <a:noFill/>
          <a:ln/>
        </p:spPr>
        <p:txBody>
          <a:bodyPr wrap="square" lIns="0" tIns="0" rIns="0" bIns="0" rtlCol="0" anchor="t"/>
          <a:lstStyle/>
          <a:p>
            <a:pPr indent="0" marL="0">
              <a:buNone/>
            </a:pPr>
            <a:r>
              <a:rPr lang="en-US" sz="1600" b="1" dirty="0">
                <a:solidFill>
                  <a:srgbClr val="13294B"/>
                </a:solidFill>
                <a:latin typeface="Calibri" pitchFamily="34" charset="0"/>
                <a:ea typeface="Calibri" pitchFamily="34" charset="-122"/>
                <a:cs typeface="Calibri" pitchFamily="34" charset="-120"/>
              </a:rPr>
              <a:t>Why this industry</a:t>
            </a:r>
            <a:endParaRPr lang="en-US" sz="1600" dirty="0"/>
          </a:p>
        </p:txBody>
      </p:sp>
      <p:sp>
        <p:nvSpPr>
          <p:cNvPr id="5" name="Text 3"/>
          <p:cNvSpPr txBox="1"/>
          <p:nvPr/>
        </p:nvSpPr>
        <p:spPr>
          <a:xfrm>
            <a:off x="548640" y="2606040"/>
            <a:ext cx="5212080" cy="3566160"/>
          </a:xfrm>
          <a:prstGeom prst="rect">
            <a:avLst/>
          </a:prstGeom>
          <a:noFill/>
          <a:ln/>
        </p:spPr>
        <p:txBody>
          <a:bodyPr wrap="square" lIns="0" tIns="0" rIns="0" bIns="0" rtlCol="0" anchor="t"/>
          <a:lstStyle/>
          <a:p>
            <a:pPr marL="177800" indent="-177800">
              <a:spcAft>
                <a:spcPts val="700"/>
              </a:spcAft>
              <a:buSzPct val="100000"/>
              <a:buChar char="•"/>
            </a:pPr>
            <a:r>
              <a:rPr lang="en-US" sz="1500" dirty="0">
                <a:solidFill>
                  <a:srgbClr val="374151"/>
                </a:solidFill>
                <a:latin typeface="Calibri" pitchFamily="34" charset="0"/>
                <a:ea typeface="Calibri" pitchFamily="34" charset="-122"/>
                <a:cs typeface="Calibri" pitchFamily="34" charset="-120"/>
              </a:rPr>
              <a:t>Pumps are rotating machines, and their common faults (bearing wear, impeller imbalance, misalignment, cavitation) all change vibration</a:t>
            </a:r>
            <a:endParaRPr lang="en-US" sz="1500" dirty="0"/>
          </a:p>
          <a:p>
            <a:pPr marL="177800" indent="-177800">
              <a:spcAft>
                <a:spcPts val="700"/>
              </a:spcAft>
              <a:buSzPct val="100000"/>
              <a:buChar char="•"/>
            </a:pPr>
            <a:r>
              <a:rPr lang="en-US" sz="1500" dirty="0">
                <a:solidFill>
                  <a:srgbClr val="374151"/>
                </a:solidFill>
                <a:latin typeface="Calibri" pitchFamily="34" charset="0"/>
                <a:ea typeface="Calibri" pitchFamily="34" charset="-122"/>
                <a:cs typeface="Calibri" pitchFamily="34" charset="-120"/>
              </a:rPr>
              <a:t>Stations are spread over several kilometres and are usually unmanned</a:t>
            </a:r>
            <a:endParaRPr lang="en-US" sz="1500" dirty="0"/>
          </a:p>
          <a:p>
            <a:pPr marL="177800" indent="-177800">
              <a:spcAft>
                <a:spcPts val="700"/>
              </a:spcAft>
              <a:buSzPct val="100000"/>
              <a:buChar char="•"/>
            </a:pPr>
            <a:r>
              <a:rPr lang="en-US" sz="1500" dirty="0">
                <a:solidFill>
                  <a:srgbClr val="374151"/>
                </a:solidFill>
                <a:latin typeface="Calibri" pitchFamily="34" charset="0"/>
                <a:ea typeface="Calibri" pitchFamily="34" charset="-122"/>
                <a:cs typeface="Calibri" pitchFamily="34" charset="-120"/>
              </a:rPr>
              <a:t>A failed pump is often noticed only when the taps run dry, by which time the motor may be burnt</a:t>
            </a:r>
            <a:endParaRPr lang="en-US" sz="1500" dirty="0"/>
          </a:p>
          <a:p>
            <a:pPr marL="177800" indent="-177800">
              <a:spcAft>
                <a:spcPts val="700"/>
              </a:spcAft>
              <a:buSzPct val="100000"/>
              <a:buChar char="•"/>
            </a:pPr>
            <a:r>
              <a:rPr lang="en-US" sz="1500" dirty="0">
                <a:solidFill>
                  <a:srgbClr val="374151"/>
                </a:solidFill>
                <a:latin typeface="Calibri" pitchFamily="34" charset="0"/>
                <a:ea typeface="Calibri" pitchFamily="34" charset="-122"/>
                <a:cs typeface="Calibri" pitchFamily="34" charset="-120"/>
              </a:rPr>
              <a:t>Mobile coverage at remote sites is patchy</a:t>
            </a:r>
            <a:endParaRPr lang="en-US" sz="1500" dirty="0"/>
          </a:p>
          <a:p>
            <a:pPr marL="177800" indent="-177800">
              <a:spcAft>
                <a:spcPts val="700"/>
              </a:spcAft>
              <a:buSzPct val="100000"/>
              <a:buChar char="•"/>
            </a:pPr>
            <a:r>
              <a:rPr lang="en-US" sz="1500" dirty="0">
                <a:solidFill>
                  <a:srgbClr val="374151"/>
                </a:solidFill>
                <a:latin typeface="Calibri" pitchFamily="34" charset="0"/>
                <a:ea typeface="Calibri" pitchFamily="34" charset="-122"/>
                <a:cs typeface="Calibri" pitchFamily="34" charset="-120"/>
              </a:rPr>
              <a:t>Rural schemes such as Jal Jeevan Mission keep adding pump-based supply schemes, and each one needs maintenance</a:t>
            </a:r>
            <a:endParaRPr lang="en-US" sz="1500" dirty="0"/>
          </a:p>
        </p:txBody>
      </p:sp>
      <p:sp>
        <p:nvSpPr>
          <p:cNvPr id="6" name="Text 4"/>
          <p:cNvSpPr txBox="1"/>
          <p:nvPr/>
        </p:nvSpPr>
        <p:spPr>
          <a:xfrm>
            <a:off x="6172200" y="1234440"/>
            <a:ext cx="5486400" cy="320040"/>
          </a:xfrm>
          <a:prstGeom prst="rect">
            <a:avLst/>
          </a:prstGeom>
          <a:noFill/>
          <a:ln/>
        </p:spPr>
        <p:txBody>
          <a:bodyPr wrap="square" lIns="0" tIns="0" rIns="0" bIns="0" rtlCol="0" anchor="t"/>
          <a:lstStyle/>
          <a:p>
            <a:pPr indent="0" marL="0">
              <a:buNone/>
            </a:pPr>
            <a:r>
              <a:rPr lang="en-US" sz="1600" b="1" dirty="0">
                <a:solidFill>
                  <a:srgbClr val="13294B"/>
                </a:solidFill>
                <a:latin typeface="Calibri" pitchFamily="34" charset="0"/>
                <a:ea typeface="Calibri" pitchFamily="34" charset="-122"/>
                <a:cs typeface="Calibri" pitchFamily="34" charset="-120"/>
              </a:rPr>
              <a:t>What a pumping station needs, and how ResQFog provides it</a:t>
            </a:r>
            <a:endParaRPr lang="en-US" sz="1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172200" y="1645920"/>
          <a:ext cx="5468112" cy="914400"/>
        </p:xfrm>
        <a:graphic>
          <a:graphicData uri="http://schemas.openxmlformats.org/drawingml/2006/table">
            <a:tbl>
              <a:tblPr/>
              <a:tblGrid>
                <a:gridCol w="1920240"/>
                <a:gridCol w="3547872"/>
              </a:tblGrid>
              <a:tr h="502920">
                <a:tc>
                  <a:txBody>
                    <a:bodyPr/>
                    <a:lstStyle/>
                    <a:p>
                      <a:pPr indent="0" marL="0">
                        <a:buNone/>
                      </a:pPr>
                      <a:r>
                        <a:rPr lang="en-US" sz="1400" b="1" dirty="0">
                          <a:solidFill>
                            <a:srgbClr val="13294B"/>
                          </a:solidFill>
                          <a:latin typeface="Calibri" pitchFamily="34" charset="0"/>
                          <a:ea typeface="Calibri" pitchFamily="34" charset="-122"/>
                          <a:cs typeface="Calibri" pitchFamily="34" charset="-120"/>
                        </a:rPr>
                        <a:t>Need at the site</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E7EBF1"/>
                    </a:solidFill>
                  </a:tcPr>
                </a:tc>
                <a:tc>
                  <a:txBody>
                    <a:bodyPr/>
                    <a:lstStyle/>
                    <a:p>
                      <a:pPr indent="0" marL="0">
                        <a:buNone/>
                      </a:pPr>
                      <a:r>
                        <a:rPr lang="en-US" sz="1400" b="1" dirty="0">
                          <a:solidFill>
                            <a:srgbClr val="13294B"/>
                          </a:solidFill>
                          <a:latin typeface="Calibri" pitchFamily="34" charset="0"/>
                          <a:ea typeface="Calibri" pitchFamily="34" charset="-122"/>
                          <a:cs typeface="Calibri" pitchFamily="34" charset="-120"/>
                        </a:rPr>
                        <a:t>ResQFog feature</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E7EBF1"/>
                    </a:solidFill>
                  </a:tcPr>
                </a:tc>
              </a:tr>
              <a:tr h="502920">
                <a:tc>
                  <a:txBody>
                    <a:bodyPr/>
                    <a:lstStyle/>
                    <a:p>
                      <a:pPr indent="0" marL="0">
                        <a:buNone/>
                      </a:pPr>
                      <a:r>
                        <a:rPr lang="en-US" sz="1400" b="1" dirty="0">
                          <a:solidFill>
                            <a:srgbClr val="374151"/>
                          </a:solidFill>
                          <a:latin typeface="Calibri" pitchFamily="34" charset="0"/>
                          <a:ea typeface="Calibri" pitchFamily="34" charset="-122"/>
                          <a:cs typeface="Calibri" pitchFamily="34" charset="-120"/>
                        </a:rPr>
                        <a:t>Nobody on site</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400" dirty="0">
                          <a:solidFill>
                            <a:srgbClr val="374151"/>
                          </a:solidFill>
                          <a:latin typeface="Calibri" pitchFamily="34" charset="0"/>
                          <a:ea typeface="Calibri" pitchFamily="34" charset="-122"/>
                          <a:cs typeface="Calibri" pitchFamily="34" charset="-120"/>
                        </a:rPr>
                        <a:t>SMS to the maintenance engineer</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r h="502920">
                <a:tc>
                  <a:txBody>
                    <a:bodyPr/>
                    <a:lstStyle/>
                    <a:p>
                      <a:pPr indent="0" marL="0">
                        <a:buNone/>
                      </a:pPr>
                      <a:r>
                        <a:rPr lang="en-US" sz="1400" b="1" dirty="0">
                          <a:solidFill>
                            <a:srgbClr val="374151"/>
                          </a:solidFill>
                          <a:latin typeface="Calibri" pitchFamily="34" charset="0"/>
                          <a:ea typeface="Calibri" pitchFamily="34" charset="-122"/>
                          <a:cs typeface="Calibri" pitchFamily="34" charset="-120"/>
                        </a:rPr>
                        <a:t>Many scattered pumps</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400" dirty="0">
                          <a:solidFill>
                            <a:srgbClr val="374151"/>
                          </a:solidFill>
                          <a:latin typeface="Calibri" pitchFamily="34" charset="0"/>
                          <a:ea typeface="Calibri" pitchFamily="34" charset="-122"/>
                          <a:cs typeface="Calibri" pitchFamily="34" charset="-120"/>
                        </a:rPr>
                        <a:t>Pump ID and GPS location on a map and in the SMS</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r h="502920">
                <a:tc>
                  <a:txBody>
                    <a:bodyPr/>
                    <a:lstStyle/>
                    <a:p>
                      <a:pPr indent="0" marL="0">
                        <a:buNone/>
                      </a:pPr>
                      <a:r>
                        <a:rPr lang="en-US" sz="1400" b="1" dirty="0">
                          <a:solidFill>
                            <a:srgbClr val="374151"/>
                          </a:solidFill>
                          <a:latin typeface="Calibri" pitchFamily="34" charset="0"/>
                          <a:ea typeface="Calibri" pitchFamily="34" charset="-122"/>
                          <a:cs typeface="Calibri" pitchFamily="34" charset="-120"/>
                        </a:rPr>
                        <a:t>Unreliable network</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400" dirty="0">
                          <a:solidFill>
                            <a:srgbClr val="374151"/>
                          </a:solidFill>
                          <a:latin typeface="Calibri" pitchFamily="34" charset="0"/>
                          <a:ea typeface="Calibri" pitchFamily="34" charset="-122"/>
                          <a:cs typeface="Calibri" pitchFamily="34" charset="-120"/>
                        </a:rPr>
                        <a:t>Alarm and motor trip decided on the ESP32; readings buffered offline</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r h="502920">
                <a:tc>
                  <a:txBody>
                    <a:bodyPr/>
                    <a:lstStyle/>
                    <a:p>
                      <a:pPr indent="0" marL="0">
                        <a:buNone/>
                      </a:pPr>
                      <a:r>
                        <a:rPr lang="en-US" sz="1400" b="1" dirty="0">
                          <a:solidFill>
                            <a:srgbClr val="374151"/>
                          </a:solidFill>
                          <a:latin typeface="Calibri" pitchFamily="34" charset="0"/>
                          <a:ea typeface="Calibri" pitchFamily="34" charset="-122"/>
                          <a:cs typeface="Calibri" pitchFamily="34" charset="-120"/>
                        </a:rPr>
                        <a:t>Costly motor burn-outs</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400" dirty="0">
                          <a:solidFill>
                            <a:srgbClr val="374151"/>
                          </a:solidFill>
                          <a:latin typeface="Calibri" pitchFamily="34" charset="0"/>
                          <a:ea typeface="Calibri" pitchFamily="34" charset="-122"/>
                          <a:cs typeface="Calibri" pitchFamily="34" charset="-120"/>
                        </a:rPr>
                        <a:t>Automatic trip after sustained critical vibration</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r h="502920">
                <a:tc>
                  <a:txBody>
                    <a:bodyPr/>
                    <a:lstStyle/>
                    <a:p>
                      <a:pPr indent="0" marL="0">
                        <a:buNone/>
                      </a:pPr>
                      <a:r>
                        <a:rPr lang="en-US" sz="1400" b="1" dirty="0">
                          <a:solidFill>
                            <a:srgbClr val="374151"/>
                          </a:solidFill>
                          <a:latin typeface="Calibri" pitchFamily="34" charset="0"/>
                          <a:ea typeface="Calibri" pitchFamily="34" charset="-122"/>
                          <a:cs typeface="Calibri" pitchFamily="34" charset="-120"/>
                        </a:rPr>
                        <a:t>Planning repairs</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400" dirty="0">
                          <a:solidFill>
                            <a:srgbClr val="374151"/>
                          </a:solidFill>
                          <a:latin typeface="Calibri" pitchFamily="34" charset="0"/>
                          <a:ea typeface="Calibri" pitchFamily="34" charset="-122"/>
                          <a:cs typeface="Calibri" pitchFamily="34" charset="-120"/>
                        </a:rPr>
                        <a:t>Fault recording: 50 readings before and 50 after each fault</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bl>
          </a:graphicData>
        </a:graphic>
      </p:graphicFrame>
      <p:sp>
        <p:nvSpPr>
          <p:cNvPr id="8" name="Text 5"/>
          <p:cNvSpPr txBox="1"/>
          <p:nvPr/>
        </p:nvSpPr>
        <p:spPr>
          <a:xfrm>
            <a:off x="6172200" y="4983480"/>
            <a:ext cx="5468112" cy="731520"/>
          </a:xfrm>
          <a:prstGeom prst="rect">
            <a:avLst/>
          </a:prstGeom>
          <a:noFill/>
          <a:ln/>
        </p:spPr>
        <p:txBody>
          <a:bodyPr wrap="square" lIns="0" tIns="0" rIns="0" bIns="0" rtlCol="0" anchor="t"/>
          <a:lstStyle/>
          <a:p>
            <a:pPr indent="0" marL="0">
              <a:buNone/>
            </a:pPr>
            <a:r>
              <a:rPr lang="en-US" sz="1300" dirty="0">
                <a:solidFill>
                  <a:srgbClr val="5B6472"/>
                </a:solidFill>
                <a:latin typeface="Calibri" pitchFamily="34" charset="0"/>
                <a:ea typeface="Calibri" pitchFamily="34" charset="-122"/>
                <a:cs typeface="Calibri" pitchFamily="34" charset="-120"/>
              </a:rPr>
              <a:t>The node itself works on any rotating machine (fans, compressors, conveyors). Pumping stations are where all of its features are needed together.</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1"/>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685800"/>
          </a:xfrm>
          <a:prstGeom prst="rect">
            <a:avLst/>
          </a:prstGeom>
          <a:noFill/>
          <a:ln/>
        </p:spPr>
        <p:txBody>
          <a:bodyPr wrap="square" lIns="0" tIns="0" rIns="0" bIns="0" rtlCol="0" anchor="ctr"/>
          <a:lstStyle/>
          <a:p>
            <a:pPr algn="l" indent="0" marL="0">
              <a:buNone/>
            </a:pPr>
            <a:r>
              <a:rPr lang="en-US" sz="2800" b="1" dirty="0">
                <a:solidFill>
                  <a:srgbClr val="13294B"/>
                </a:solidFill>
                <a:latin typeface="Calibri" pitchFamily="34" charset="0"/>
                <a:ea typeface="Calibri" pitchFamily="34" charset="-122"/>
                <a:cs typeface="Calibri" pitchFamily="34" charset="-120"/>
              </a:rPr>
              <a:t>Problem Statement</a:t>
            </a:r>
            <a:endParaRPr lang="en-US" sz="2800" dirty="0"/>
          </a:p>
        </p:txBody>
      </p:sp>
      <p:sp>
        <p:nvSpPr>
          <p:cNvPr id="3" name="Text 1"/>
          <p:cNvSpPr txBox="1"/>
          <p:nvPr/>
        </p:nvSpPr>
        <p:spPr>
          <a:xfrm>
            <a:off x="548640" y="1280160"/>
            <a:ext cx="6035040" cy="1463040"/>
          </a:xfrm>
          <a:prstGeom prst="rect">
            <a:avLst/>
          </a:prstGeom>
          <a:noFill/>
          <a:ln/>
        </p:spPr>
        <p:txBody>
          <a:bodyPr wrap="square" lIns="0" tIns="0" rIns="0" bIns="0" rtlCol="0" anchor="t"/>
          <a:lstStyle/>
          <a:p>
            <a:pPr indent="0" marL="0">
              <a:buNone/>
            </a:pPr>
            <a:r>
              <a:rPr lang="en-US" sz="1600" dirty="0">
                <a:solidFill>
                  <a:srgbClr val="1F2937"/>
                </a:solidFill>
                <a:latin typeface="Calibri" pitchFamily="34" charset="0"/>
                <a:ea typeface="Calibri" pitchFamily="34" charset="-122"/>
                <a:cs typeface="Calibri" pitchFamily="34" charset="-120"/>
              </a:rPr>
              <a:t>A water-supply pump usually fails gradually. Bearings wear, the impeller goes out of balance or the shaft becomes misaligned, and the first visible sign is a rise in vibration. At an unmanned pumping station nobody is there to notice it, so the fault grows until the motor stops or burns out.</a:t>
            </a:r>
            <a:endParaRPr lang="en-US" sz="1600" dirty="0"/>
          </a:p>
        </p:txBody>
      </p:sp>
      <p:sp>
        <p:nvSpPr>
          <p:cNvPr id="4" name="Shape 2"/>
          <p:cNvSpPr/>
          <p:nvPr/>
        </p:nvSpPr>
        <p:spPr>
          <a:xfrm>
            <a:off x="548640" y="2971800"/>
            <a:ext cx="6035040" cy="2057400"/>
          </a:xfrm>
          <a:prstGeom prst="roundRect">
            <a:avLst>
              <a:gd name="adj" fmla="val 3556"/>
            </a:avLst>
          </a:prstGeom>
          <a:solidFill>
            <a:srgbClr val="FCEFE7"/>
          </a:solidFill>
          <a:ln w="12700">
            <a:solidFill>
              <a:srgbClr val="FCEFE7"/>
            </a:solidFill>
            <a:prstDash val="solid"/>
          </a:ln>
        </p:spPr>
      </p:sp>
      <p:sp>
        <p:nvSpPr>
          <p:cNvPr id="5" name="Text 3"/>
          <p:cNvSpPr txBox="1"/>
          <p:nvPr/>
        </p:nvSpPr>
        <p:spPr>
          <a:xfrm>
            <a:off x="822960" y="3154680"/>
            <a:ext cx="5486400" cy="274320"/>
          </a:xfrm>
          <a:prstGeom prst="rect">
            <a:avLst/>
          </a:prstGeom>
          <a:noFill/>
          <a:ln/>
        </p:spPr>
        <p:txBody>
          <a:bodyPr wrap="square" lIns="0" tIns="0" rIns="0" bIns="0" rtlCol="0" anchor="t"/>
          <a:lstStyle/>
          <a:p>
            <a:pPr indent="0" marL="0">
              <a:buNone/>
            </a:pPr>
            <a:r>
              <a:rPr lang="en-US" sz="1200" b="1" spc="100" kern="0" dirty="0">
                <a:solidFill>
                  <a:srgbClr val="C2410C"/>
                </a:solidFill>
                <a:latin typeface="Calibri" pitchFamily="34" charset="0"/>
                <a:ea typeface="Calibri" pitchFamily="34" charset="-122"/>
                <a:cs typeface="Calibri" pitchFamily="34" charset="-120"/>
              </a:rPr>
              <a:t>PROBLEM ADDRESSED</a:t>
            </a:r>
            <a:endParaRPr lang="en-US" sz="1200" dirty="0"/>
          </a:p>
        </p:txBody>
      </p:sp>
      <p:sp>
        <p:nvSpPr>
          <p:cNvPr id="6" name="Text 4"/>
          <p:cNvSpPr txBox="1"/>
          <p:nvPr/>
        </p:nvSpPr>
        <p:spPr>
          <a:xfrm>
            <a:off x="822960" y="3474720"/>
            <a:ext cx="5486400" cy="1463040"/>
          </a:xfrm>
          <a:prstGeom prst="rect">
            <a:avLst/>
          </a:prstGeom>
          <a:noFill/>
          <a:ln/>
        </p:spPr>
        <p:txBody>
          <a:bodyPr wrap="square" lIns="0" tIns="0" rIns="0" bIns="0" rtlCol="0" anchor="t"/>
          <a:lstStyle/>
          <a:p>
            <a:pPr indent="0" marL="0">
              <a:buNone/>
            </a:pPr>
            <a:r>
              <a:rPr lang="en-US" sz="1600" b="1" dirty="0">
                <a:solidFill>
                  <a:srgbClr val="13294B"/>
                </a:solidFill>
                <a:latin typeface="Calibri" pitchFamily="34" charset="0"/>
                <a:ea typeface="Calibri" pitchFamily="34" charset="-122"/>
                <a:cs typeface="Calibri" pitchFamily="34" charset="-120"/>
              </a:rPr>
              <a:t>How can a low-cost node on each pump detect abnormal vibration, protect the motor on its own, tell the maintenance team exactly which pump has failed and where it is, and keep the data needed to analyse the fault, even when the network is unreliable?</a:t>
            </a:r>
            <a:endParaRPr lang="en-US" sz="1600" dirty="0"/>
          </a:p>
        </p:txBody>
      </p:sp>
      <p:sp>
        <p:nvSpPr>
          <p:cNvPr id="7" name="Text 5"/>
          <p:cNvSpPr txBox="1"/>
          <p:nvPr/>
        </p:nvSpPr>
        <p:spPr>
          <a:xfrm>
            <a:off x="7086600" y="1280160"/>
            <a:ext cx="4572000" cy="320040"/>
          </a:xfrm>
          <a:prstGeom prst="rect">
            <a:avLst/>
          </a:prstGeom>
          <a:noFill/>
          <a:ln/>
        </p:spPr>
        <p:txBody>
          <a:bodyPr wrap="square" lIns="0" tIns="0" rIns="0" bIns="0" rtlCol="0" anchor="t"/>
          <a:lstStyle/>
          <a:p>
            <a:pPr indent="0" marL="0">
              <a:buNone/>
            </a:pPr>
            <a:r>
              <a:rPr lang="en-US" sz="1600" b="1" dirty="0">
                <a:solidFill>
                  <a:srgbClr val="13294B"/>
                </a:solidFill>
                <a:latin typeface="Calibri" pitchFamily="34" charset="0"/>
                <a:ea typeface="Calibri" pitchFamily="34" charset="-122"/>
                <a:cs typeface="Calibri" pitchFamily="34" charset="-120"/>
              </a:rPr>
              <a:t>Effects of late detection</a:t>
            </a:r>
            <a:endParaRPr lang="en-US" sz="1600" dirty="0"/>
          </a:p>
        </p:txBody>
      </p:sp>
      <p:sp>
        <p:nvSpPr>
          <p:cNvPr id="8" name="Text 6"/>
          <p:cNvSpPr txBox="1"/>
          <p:nvPr/>
        </p:nvSpPr>
        <p:spPr>
          <a:xfrm>
            <a:off x="7086600" y="1691640"/>
            <a:ext cx="4553712" cy="3291840"/>
          </a:xfrm>
          <a:prstGeom prst="rect">
            <a:avLst/>
          </a:prstGeom>
          <a:noFill/>
          <a:ln/>
        </p:spPr>
        <p:txBody>
          <a:bodyPr wrap="square" lIns="0" tIns="0" rIns="0" bIns="0" rtlCol="0" anchor="t"/>
          <a:lstStyle/>
          <a:p>
            <a:pPr marL="177800" indent="-177800">
              <a:spcAft>
                <a:spcPts val="700"/>
              </a:spcAft>
              <a:buSzPct val="100000"/>
              <a:buChar char="•"/>
            </a:pPr>
            <a:r>
              <a:rPr lang="en-US" sz="1500" dirty="0">
                <a:solidFill>
                  <a:srgbClr val="374151"/>
                </a:solidFill>
                <a:latin typeface="Calibri" pitchFamily="34" charset="0"/>
                <a:ea typeface="Calibri" pitchFamily="34" charset="-122"/>
                <a:cs typeface="Calibri" pitchFamily="34" charset="-120"/>
              </a:rPr>
              <a:t>Water supply cut for the whole area served by the pump</a:t>
            </a:r>
            <a:endParaRPr lang="en-US" sz="1500" dirty="0"/>
          </a:p>
          <a:p>
            <a:pPr marL="177800" indent="-177800">
              <a:spcAft>
                <a:spcPts val="700"/>
              </a:spcAft>
              <a:buSzPct val="100000"/>
              <a:buChar char="•"/>
            </a:pPr>
            <a:r>
              <a:rPr lang="en-US" sz="1500" dirty="0">
                <a:solidFill>
                  <a:srgbClr val="374151"/>
                </a:solidFill>
                <a:latin typeface="Calibri" pitchFamily="34" charset="0"/>
                <a:ea typeface="Calibri" pitchFamily="34" charset="-122"/>
                <a:cs typeface="Calibri" pitchFamily="34" charset="-120"/>
              </a:rPr>
              <a:t>Motor rewinding or replacement instead of a bearing change</a:t>
            </a:r>
            <a:endParaRPr lang="en-US" sz="1500" dirty="0"/>
          </a:p>
          <a:p>
            <a:pPr marL="177800" indent="-177800">
              <a:spcAft>
                <a:spcPts val="700"/>
              </a:spcAft>
              <a:buSzPct val="100000"/>
              <a:buChar char="•"/>
            </a:pPr>
            <a:r>
              <a:rPr lang="en-US" sz="1500" dirty="0">
                <a:solidFill>
                  <a:srgbClr val="374151"/>
                </a:solidFill>
                <a:latin typeface="Calibri" pitchFamily="34" charset="0"/>
                <a:ea typeface="Calibri" pitchFamily="34" charset="-122"/>
                <a:cs typeface="Calibri" pitchFamily="34" charset="-120"/>
              </a:rPr>
              <a:t>Technician time wasted finding which pump has failed</a:t>
            </a:r>
            <a:endParaRPr lang="en-US" sz="1500" dirty="0"/>
          </a:p>
          <a:p>
            <a:pPr marL="177800" indent="-177800">
              <a:spcAft>
                <a:spcPts val="700"/>
              </a:spcAft>
              <a:buSzPct val="100000"/>
              <a:buChar char="•"/>
            </a:pPr>
            <a:r>
              <a:rPr lang="en-US" sz="1500" dirty="0">
                <a:solidFill>
                  <a:srgbClr val="374151"/>
                </a:solidFill>
                <a:latin typeface="Calibri" pitchFamily="34" charset="0"/>
                <a:ea typeface="Calibri" pitchFamily="34" charset="-122"/>
                <a:cs typeface="Calibri" pitchFamily="34" charset="-120"/>
              </a:rPr>
              <a:t>Safety risk to anyone near a seizing pump</a:t>
            </a:r>
            <a:endParaRPr lang="en-US" sz="1500" dirty="0"/>
          </a:p>
          <a:p>
            <a:pPr marL="177800" indent="-177800">
              <a:spcAft>
                <a:spcPts val="700"/>
              </a:spcAft>
              <a:buSzPct val="100000"/>
              <a:buChar char="•"/>
            </a:pPr>
            <a:r>
              <a:rPr lang="en-US" sz="1500" dirty="0">
                <a:solidFill>
                  <a:srgbClr val="374151"/>
                </a:solidFill>
                <a:latin typeface="Calibri" pitchFamily="34" charset="0"/>
                <a:ea typeface="Calibri" pitchFamily="34" charset="-122"/>
                <a:cs typeface="Calibri" pitchFamily="34" charset="-120"/>
              </a:rPr>
              <a:t>No record of the conditions that led to the failure</a:t>
            </a:r>
            <a:endParaRPr lang="en-US" sz="15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1"/>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685800"/>
          </a:xfrm>
          <a:prstGeom prst="rect">
            <a:avLst/>
          </a:prstGeom>
          <a:noFill/>
          <a:ln/>
        </p:spPr>
        <p:txBody>
          <a:bodyPr wrap="square" lIns="0" tIns="0" rIns="0" bIns="0" rtlCol="0" anchor="ctr"/>
          <a:lstStyle/>
          <a:p>
            <a:pPr algn="l" indent="0" marL="0">
              <a:buNone/>
            </a:pPr>
            <a:r>
              <a:rPr lang="en-US" sz="2800" b="1" dirty="0">
                <a:solidFill>
                  <a:srgbClr val="13294B"/>
                </a:solidFill>
                <a:latin typeface="Calibri" pitchFamily="34" charset="0"/>
                <a:ea typeface="Calibri" pitchFamily="34" charset="-122"/>
                <a:cs typeface="Calibri" pitchFamily="34" charset="-120"/>
              </a:rPr>
              <a:t>Existing Systems and Their Gaps</a:t>
            </a: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2651760"/>
                <a:gridCol w="1051560"/>
                <a:gridCol w="1600200"/>
                <a:gridCol w="1508760"/>
                <a:gridCol w="1600200"/>
                <a:gridCol w="1417320"/>
                <a:gridCol w="1261872"/>
              </a:tblGrid>
              <a:tr h="566928">
                <a:tc>
                  <a:txBody>
                    <a:bodyPr/>
                    <a:lstStyle/>
                    <a:p>
                      <a:pPr indent="0" marL="0">
                        <a:buNone/>
                      </a:pPr>
                      <a:r>
                        <a:rPr lang="en-US" sz="1400" b="1" dirty="0">
                          <a:solidFill>
                            <a:srgbClr val="13294B"/>
                          </a:solidFill>
                          <a:latin typeface="Calibri" pitchFamily="34" charset="0"/>
                          <a:ea typeface="Calibri" pitchFamily="34" charset="-122"/>
                          <a:cs typeface="Calibri" pitchFamily="34" charset="-120"/>
                        </a:rPr>
                        <a:t>Approach</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E7EBF1"/>
                    </a:solidFill>
                  </a:tcPr>
                </a:tc>
                <a:tc>
                  <a:txBody>
                    <a:bodyPr/>
                    <a:lstStyle/>
                    <a:p>
                      <a:pPr indent="0" marL="0">
                        <a:buNone/>
                      </a:pPr>
                      <a:r>
                        <a:rPr lang="en-US" sz="1400" b="1" dirty="0">
                          <a:solidFill>
                            <a:srgbClr val="13294B"/>
                          </a:solidFill>
                          <a:latin typeface="Calibri" pitchFamily="34" charset="0"/>
                          <a:ea typeface="Calibri" pitchFamily="34" charset="-122"/>
                          <a:cs typeface="Calibri" pitchFamily="34" charset="-120"/>
                        </a:rPr>
                        <a:t>Continuous</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E7EBF1"/>
                    </a:solidFill>
                  </a:tcPr>
                </a:tc>
                <a:tc>
                  <a:txBody>
                    <a:bodyPr/>
                    <a:lstStyle/>
                    <a:p>
                      <a:pPr indent="0" marL="0">
                        <a:buNone/>
                      </a:pPr>
                      <a:r>
                        <a:rPr lang="en-US" sz="1400" b="1" dirty="0">
                          <a:solidFill>
                            <a:srgbClr val="13294B"/>
                          </a:solidFill>
                          <a:latin typeface="Calibri" pitchFamily="34" charset="0"/>
                          <a:ea typeface="Calibri" pitchFamily="34" charset="-122"/>
                          <a:cs typeface="Calibri" pitchFamily="34" charset="-120"/>
                        </a:rPr>
                        <a:t>Works without internet</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E7EBF1"/>
                    </a:solidFill>
                  </a:tcPr>
                </a:tc>
                <a:tc>
                  <a:txBody>
                    <a:bodyPr/>
                    <a:lstStyle/>
                    <a:p>
                      <a:pPr indent="0" marL="0">
                        <a:buNone/>
                      </a:pPr>
                      <a:r>
                        <a:rPr lang="en-US" sz="1400" b="1" dirty="0">
                          <a:solidFill>
                            <a:srgbClr val="13294B"/>
                          </a:solidFill>
                          <a:latin typeface="Calibri" pitchFamily="34" charset="0"/>
                          <a:ea typeface="Calibri" pitchFamily="34" charset="-122"/>
                          <a:cs typeface="Calibri" pitchFamily="34" charset="-120"/>
                        </a:rPr>
                        <a:t>Locates faulty pump</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E7EBF1"/>
                    </a:solidFill>
                  </a:tcPr>
                </a:tc>
                <a:tc>
                  <a:txBody>
                    <a:bodyPr/>
                    <a:lstStyle/>
                    <a:p>
                      <a:pPr indent="0" marL="0">
                        <a:buNone/>
                      </a:pPr>
                      <a:r>
                        <a:rPr lang="en-US" sz="1400" b="1" dirty="0">
                          <a:solidFill>
                            <a:srgbClr val="13294B"/>
                          </a:solidFill>
                          <a:latin typeface="Calibri" pitchFamily="34" charset="0"/>
                          <a:ea typeface="Calibri" pitchFamily="34" charset="-122"/>
                          <a:cs typeface="Calibri" pitchFamily="34" charset="-120"/>
                        </a:rPr>
                        <a:t>Protects motor</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E7EBF1"/>
                    </a:solidFill>
                  </a:tcPr>
                </a:tc>
                <a:tc>
                  <a:txBody>
                    <a:bodyPr/>
                    <a:lstStyle/>
                    <a:p>
                      <a:pPr indent="0" marL="0">
                        <a:buNone/>
                      </a:pPr>
                      <a:r>
                        <a:rPr lang="en-US" sz="1400" b="1" dirty="0">
                          <a:solidFill>
                            <a:srgbClr val="13294B"/>
                          </a:solidFill>
                          <a:latin typeface="Calibri" pitchFamily="34" charset="0"/>
                          <a:ea typeface="Calibri" pitchFamily="34" charset="-122"/>
                          <a:cs typeface="Calibri" pitchFamily="34" charset="-120"/>
                        </a:rPr>
                        <a:t>Fault data kept</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E7EBF1"/>
                    </a:solidFill>
                  </a:tcPr>
                </a:tc>
                <a:tc>
                  <a:txBody>
                    <a:bodyPr/>
                    <a:lstStyle/>
                    <a:p>
                      <a:pPr indent="0" marL="0">
                        <a:buNone/>
                      </a:pPr>
                      <a:r>
                        <a:rPr lang="en-US" sz="1400" b="1" dirty="0">
                          <a:solidFill>
                            <a:srgbClr val="13294B"/>
                          </a:solidFill>
                          <a:latin typeface="Calibri" pitchFamily="34" charset="0"/>
                          <a:ea typeface="Calibri" pitchFamily="34" charset="-122"/>
                          <a:cs typeface="Calibri" pitchFamily="34" charset="-120"/>
                        </a:rPr>
                        <a:t>Cost</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E7EBF1"/>
                    </a:solidFill>
                  </a:tcPr>
                </a:tc>
              </a:tr>
              <a:tr h="566928">
                <a:tc>
                  <a:txBody>
                    <a:bodyPr/>
                    <a:lstStyle/>
                    <a:p>
                      <a:pPr indent="0" marL="0">
                        <a:buNone/>
                      </a:pPr>
                      <a:r>
                        <a:rPr lang="en-US" sz="1400" b="1" dirty="0">
                          <a:solidFill>
                            <a:srgbClr val="374151"/>
                          </a:solidFill>
                          <a:latin typeface="Calibri" pitchFamily="34" charset="0"/>
                          <a:ea typeface="Calibri" pitchFamily="34" charset="-122"/>
                          <a:cs typeface="Calibri" pitchFamily="34" charset="-120"/>
                        </a:rPr>
                        <a:t>Operator visits and manual checks</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400" dirty="0">
                          <a:solidFill>
                            <a:srgbClr val="374151"/>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400" dirty="0">
                          <a:solidFill>
                            <a:srgbClr val="374151"/>
                          </a:solidFill>
                          <a:latin typeface="Calibri" pitchFamily="34" charset="0"/>
                          <a:ea typeface="Calibri" pitchFamily="34" charset="-122"/>
                          <a:cs typeface="Calibri" pitchFamily="34" charset="-120"/>
                        </a:rPr>
                        <a:t>Not applicable</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400" dirty="0">
                          <a:solidFill>
                            <a:srgbClr val="374151"/>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400" dirty="0">
                          <a:solidFill>
                            <a:srgbClr val="374151"/>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400" dirty="0">
                          <a:solidFill>
                            <a:srgbClr val="374151"/>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400" dirty="0">
                          <a:solidFill>
                            <a:srgbClr val="374151"/>
                          </a:solidFill>
                          <a:latin typeface="Calibri" pitchFamily="34" charset="0"/>
                          <a:ea typeface="Calibri" pitchFamily="34" charset="-122"/>
                          <a:cs typeface="Calibri" pitchFamily="34" charset="-120"/>
                        </a:rPr>
                        <a:t>Low</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rgbClr val="374151"/>
                          </a:solidFill>
                          <a:latin typeface="Calibri" pitchFamily="34" charset="0"/>
                          <a:ea typeface="Calibri" pitchFamily="34" charset="-122"/>
                          <a:cs typeface="Calibri" pitchFamily="34" charset="-120"/>
                        </a:rPr>
                        <a:t>SCADA at large treatment plants</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400" dirty="0">
                          <a:solidFill>
                            <a:srgbClr val="374151"/>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400" dirty="0">
                          <a:solidFill>
                            <a:srgbClr val="374151"/>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400" dirty="0">
                          <a:solidFill>
                            <a:srgbClr val="374151"/>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400" dirty="0">
                          <a:solidFill>
                            <a:srgbClr val="374151"/>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400" dirty="0">
                          <a:solidFill>
                            <a:srgbClr val="374151"/>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400" dirty="0">
                          <a:solidFill>
                            <a:srgbClr val="374151"/>
                          </a:solidFill>
                          <a:latin typeface="Calibri" pitchFamily="34" charset="0"/>
                          <a:ea typeface="Calibri" pitchFamily="34" charset="-122"/>
                          <a:cs typeface="Calibri" pitchFamily="34" charset="-120"/>
                        </a:rPr>
                        <a:t>High</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rgbClr val="374151"/>
                          </a:solidFill>
                          <a:latin typeface="Calibri" pitchFamily="34" charset="0"/>
                          <a:ea typeface="Calibri" pitchFamily="34" charset="-122"/>
                          <a:cs typeface="Calibri" pitchFamily="34" charset="-120"/>
                        </a:rPr>
                        <a:t>Starter with overload / dry-run relay</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400" dirty="0">
                          <a:solidFill>
                            <a:srgbClr val="374151"/>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400" dirty="0">
                          <a:solidFill>
                            <a:srgbClr val="374151"/>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400" dirty="0">
                          <a:solidFill>
                            <a:srgbClr val="374151"/>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400" dirty="0">
                          <a:solidFill>
                            <a:srgbClr val="374151"/>
                          </a:solidFill>
                          <a:latin typeface="Calibri" pitchFamily="34" charset="0"/>
                          <a:ea typeface="Calibri" pitchFamily="34" charset="-122"/>
                          <a:cs typeface="Calibri" pitchFamily="34" charset="-120"/>
                        </a:rPr>
                        <a:t>Electrical faults only</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400" dirty="0">
                          <a:solidFill>
                            <a:srgbClr val="374151"/>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400" dirty="0">
                          <a:solidFill>
                            <a:srgbClr val="374151"/>
                          </a:solidFill>
                          <a:latin typeface="Calibri" pitchFamily="34" charset="0"/>
                          <a:ea typeface="Calibri" pitchFamily="34" charset="-122"/>
                          <a:cs typeface="Calibri" pitchFamily="34" charset="-120"/>
                        </a:rPr>
                        <a:t>Low</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rgbClr val="374151"/>
                          </a:solidFill>
                          <a:latin typeface="Calibri" pitchFamily="34" charset="0"/>
                          <a:ea typeface="Calibri" pitchFamily="34" charset="-122"/>
                          <a:cs typeface="Calibri" pitchFamily="34" charset="-120"/>
                        </a:rPr>
                        <a:t>GSM pump controllers, cloud IoT apps</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400" dirty="0">
                          <a:solidFill>
                            <a:srgbClr val="374151"/>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400" dirty="0">
                          <a:solidFill>
                            <a:srgbClr val="374151"/>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400" dirty="0">
                          <a:solidFill>
                            <a:srgbClr val="374151"/>
                          </a:solidFill>
                          <a:latin typeface="Calibri" pitchFamily="34" charset="0"/>
                          <a:ea typeface="Calibri" pitchFamily="34" charset="-122"/>
                          <a:cs typeface="Calibri" pitchFamily="34" charset="-120"/>
                        </a:rPr>
                        <a:t>Partly</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400" dirty="0">
                          <a:solidFill>
                            <a:srgbClr val="374151"/>
                          </a:solidFill>
                          <a:latin typeface="Calibri" pitchFamily="34" charset="0"/>
                          <a:ea typeface="Calibri" pitchFamily="34" charset="-122"/>
                          <a:cs typeface="Calibri" pitchFamily="34" charset="-120"/>
                        </a:rPr>
                        <a:t>On/off only</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400" dirty="0">
                          <a:solidFill>
                            <a:srgbClr val="374151"/>
                          </a:solidFill>
                          <a:latin typeface="Calibri" pitchFamily="34" charset="0"/>
                          <a:ea typeface="Calibri" pitchFamily="34" charset="-122"/>
                          <a:cs typeface="Calibri" pitchFamily="34" charset="-120"/>
                        </a:rPr>
                        <a:t>Raw stream</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400" dirty="0">
                          <a:solidFill>
                            <a:srgbClr val="374151"/>
                          </a:solidFill>
                          <a:latin typeface="Calibri" pitchFamily="34" charset="0"/>
                          <a:ea typeface="Calibri" pitchFamily="34" charset="-122"/>
                          <a:cs typeface="Calibri" pitchFamily="34" charset="-120"/>
                        </a:rPr>
                        <a:t>Low to medium</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rgbClr val="374151"/>
                          </a:solidFill>
                          <a:latin typeface="Calibri" pitchFamily="34" charset="0"/>
                          <a:ea typeface="Calibri" pitchFamily="34" charset="-122"/>
                          <a:cs typeface="Calibri" pitchFamily="34" charset="-120"/>
                        </a:rPr>
                        <a:t>ResQFog (this work)</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CEFE7"/>
                    </a:solidFill>
                  </a:tcPr>
                </a:tc>
                <a:tc>
                  <a:txBody>
                    <a:bodyPr/>
                    <a:lstStyle/>
                    <a:p>
                      <a:pPr indent="0" marL="0">
                        <a:buNone/>
                      </a:pPr>
                      <a:r>
                        <a:rPr lang="en-US" sz="1400" dirty="0">
                          <a:solidFill>
                            <a:srgbClr val="374151"/>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CEFE7"/>
                    </a:solidFill>
                  </a:tcPr>
                </a:tc>
                <a:tc>
                  <a:txBody>
                    <a:bodyPr/>
                    <a:lstStyle/>
                    <a:p>
                      <a:pPr indent="0" marL="0">
                        <a:buNone/>
                      </a:pPr>
                      <a:r>
                        <a:rPr lang="en-US" sz="1400" dirty="0">
                          <a:solidFill>
                            <a:srgbClr val="374151"/>
                          </a:solidFill>
                          <a:latin typeface="Calibri" pitchFamily="34" charset="0"/>
                          <a:ea typeface="Calibri" pitchFamily="34" charset="-122"/>
                          <a:cs typeface="Calibri" pitchFamily="34" charset="-120"/>
                        </a:rPr>
                        <a:t>Yes, edge alarm and trip</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CEFE7"/>
                    </a:solidFill>
                  </a:tcPr>
                </a:tc>
                <a:tc>
                  <a:txBody>
                    <a:bodyPr/>
                    <a:lstStyle/>
                    <a:p>
                      <a:pPr indent="0" marL="0">
                        <a:buNone/>
                      </a:pPr>
                      <a:r>
                        <a:rPr lang="en-US" sz="1400" dirty="0">
                          <a:solidFill>
                            <a:srgbClr val="374151"/>
                          </a:solidFill>
                          <a:latin typeface="Calibri" pitchFamily="34" charset="0"/>
                          <a:ea typeface="Calibri" pitchFamily="34" charset="-122"/>
                          <a:cs typeface="Calibri" pitchFamily="34" charset="-120"/>
                        </a:rPr>
                        <a:t>Yes, ID and GPS</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CEFE7"/>
                    </a:solidFill>
                  </a:tcPr>
                </a:tc>
                <a:tc>
                  <a:txBody>
                    <a:bodyPr/>
                    <a:lstStyle/>
                    <a:p>
                      <a:pPr indent="0" marL="0">
                        <a:buNone/>
                      </a:pPr>
                      <a:r>
                        <a:rPr lang="en-US" sz="1400" dirty="0">
                          <a:solidFill>
                            <a:srgbClr val="374151"/>
                          </a:solidFill>
                          <a:latin typeface="Calibri" pitchFamily="34" charset="0"/>
                          <a:ea typeface="Calibri" pitchFamily="34" charset="-122"/>
                          <a:cs typeface="Calibri" pitchFamily="34" charset="-120"/>
                        </a:rPr>
                        <a:t>Yes, vibration trip</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CEFE7"/>
                    </a:solidFill>
                  </a:tcPr>
                </a:tc>
                <a:tc>
                  <a:txBody>
                    <a:bodyPr/>
                    <a:lstStyle/>
                    <a:p>
                      <a:pPr indent="0" marL="0">
                        <a:buNone/>
                      </a:pPr>
                      <a:r>
                        <a:rPr lang="en-US" sz="1400" dirty="0">
                          <a:solidFill>
                            <a:srgbClr val="374151"/>
                          </a:solidFill>
                          <a:latin typeface="Calibri" pitchFamily="34" charset="0"/>
                          <a:ea typeface="Calibri" pitchFamily="34" charset="-122"/>
                          <a:cs typeface="Calibri" pitchFamily="34" charset="-120"/>
                        </a:rPr>
                        <a:t>50 before + 50 after</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CEFE7"/>
                    </a:solidFill>
                  </a:tcPr>
                </a:tc>
                <a:tc>
                  <a:txBody>
                    <a:bodyPr/>
                    <a:lstStyle/>
                    <a:p>
                      <a:pPr indent="0" marL="0">
                        <a:buNone/>
                      </a:pPr>
                      <a:r>
                        <a:rPr lang="en-US" sz="1400" dirty="0">
                          <a:solidFill>
                            <a:srgbClr val="374151"/>
                          </a:solidFill>
                          <a:latin typeface="Calibri" pitchFamily="34" charset="0"/>
                          <a:ea typeface="Calibri" pitchFamily="34" charset="-122"/>
                          <a:cs typeface="Calibri" pitchFamily="34" charset="-120"/>
                        </a:rPr>
                        <a:t>Low, about ₹1,400 per pump</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CEFE7"/>
                    </a:solidFill>
                  </a:tcPr>
                </a:tc>
              </a:tr>
            </a:tbl>
          </a:graphicData>
        </a:graphic>
      </p:graphicFrame>
      <p:sp>
        <p:nvSpPr>
          <p:cNvPr id="4" name="Text 1"/>
          <p:cNvSpPr txBox="1"/>
          <p:nvPr/>
        </p:nvSpPr>
        <p:spPr>
          <a:xfrm>
            <a:off x="548640" y="4937760"/>
            <a:ext cx="11094415" cy="914400"/>
          </a:xfrm>
          <a:prstGeom prst="rect">
            <a:avLst/>
          </a:prstGeom>
          <a:noFill/>
          <a:ln/>
        </p:spPr>
        <p:txBody>
          <a:bodyPr wrap="square" lIns="0" tIns="0" rIns="0" bIns="0" rtlCol="0" anchor="t"/>
          <a:lstStyle/>
          <a:p>
            <a:pPr indent="0" marL="0">
              <a:buNone/>
            </a:pPr>
            <a:r>
              <a:rPr lang="en-US" sz="1400" dirty="0">
                <a:solidFill>
                  <a:srgbClr val="5B6472"/>
                </a:solidFill>
                <a:latin typeface="Calibri" pitchFamily="34" charset="0"/>
                <a:ea typeface="Calibri" pitchFamily="34" charset="-122"/>
                <a:cs typeface="Calibri" pitchFamily="34" charset="-120"/>
              </a:rPr>
              <a:t>Large treatment plants already use SCADA, but it is too expensive for a single borewell or tank-filling pump. Starter relays react to electrical faults such as overload, not the mechanical faults that show up first as vibration. Most low-cost IoT products depend on the internet for every decision. ResQFog sits in the gap between them.</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1"/>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685800"/>
          </a:xfrm>
          <a:prstGeom prst="rect">
            <a:avLst/>
          </a:prstGeom>
          <a:noFill/>
          <a:ln/>
        </p:spPr>
        <p:txBody>
          <a:bodyPr wrap="square" lIns="0" tIns="0" rIns="0" bIns="0" rtlCol="0" anchor="ctr"/>
          <a:lstStyle/>
          <a:p>
            <a:pPr algn="l" indent="0" marL="0">
              <a:buNone/>
            </a:pPr>
            <a:r>
              <a:rPr lang="en-US" sz="2800" b="1" dirty="0">
                <a:solidFill>
                  <a:srgbClr val="13294B"/>
                </a:solidFill>
                <a:latin typeface="Calibri" pitchFamily="34" charset="0"/>
                <a:ea typeface="Calibri" pitchFamily="34" charset="-122"/>
                <a:cs typeface="Calibri" pitchFamily="34" charset="-120"/>
              </a:rPr>
              <a:t>Objectives</a:t>
            </a:r>
            <a:endParaRPr lang="en-US" sz="2800" dirty="0"/>
          </a:p>
        </p:txBody>
      </p:sp>
      <p:sp>
        <p:nvSpPr>
          <p:cNvPr id="3" name="Text 1"/>
          <p:cNvSpPr txBox="1"/>
          <p:nvPr/>
        </p:nvSpPr>
        <p:spPr>
          <a:xfrm>
            <a:off x="548640" y="1280160"/>
            <a:ext cx="365760" cy="640080"/>
          </a:xfrm>
          <a:prstGeom prst="rect">
            <a:avLst/>
          </a:prstGeom>
          <a:noFill/>
          <a:ln/>
        </p:spPr>
        <p:txBody>
          <a:bodyPr wrap="square" lIns="0" tIns="0" rIns="0" bIns="0" rtlCol="0" anchor="ctr"/>
          <a:lstStyle/>
          <a:p>
            <a:pPr indent="0" marL="0">
              <a:buNone/>
            </a:pPr>
            <a:r>
              <a:rPr lang="en-US" sz="1800" b="1" dirty="0">
                <a:solidFill>
                  <a:srgbClr val="C2410C"/>
                </a:solidFill>
                <a:latin typeface="Calibri" pitchFamily="34" charset="0"/>
                <a:ea typeface="Calibri" pitchFamily="34" charset="-122"/>
                <a:cs typeface="Calibri" pitchFamily="34" charset="-120"/>
              </a:rPr>
              <a:t>1</a:t>
            </a:r>
            <a:endParaRPr lang="en-US" sz="1800" dirty="0"/>
          </a:p>
        </p:txBody>
      </p:sp>
      <p:sp>
        <p:nvSpPr>
          <p:cNvPr id="4" name="Text 2"/>
          <p:cNvSpPr txBox="1"/>
          <p:nvPr/>
        </p:nvSpPr>
        <p:spPr>
          <a:xfrm>
            <a:off x="1005840" y="1280160"/>
            <a:ext cx="10637215" cy="640080"/>
          </a:xfrm>
          <a:prstGeom prst="rect">
            <a:avLst/>
          </a:prstGeom>
          <a:noFill/>
          <a:ln/>
        </p:spPr>
        <p:txBody>
          <a:bodyPr wrap="square" lIns="0" tIns="0" rIns="0" bIns="0" rtlCol="0" anchor="ctr"/>
          <a:lstStyle/>
          <a:p>
            <a:pPr indent="0" marL="0">
              <a:buNone/>
            </a:pPr>
            <a:r>
              <a:rPr lang="en-US" sz="1700" dirty="0">
                <a:solidFill>
                  <a:srgbClr val="374151"/>
                </a:solidFill>
                <a:latin typeface="Calibri" pitchFamily="34" charset="0"/>
                <a:ea typeface="Calibri" pitchFamily="34" charset="-122"/>
                <a:cs typeface="Calibri" pitchFamily="34" charset="-120"/>
              </a:rPr>
              <a:t>Monitor pump vibration continuously with a low-cost ESP32 and MPU6050 accelerometer.</a:t>
            </a:r>
            <a:endParaRPr lang="en-US" sz="1700" dirty="0"/>
          </a:p>
        </p:txBody>
      </p:sp>
      <p:sp>
        <p:nvSpPr>
          <p:cNvPr id="5" name="Shape 3"/>
          <p:cNvSpPr/>
          <p:nvPr/>
        </p:nvSpPr>
        <p:spPr>
          <a:xfrm>
            <a:off x="548640" y="1920240"/>
            <a:ext cx="11094415" cy="0"/>
          </a:xfrm>
          <a:prstGeom prst="line">
            <a:avLst/>
          </a:prstGeom>
          <a:noFill/>
          <a:ln w="9525">
            <a:solidFill>
              <a:srgbClr val="E5E7EB"/>
            </a:solidFill>
            <a:prstDash val="solid"/>
          </a:ln>
        </p:spPr>
      </p:sp>
      <p:sp>
        <p:nvSpPr>
          <p:cNvPr id="6" name="Text 4"/>
          <p:cNvSpPr txBox="1"/>
          <p:nvPr/>
        </p:nvSpPr>
        <p:spPr>
          <a:xfrm>
            <a:off x="548640" y="1920240"/>
            <a:ext cx="365760" cy="640080"/>
          </a:xfrm>
          <a:prstGeom prst="rect">
            <a:avLst/>
          </a:prstGeom>
          <a:noFill/>
          <a:ln/>
        </p:spPr>
        <p:txBody>
          <a:bodyPr wrap="square" lIns="0" tIns="0" rIns="0" bIns="0" rtlCol="0" anchor="ctr"/>
          <a:lstStyle/>
          <a:p>
            <a:pPr indent="0" marL="0">
              <a:buNone/>
            </a:pPr>
            <a:r>
              <a:rPr lang="en-US" sz="1800" b="1" dirty="0">
                <a:solidFill>
                  <a:srgbClr val="C2410C"/>
                </a:solidFill>
                <a:latin typeface="Calibri" pitchFamily="34" charset="0"/>
                <a:ea typeface="Calibri" pitchFamily="34" charset="-122"/>
                <a:cs typeface="Calibri" pitchFamily="34" charset="-120"/>
              </a:rPr>
              <a:t>2</a:t>
            </a:r>
            <a:endParaRPr lang="en-US" sz="1800" dirty="0"/>
          </a:p>
        </p:txBody>
      </p:sp>
      <p:sp>
        <p:nvSpPr>
          <p:cNvPr id="7" name="Text 5"/>
          <p:cNvSpPr txBox="1"/>
          <p:nvPr/>
        </p:nvSpPr>
        <p:spPr>
          <a:xfrm>
            <a:off x="1005840" y="1920240"/>
            <a:ext cx="10637215" cy="640080"/>
          </a:xfrm>
          <a:prstGeom prst="rect">
            <a:avLst/>
          </a:prstGeom>
          <a:noFill/>
          <a:ln/>
        </p:spPr>
        <p:txBody>
          <a:bodyPr wrap="square" lIns="0" tIns="0" rIns="0" bIns="0" rtlCol="0" anchor="ctr"/>
          <a:lstStyle/>
          <a:p>
            <a:pPr indent="0" marL="0">
              <a:buNone/>
            </a:pPr>
            <a:r>
              <a:rPr lang="en-US" sz="1700" dirty="0">
                <a:solidFill>
                  <a:srgbClr val="374151"/>
                </a:solidFill>
                <a:latin typeface="Calibri" pitchFamily="34" charset="0"/>
                <a:ea typeface="Calibri" pitchFamily="34" charset="-122"/>
                <a:cs typeface="Calibri" pitchFamily="34" charset="-120"/>
              </a:rPr>
              <a:t>Classify the condition on the ESP32 itself, so the alarm and motor trip work without a network.</a:t>
            </a:r>
            <a:endParaRPr lang="en-US" sz="1700" dirty="0"/>
          </a:p>
        </p:txBody>
      </p:sp>
      <p:sp>
        <p:nvSpPr>
          <p:cNvPr id="8" name="Shape 6"/>
          <p:cNvSpPr/>
          <p:nvPr/>
        </p:nvSpPr>
        <p:spPr>
          <a:xfrm>
            <a:off x="548640" y="2560320"/>
            <a:ext cx="11094415" cy="0"/>
          </a:xfrm>
          <a:prstGeom prst="line">
            <a:avLst/>
          </a:prstGeom>
          <a:noFill/>
          <a:ln w="9525">
            <a:solidFill>
              <a:srgbClr val="E5E7EB"/>
            </a:solidFill>
            <a:prstDash val="solid"/>
          </a:ln>
        </p:spPr>
      </p:sp>
      <p:sp>
        <p:nvSpPr>
          <p:cNvPr id="9" name="Text 7"/>
          <p:cNvSpPr txBox="1"/>
          <p:nvPr/>
        </p:nvSpPr>
        <p:spPr>
          <a:xfrm>
            <a:off x="548640" y="2560320"/>
            <a:ext cx="365760" cy="640080"/>
          </a:xfrm>
          <a:prstGeom prst="rect">
            <a:avLst/>
          </a:prstGeom>
          <a:noFill/>
          <a:ln/>
        </p:spPr>
        <p:txBody>
          <a:bodyPr wrap="square" lIns="0" tIns="0" rIns="0" bIns="0" rtlCol="0" anchor="ctr"/>
          <a:lstStyle/>
          <a:p>
            <a:pPr indent="0" marL="0">
              <a:buNone/>
            </a:pPr>
            <a:r>
              <a:rPr lang="en-US" sz="1800" b="1" dirty="0">
                <a:solidFill>
                  <a:srgbClr val="C2410C"/>
                </a:solidFill>
                <a:latin typeface="Calibri" pitchFamily="34" charset="0"/>
                <a:ea typeface="Calibri" pitchFamily="34" charset="-122"/>
                <a:cs typeface="Calibri" pitchFamily="34" charset="-120"/>
              </a:rPr>
              <a:t>3</a:t>
            </a:r>
            <a:endParaRPr lang="en-US" sz="1800" dirty="0"/>
          </a:p>
        </p:txBody>
      </p:sp>
      <p:sp>
        <p:nvSpPr>
          <p:cNvPr id="10" name="Text 8"/>
          <p:cNvSpPr txBox="1"/>
          <p:nvPr/>
        </p:nvSpPr>
        <p:spPr>
          <a:xfrm>
            <a:off x="1005840" y="2560320"/>
            <a:ext cx="10637215" cy="640080"/>
          </a:xfrm>
          <a:prstGeom prst="rect">
            <a:avLst/>
          </a:prstGeom>
          <a:noFill/>
          <a:ln/>
        </p:spPr>
        <p:txBody>
          <a:bodyPr wrap="square" lIns="0" tIns="0" rIns="0" bIns="0" rtlCol="0" anchor="ctr"/>
          <a:lstStyle/>
          <a:p>
            <a:pPr indent="0" marL="0">
              <a:buNone/>
            </a:pPr>
            <a:r>
              <a:rPr lang="en-US" sz="1700" dirty="0">
                <a:solidFill>
                  <a:srgbClr val="374151"/>
                </a:solidFill>
                <a:latin typeface="Calibri" pitchFamily="34" charset="0"/>
                <a:ea typeface="Calibri" pitchFamily="34" charset="-122"/>
                <a:cs typeface="Calibri" pitchFamily="34" charset="-120"/>
              </a:rPr>
              <a:t>Identify every pump by an ID and its location, using GPS where a fix is available.</a:t>
            </a:r>
            <a:endParaRPr lang="en-US" sz="1700" dirty="0"/>
          </a:p>
        </p:txBody>
      </p:sp>
      <p:sp>
        <p:nvSpPr>
          <p:cNvPr id="11" name="Shape 9"/>
          <p:cNvSpPr/>
          <p:nvPr/>
        </p:nvSpPr>
        <p:spPr>
          <a:xfrm>
            <a:off x="548640" y="3200400"/>
            <a:ext cx="11094415" cy="0"/>
          </a:xfrm>
          <a:prstGeom prst="line">
            <a:avLst/>
          </a:prstGeom>
          <a:noFill/>
          <a:ln w="9525">
            <a:solidFill>
              <a:srgbClr val="E5E7EB"/>
            </a:solidFill>
            <a:prstDash val="solid"/>
          </a:ln>
        </p:spPr>
      </p:sp>
      <p:sp>
        <p:nvSpPr>
          <p:cNvPr id="12" name="Text 10"/>
          <p:cNvSpPr txBox="1"/>
          <p:nvPr/>
        </p:nvSpPr>
        <p:spPr>
          <a:xfrm>
            <a:off x="548640" y="3200400"/>
            <a:ext cx="365760" cy="640080"/>
          </a:xfrm>
          <a:prstGeom prst="rect">
            <a:avLst/>
          </a:prstGeom>
          <a:noFill/>
          <a:ln/>
        </p:spPr>
        <p:txBody>
          <a:bodyPr wrap="square" lIns="0" tIns="0" rIns="0" bIns="0" rtlCol="0" anchor="ctr"/>
          <a:lstStyle/>
          <a:p>
            <a:pPr indent="0" marL="0">
              <a:buNone/>
            </a:pPr>
            <a:r>
              <a:rPr lang="en-US" sz="1800" b="1" dirty="0">
                <a:solidFill>
                  <a:srgbClr val="C2410C"/>
                </a:solidFill>
                <a:latin typeface="Calibri" pitchFamily="34" charset="0"/>
                <a:ea typeface="Calibri" pitchFamily="34" charset="-122"/>
                <a:cs typeface="Calibri" pitchFamily="34" charset="-120"/>
              </a:rPr>
              <a:t>4</a:t>
            </a:r>
            <a:endParaRPr lang="en-US" sz="1800" dirty="0"/>
          </a:p>
        </p:txBody>
      </p:sp>
      <p:sp>
        <p:nvSpPr>
          <p:cNvPr id="13" name="Text 11"/>
          <p:cNvSpPr txBox="1"/>
          <p:nvPr/>
        </p:nvSpPr>
        <p:spPr>
          <a:xfrm>
            <a:off x="1005840" y="3200400"/>
            <a:ext cx="10637215" cy="640080"/>
          </a:xfrm>
          <a:prstGeom prst="rect">
            <a:avLst/>
          </a:prstGeom>
          <a:noFill/>
          <a:ln/>
        </p:spPr>
        <p:txBody>
          <a:bodyPr wrap="square" lIns="0" tIns="0" rIns="0" bIns="0" rtlCol="0" anchor="ctr"/>
          <a:lstStyle/>
          <a:p>
            <a:pPr indent="0" marL="0">
              <a:buNone/>
            </a:pPr>
            <a:r>
              <a:rPr lang="en-US" sz="1700" dirty="0">
                <a:solidFill>
                  <a:srgbClr val="374151"/>
                </a:solidFill>
                <a:latin typeface="Calibri" pitchFamily="34" charset="0"/>
                <a:ea typeface="Calibri" pitchFamily="34" charset="-122"/>
                <a:cs typeface="Calibri" pitchFamily="34" charset="-120"/>
              </a:rPr>
              <a:t>Show all pumps on a live fog dashboard with a map, readings, events and statistics.</a:t>
            </a:r>
            <a:endParaRPr lang="en-US" sz="1700" dirty="0"/>
          </a:p>
        </p:txBody>
      </p:sp>
      <p:sp>
        <p:nvSpPr>
          <p:cNvPr id="14" name="Shape 12"/>
          <p:cNvSpPr/>
          <p:nvPr/>
        </p:nvSpPr>
        <p:spPr>
          <a:xfrm>
            <a:off x="548640" y="3840480"/>
            <a:ext cx="11094415" cy="0"/>
          </a:xfrm>
          <a:prstGeom prst="line">
            <a:avLst/>
          </a:prstGeom>
          <a:noFill/>
          <a:ln w="9525">
            <a:solidFill>
              <a:srgbClr val="E5E7EB"/>
            </a:solidFill>
            <a:prstDash val="solid"/>
          </a:ln>
        </p:spPr>
      </p:sp>
      <p:sp>
        <p:nvSpPr>
          <p:cNvPr id="15" name="Text 13"/>
          <p:cNvSpPr txBox="1"/>
          <p:nvPr/>
        </p:nvSpPr>
        <p:spPr>
          <a:xfrm>
            <a:off x="548640" y="3840480"/>
            <a:ext cx="365760" cy="640080"/>
          </a:xfrm>
          <a:prstGeom prst="rect">
            <a:avLst/>
          </a:prstGeom>
          <a:noFill/>
          <a:ln/>
        </p:spPr>
        <p:txBody>
          <a:bodyPr wrap="square" lIns="0" tIns="0" rIns="0" bIns="0" rtlCol="0" anchor="ctr"/>
          <a:lstStyle/>
          <a:p>
            <a:pPr indent="0" marL="0">
              <a:buNone/>
            </a:pPr>
            <a:r>
              <a:rPr lang="en-US" sz="1800" b="1" dirty="0">
                <a:solidFill>
                  <a:srgbClr val="C2410C"/>
                </a:solidFill>
                <a:latin typeface="Calibri" pitchFamily="34" charset="0"/>
                <a:ea typeface="Calibri" pitchFamily="34" charset="-122"/>
                <a:cs typeface="Calibri" pitchFamily="34" charset="-120"/>
              </a:rPr>
              <a:t>5</a:t>
            </a:r>
            <a:endParaRPr lang="en-US" sz="1800" dirty="0"/>
          </a:p>
        </p:txBody>
      </p:sp>
      <p:sp>
        <p:nvSpPr>
          <p:cNvPr id="16" name="Text 14"/>
          <p:cNvSpPr txBox="1"/>
          <p:nvPr/>
        </p:nvSpPr>
        <p:spPr>
          <a:xfrm>
            <a:off x="1005840" y="3840480"/>
            <a:ext cx="10637215" cy="640080"/>
          </a:xfrm>
          <a:prstGeom prst="rect">
            <a:avLst/>
          </a:prstGeom>
          <a:noFill/>
          <a:ln/>
        </p:spPr>
        <p:txBody>
          <a:bodyPr wrap="square" lIns="0" tIns="0" rIns="0" bIns="0" rtlCol="0" anchor="ctr"/>
          <a:lstStyle/>
          <a:p>
            <a:pPr indent="0" marL="0">
              <a:buNone/>
            </a:pPr>
            <a:r>
              <a:rPr lang="en-US" sz="1700" dirty="0">
                <a:solidFill>
                  <a:srgbClr val="374151"/>
                </a:solidFill>
                <a:latin typeface="Calibri" pitchFamily="34" charset="0"/>
                <a:ea typeface="Calibri" pitchFamily="34" charset="-122"/>
                <a:cs typeface="Calibri" pitchFamily="34" charset="-120"/>
              </a:rPr>
              <a:t>Send an SMS to the maintenance engineer with the pump ID, reading and a map link.</a:t>
            </a:r>
            <a:endParaRPr lang="en-US" sz="1700" dirty="0"/>
          </a:p>
        </p:txBody>
      </p:sp>
      <p:sp>
        <p:nvSpPr>
          <p:cNvPr id="17" name="Shape 15"/>
          <p:cNvSpPr/>
          <p:nvPr/>
        </p:nvSpPr>
        <p:spPr>
          <a:xfrm>
            <a:off x="548640" y="4480560"/>
            <a:ext cx="11094415" cy="0"/>
          </a:xfrm>
          <a:prstGeom prst="line">
            <a:avLst/>
          </a:prstGeom>
          <a:noFill/>
          <a:ln w="9525">
            <a:solidFill>
              <a:srgbClr val="E5E7EB"/>
            </a:solidFill>
            <a:prstDash val="solid"/>
          </a:ln>
        </p:spPr>
      </p:sp>
      <p:sp>
        <p:nvSpPr>
          <p:cNvPr id="18" name="Text 16"/>
          <p:cNvSpPr txBox="1"/>
          <p:nvPr/>
        </p:nvSpPr>
        <p:spPr>
          <a:xfrm>
            <a:off x="548640" y="4480560"/>
            <a:ext cx="365760" cy="640080"/>
          </a:xfrm>
          <a:prstGeom prst="rect">
            <a:avLst/>
          </a:prstGeom>
          <a:noFill/>
          <a:ln/>
        </p:spPr>
        <p:txBody>
          <a:bodyPr wrap="square" lIns="0" tIns="0" rIns="0" bIns="0" rtlCol="0" anchor="ctr"/>
          <a:lstStyle/>
          <a:p>
            <a:pPr indent="0" marL="0">
              <a:buNone/>
            </a:pPr>
            <a:r>
              <a:rPr lang="en-US" sz="1800" b="1" dirty="0">
                <a:solidFill>
                  <a:srgbClr val="C2410C"/>
                </a:solidFill>
                <a:latin typeface="Calibri" pitchFamily="34" charset="0"/>
                <a:ea typeface="Calibri" pitchFamily="34" charset="-122"/>
                <a:cs typeface="Calibri" pitchFamily="34" charset="-120"/>
              </a:rPr>
              <a:t>6</a:t>
            </a:r>
            <a:endParaRPr lang="en-US" sz="1800" dirty="0"/>
          </a:p>
        </p:txBody>
      </p:sp>
      <p:sp>
        <p:nvSpPr>
          <p:cNvPr id="19" name="Text 17"/>
          <p:cNvSpPr txBox="1"/>
          <p:nvPr/>
        </p:nvSpPr>
        <p:spPr>
          <a:xfrm>
            <a:off x="1005840" y="4480560"/>
            <a:ext cx="10637215" cy="640080"/>
          </a:xfrm>
          <a:prstGeom prst="rect">
            <a:avLst/>
          </a:prstGeom>
          <a:noFill/>
          <a:ln/>
        </p:spPr>
        <p:txBody>
          <a:bodyPr wrap="square" lIns="0" tIns="0" rIns="0" bIns="0" rtlCol="0" anchor="ctr"/>
          <a:lstStyle/>
          <a:p>
            <a:pPr indent="0" marL="0">
              <a:buNone/>
            </a:pPr>
            <a:r>
              <a:rPr lang="en-US" sz="1700" dirty="0">
                <a:solidFill>
                  <a:srgbClr val="374151"/>
                </a:solidFill>
                <a:latin typeface="Calibri" pitchFamily="34" charset="0"/>
                <a:ea typeface="Calibri" pitchFamily="34" charset="-122"/>
                <a:cs typeface="Calibri" pitchFamily="34" charset="-120"/>
              </a:rPr>
              <a:t>Lose no data during outages, and record 50 readings before and after every fault.</a:t>
            </a:r>
            <a:endParaRPr lang="en-US" sz="1700" dirty="0"/>
          </a:p>
        </p:txBody>
      </p:sp>
      <p:sp>
        <p:nvSpPr>
          <p:cNvPr id="20" name="Shape 18"/>
          <p:cNvSpPr/>
          <p:nvPr/>
        </p:nvSpPr>
        <p:spPr>
          <a:xfrm>
            <a:off x="548640" y="5120640"/>
            <a:ext cx="11094415" cy="0"/>
          </a:xfrm>
          <a:prstGeom prst="line">
            <a:avLst/>
          </a:prstGeom>
          <a:noFill/>
          <a:ln w="9525">
            <a:solidFill>
              <a:srgbClr val="E5E7EB"/>
            </a:solidFill>
            <a:prstDash val="solid"/>
          </a:ln>
        </p:spPr>
      </p:sp>
      <p:sp>
        <p:nvSpPr>
          <p:cNvPr id="21" name="Text 19"/>
          <p:cNvSpPr txBox="1"/>
          <p:nvPr/>
        </p:nvSpPr>
        <p:spPr>
          <a:xfrm>
            <a:off x="548640" y="5120640"/>
            <a:ext cx="365760" cy="640080"/>
          </a:xfrm>
          <a:prstGeom prst="rect">
            <a:avLst/>
          </a:prstGeom>
          <a:noFill/>
          <a:ln/>
        </p:spPr>
        <p:txBody>
          <a:bodyPr wrap="square" lIns="0" tIns="0" rIns="0" bIns="0" rtlCol="0" anchor="ctr"/>
          <a:lstStyle/>
          <a:p>
            <a:pPr indent="0" marL="0">
              <a:buNone/>
            </a:pPr>
            <a:r>
              <a:rPr lang="en-US" sz="1800" b="1" dirty="0">
                <a:solidFill>
                  <a:srgbClr val="C2410C"/>
                </a:solidFill>
                <a:latin typeface="Calibri" pitchFamily="34" charset="0"/>
                <a:ea typeface="Calibri" pitchFamily="34" charset="-122"/>
                <a:cs typeface="Calibri" pitchFamily="34" charset="-120"/>
              </a:rPr>
              <a:t>7</a:t>
            </a:r>
            <a:endParaRPr lang="en-US" sz="1800" dirty="0"/>
          </a:p>
        </p:txBody>
      </p:sp>
      <p:sp>
        <p:nvSpPr>
          <p:cNvPr id="22" name="Text 20"/>
          <p:cNvSpPr txBox="1"/>
          <p:nvPr/>
        </p:nvSpPr>
        <p:spPr>
          <a:xfrm>
            <a:off x="1005840" y="5120640"/>
            <a:ext cx="10637215" cy="640080"/>
          </a:xfrm>
          <a:prstGeom prst="rect">
            <a:avLst/>
          </a:prstGeom>
          <a:noFill/>
          <a:ln/>
        </p:spPr>
        <p:txBody>
          <a:bodyPr wrap="square" lIns="0" tIns="0" rIns="0" bIns="0" rtlCol="0" anchor="ctr"/>
          <a:lstStyle/>
          <a:p>
            <a:pPr indent="0" marL="0">
              <a:buNone/>
            </a:pPr>
            <a:r>
              <a:rPr lang="en-US" sz="1700" dirty="0">
                <a:solidFill>
                  <a:srgbClr val="374151"/>
                </a:solidFill>
                <a:latin typeface="Calibri" pitchFamily="34" charset="0"/>
                <a:ea typeface="Calibri" pitchFamily="34" charset="-122"/>
                <a:cs typeface="Calibri" pitchFamily="34" charset="-120"/>
              </a:rPr>
              <a:t>Keep the design ready for a machine learning model to replace the fixed thresholds in Phase 2.</a:t>
            </a:r>
            <a:endParaRPr lang="en-US" sz="17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1"/>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685800"/>
          </a:xfrm>
          <a:prstGeom prst="rect">
            <a:avLst/>
          </a:prstGeom>
          <a:noFill/>
          <a:ln/>
        </p:spPr>
        <p:txBody>
          <a:bodyPr wrap="square" lIns="0" tIns="0" rIns="0" bIns="0" rtlCol="0" anchor="ctr"/>
          <a:lstStyle/>
          <a:p>
            <a:pPr algn="l" indent="0" marL="0">
              <a:buNone/>
            </a:pPr>
            <a:r>
              <a:rPr lang="en-US" sz="2800" b="1" dirty="0">
                <a:solidFill>
                  <a:srgbClr val="13294B"/>
                </a:solidFill>
                <a:latin typeface="Calibri" pitchFamily="34" charset="0"/>
                <a:ea typeface="Calibri" pitchFamily="34" charset="-122"/>
                <a:cs typeface="Calibri" pitchFamily="34" charset="-120"/>
              </a:rPr>
              <a:t>Novelty and Contributions</a:t>
            </a:r>
            <a:endParaRPr lang="en-US" sz="2800" dirty="0"/>
          </a:p>
        </p:txBody>
      </p:sp>
      <p:sp>
        <p:nvSpPr>
          <p:cNvPr id="3" name="Shape 1"/>
          <p:cNvSpPr/>
          <p:nvPr/>
        </p:nvSpPr>
        <p:spPr>
          <a:xfrm>
            <a:off x="548640" y="1280160"/>
            <a:ext cx="3547872" cy="2240280"/>
          </a:xfrm>
          <a:prstGeom prst="roundRect">
            <a:avLst>
              <a:gd name="adj" fmla="val 3265"/>
            </a:avLst>
          </a:prstGeom>
          <a:solidFill>
            <a:srgbClr val="F3F5F8"/>
          </a:solidFill>
          <a:ln w="12700">
            <a:solidFill>
              <a:srgbClr val="E3E7ED"/>
            </a:solidFill>
            <a:prstDash val="solid"/>
          </a:ln>
        </p:spPr>
      </p:sp>
      <p:sp>
        <p:nvSpPr>
          <p:cNvPr id="4" name="Text 2"/>
          <p:cNvSpPr txBox="1"/>
          <p:nvPr/>
        </p:nvSpPr>
        <p:spPr>
          <a:xfrm>
            <a:off x="777240" y="1463040"/>
            <a:ext cx="457200" cy="411480"/>
          </a:xfrm>
          <a:prstGeom prst="rect">
            <a:avLst/>
          </a:prstGeom>
          <a:noFill/>
          <a:ln/>
        </p:spPr>
        <p:txBody>
          <a:bodyPr wrap="square" lIns="0" tIns="0" rIns="0" bIns="0" rtlCol="0" anchor="t"/>
          <a:lstStyle/>
          <a:p>
            <a:pPr indent="0" marL="0">
              <a:buNone/>
            </a:pPr>
            <a:r>
              <a:rPr lang="en-US" sz="2200" b="1" dirty="0">
                <a:solidFill>
                  <a:srgbClr val="C2410C"/>
                </a:solidFill>
                <a:latin typeface="Calibri" pitchFamily="34" charset="0"/>
                <a:ea typeface="Calibri" pitchFamily="34" charset="-122"/>
                <a:cs typeface="Calibri" pitchFamily="34" charset="-120"/>
              </a:rPr>
              <a:t>1</a:t>
            </a:r>
            <a:endParaRPr lang="en-US" sz="2200" dirty="0"/>
          </a:p>
        </p:txBody>
      </p:sp>
      <p:sp>
        <p:nvSpPr>
          <p:cNvPr id="5" name="Text 3"/>
          <p:cNvSpPr txBox="1"/>
          <p:nvPr/>
        </p:nvSpPr>
        <p:spPr>
          <a:xfrm>
            <a:off x="777240" y="1901952"/>
            <a:ext cx="3090672" cy="365760"/>
          </a:xfrm>
          <a:prstGeom prst="rect">
            <a:avLst/>
          </a:prstGeom>
          <a:noFill/>
          <a:ln/>
        </p:spPr>
        <p:txBody>
          <a:bodyPr wrap="square" lIns="0" tIns="0" rIns="0" bIns="0" rtlCol="0" anchor="t"/>
          <a:lstStyle/>
          <a:p>
            <a:pPr indent="0" marL="0">
              <a:buNone/>
            </a:pPr>
            <a:r>
              <a:rPr lang="en-US" sz="1700" b="1" dirty="0">
                <a:solidFill>
                  <a:srgbClr val="13294B"/>
                </a:solidFill>
                <a:latin typeface="Calibri" pitchFamily="34" charset="0"/>
                <a:ea typeface="Calibri" pitchFamily="34" charset="-122"/>
                <a:cs typeface="Calibri" pitchFamily="34" charset="-120"/>
              </a:rPr>
              <a:t>Edge-first alarm and trip</a:t>
            </a:r>
            <a:endParaRPr lang="en-US" sz="1700" dirty="0"/>
          </a:p>
        </p:txBody>
      </p:sp>
      <p:sp>
        <p:nvSpPr>
          <p:cNvPr id="6" name="Text 4"/>
          <p:cNvSpPr txBox="1"/>
          <p:nvPr/>
        </p:nvSpPr>
        <p:spPr>
          <a:xfrm>
            <a:off x="777240" y="2286000"/>
            <a:ext cx="3090672" cy="1143000"/>
          </a:xfrm>
          <a:prstGeom prst="rect">
            <a:avLst/>
          </a:prstGeom>
          <a:noFill/>
          <a:ln/>
        </p:spPr>
        <p:txBody>
          <a:bodyPr wrap="square" lIns="0" tIns="0" rIns="0" bIns="0" rtlCol="0" anchor="t"/>
          <a:lstStyle/>
          <a:p>
            <a:pPr indent="0" marL="0">
              <a:buNone/>
            </a:pPr>
            <a:r>
              <a:rPr lang="en-US" sz="1400" dirty="0">
                <a:solidFill>
                  <a:srgbClr val="374151"/>
                </a:solidFill>
                <a:latin typeface="Calibri" pitchFamily="34" charset="0"/>
                <a:ea typeface="Calibri" pitchFamily="34" charset="-122"/>
                <a:cs typeface="Calibri" pitchFamily="34" charset="-120"/>
              </a:rPr>
              <a:t>The ESP32 sounds the buzzer and cuts motor power after 3 critical readings. Neither step needs Wi-Fi, the laptop or the internet.</a:t>
            </a:r>
            <a:endParaRPr lang="en-US" sz="1400" dirty="0"/>
          </a:p>
        </p:txBody>
      </p:sp>
      <p:sp>
        <p:nvSpPr>
          <p:cNvPr id="7" name="Shape 5"/>
          <p:cNvSpPr/>
          <p:nvPr/>
        </p:nvSpPr>
        <p:spPr>
          <a:xfrm>
            <a:off x="4320540" y="1280160"/>
            <a:ext cx="3547872" cy="2240280"/>
          </a:xfrm>
          <a:prstGeom prst="roundRect">
            <a:avLst>
              <a:gd name="adj" fmla="val 3265"/>
            </a:avLst>
          </a:prstGeom>
          <a:solidFill>
            <a:srgbClr val="F3F5F8"/>
          </a:solidFill>
          <a:ln w="12700">
            <a:solidFill>
              <a:srgbClr val="E3E7ED"/>
            </a:solidFill>
            <a:prstDash val="solid"/>
          </a:ln>
        </p:spPr>
      </p:sp>
      <p:sp>
        <p:nvSpPr>
          <p:cNvPr id="8" name="Text 6"/>
          <p:cNvSpPr txBox="1"/>
          <p:nvPr/>
        </p:nvSpPr>
        <p:spPr>
          <a:xfrm>
            <a:off x="4549140" y="1463040"/>
            <a:ext cx="457200" cy="411480"/>
          </a:xfrm>
          <a:prstGeom prst="rect">
            <a:avLst/>
          </a:prstGeom>
          <a:noFill/>
          <a:ln/>
        </p:spPr>
        <p:txBody>
          <a:bodyPr wrap="square" lIns="0" tIns="0" rIns="0" bIns="0" rtlCol="0" anchor="t"/>
          <a:lstStyle/>
          <a:p>
            <a:pPr indent="0" marL="0">
              <a:buNone/>
            </a:pPr>
            <a:r>
              <a:rPr lang="en-US" sz="2200" b="1" dirty="0">
                <a:solidFill>
                  <a:srgbClr val="C2410C"/>
                </a:solidFill>
                <a:latin typeface="Calibri" pitchFamily="34" charset="0"/>
                <a:ea typeface="Calibri" pitchFamily="34" charset="-122"/>
                <a:cs typeface="Calibri" pitchFamily="34" charset="-120"/>
              </a:rPr>
              <a:t>2</a:t>
            </a:r>
            <a:endParaRPr lang="en-US" sz="2200" dirty="0"/>
          </a:p>
        </p:txBody>
      </p:sp>
      <p:sp>
        <p:nvSpPr>
          <p:cNvPr id="9" name="Text 7"/>
          <p:cNvSpPr txBox="1"/>
          <p:nvPr/>
        </p:nvSpPr>
        <p:spPr>
          <a:xfrm>
            <a:off x="4549140" y="1901952"/>
            <a:ext cx="3090672" cy="365760"/>
          </a:xfrm>
          <a:prstGeom prst="rect">
            <a:avLst/>
          </a:prstGeom>
          <a:noFill/>
          <a:ln/>
        </p:spPr>
        <p:txBody>
          <a:bodyPr wrap="square" lIns="0" tIns="0" rIns="0" bIns="0" rtlCol="0" anchor="t"/>
          <a:lstStyle/>
          <a:p>
            <a:pPr indent="0" marL="0">
              <a:buNone/>
            </a:pPr>
            <a:r>
              <a:rPr lang="en-US" sz="1700" b="1" dirty="0">
                <a:solidFill>
                  <a:srgbClr val="13294B"/>
                </a:solidFill>
                <a:latin typeface="Calibri" pitchFamily="34" charset="0"/>
                <a:ea typeface="Calibri" pitchFamily="34" charset="-122"/>
                <a:cs typeface="Calibri" pitchFamily="34" charset="-120"/>
              </a:rPr>
              <a:t>Location-aware alerts</a:t>
            </a:r>
            <a:endParaRPr lang="en-US" sz="1700" dirty="0"/>
          </a:p>
        </p:txBody>
      </p:sp>
      <p:sp>
        <p:nvSpPr>
          <p:cNvPr id="10" name="Text 8"/>
          <p:cNvSpPr txBox="1"/>
          <p:nvPr/>
        </p:nvSpPr>
        <p:spPr>
          <a:xfrm>
            <a:off x="4549140" y="2286000"/>
            <a:ext cx="3090672" cy="1143000"/>
          </a:xfrm>
          <a:prstGeom prst="rect">
            <a:avLst/>
          </a:prstGeom>
          <a:noFill/>
          <a:ln/>
        </p:spPr>
        <p:txBody>
          <a:bodyPr wrap="square" lIns="0" tIns="0" rIns="0" bIns="0" rtlCol="0" anchor="t"/>
          <a:lstStyle/>
          <a:p>
            <a:pPr indent="0" marL="0">
              <a:buNone/>
            </a:pPr>
            <a:r>
              <a:rPr lang="en-US" sz="1400" dirty="0">
                <a:solidFill>
                  <a:srgbClr val="374151"/>
                </a:solidFill>
                <a:latin typeface="Calibri" pitchFamily="34" charset="0"/>
                <a:ea typeface="Calibri" pitchFamily="34" charset="-122"/>
                <a:cs typeface="Calibri" pitchFamily="34" charset="-120"/>
              </a:rPr>
              <a:t>Every reading carries the pump ID and GPS position. The SMS has a map link, so the technician goes straight to the right pump.</a:t>
            </a:r>
            <a:endParaRPr lang="en-US" sz="1400" dirty="0"/>
          </a:p>
        </p:txBody>
      </p:sp>
      <p:sp>
        <p:nvSpPr>
          <p:cNvPr id="11" name="Shape 9"/>
          <p:cNvSpPr/>
          <p:nvPr/>
        </p:nvSpPr>
        <p:spPr>
          <a:xfrm>
            <a:off x="8092440" y="1280160"/>
            <a:ext cx="3547872" cy="2240280"/>
          </a:xfrm>
          <a:prstGeom prst="roundRect">
            <a:avLst>
              <a:gd name="adj" fmla="val 3265"/>
            </a:avLst>
          </a:prstGeom>
          <a:solidFill>
            <a:srgbClr val="F3F5F8"/>
          </a:solidFill>
          <a:ln w="12700">
            <a:solidFill>
              <a:srgbClr val="E3E7ED"/>
            </a:solidFill>
            <a:prstDash val="solid"/>
          </a:ln>
        </p:spPr>
      </p:sp>
      <p:sp>
        <p:nvSpPr>
          <p:cNvPr id="12" name="Text 10"/>
          <p:cNvSpPr txBox="1"/>
          <p:nvPr/>
        </p:nvSpPr>
        <p:spPr>
          <a:xfrm>
            <a:off x="8321040" y="1463040"/>
            <a:ext cx="457200" cy="411480"/>
          </a:xfrm>
          <a:prstGeom prst="rect">
            <a:avLst/>
          </a:prstGeom>
          <a:noFill/>
          <a:ln/>
        </p:spPr>
        <p:txBody>
          <a:bodyPr wrap="square" lIns="0" tIns="0" rIns="0" bIns="0" rtlCol="0" anchor="t"/>
          <a:lstStyle/>
          <a:p>
            <a:pPr indent="0" marL="0">
              <a:buNone/>
            </a:pPr>
            <a:r>
              <a:rPr lang="en-US" sz="2200" b="1" dirty="0">
                <a:solidFill>
                  <a:srgbClr val="C2410C"/>
                </a:solidFill>
                <a:latin typeface="Calibri" pitchFamily="34" charset="0"/>
                <a:ea typeface="Calibri" pitchFamily="34" charset="-122"/>
                <a:cs typeface="Calibri" pitchFamily="34" charset="-120"/>
              </a:rPr>
              <a:t>3</a:t>
            </a:r>
            <a:endParaRPr lang="en-US" sz="2200" dirty="0"/>
          </a:p>
        </p:txBody>
      </p:sp>
      <p:sp>
        <p:nvSpPr>
          <p:cNvPr id="13" name="Text 11"/>
          <p:cNvSpPr txBox="1"/>
          <p:nvPr/>
        </p:nvSpPr>
        <p:spPr>
          <a:xfrm>
            <a:off x="8321040" y="1901952"/>
            <a:ext cx="3090672" cy="365760"/>
          </a:xfrm>
          <a:prstGeom prst="rect">
            <a:avLst/>
          </a:prstGeom>
          <a:noFill/>
          <a:ln/>
        </p:spPr>
        <p:txBody>
          <a:bodyPr wrap="square" lIns="0" tIns="0" rIns="0" bIns="0" rtlCol="0" anchor="t"/>
          <a:lstStyle/>
          <a:p>
            <a:pPr indent="0" marL="0">
              <a:buNone/>
            </a:pPr>
            <a:r>
              <a:rPr lang="en-US" sz="1700" b="1" dirty="0">
                <a:solidFill>
                  <a:srgbClr val="13294B"/>
                </a:solidFill>
                <a:latin typeface="Calibri" pitchFamily="34" charset="0"/>
                <a:ea typeface="Calibri" pitchFamily="34" charset="-122"/>
                <a:cs typeface="Calibri" pitchFamily="34" charset="-120"/>
              </a:rPr>
              <a:t>Two-way fog–edge control</a:t>
            </a:r>
            <a:endParaRPr lang="en-US" sz="1700" dirty="0"/>
          </a:p>
        </p:txBody>
      </p:sp>
      <p:sp>
        <p:nvSpPr>
          <p:cNvPr id="14" name="Text 12"/>
          <p:cNvSpPr txBox="1"/>
          <p:nvPr/>
        </p:nvSpPr>
        <p:spPr>
          <a:xfrm>
            <a:off x="8321040" y="2286000"/>
            <a:ext cx="3090672" cy="1143000"/>
          </a:xfrm>
          <a:prstGeom prst="rect">
            <a:avLst/>
          </a:prstGeom>
          <a:noFill/>
          <a:ln/>
        </p:spPr>
        <p:txBody>
          <a:bodyPr wrap="square" lIns="0" tIns="0" rIns="0" bIns="0" rtlCol="0" anchor="t"/>
          <a:lstStyle/>
          <a:p>
            <a:pPr indent="0" marL="0">
              <a:buNone/>
            </a:pPr>
            <a:r>
              <a:rPr lang="en-US" sz="1400" dirty="0">
                <a:solidFill>
                  <a:srgbClr val="374151"/>
                </a:solidFill>
                <a:latin typeface="Calibri" pitchFamily="34" charset="0"/>
                <a:ea typeface="Calibri" pitchFamily="34" charset="-122"/>
                <a:cs typeface="Calibri" pitchFamily="34" charset="-120"/>
              </a:rPr>
              <a:t>A restart from the dashboard travels back in the reply to the next reading. Locally the speed knob must return to zero first, like a motor starter.</a:t>
            </a:r>
            <a:endParaRPr lang="en-US" sz="1400" dirty="0"/>
          </a:p>
        </p:txBody>
      </p:sp>
      <p:sp>
        <p:nvSpPr>
          <p:cNvPr id="15" name="Shape 13"/>
          <p:cNvSpPr/>
          <p:nvPr/>
        </p:nvSpPr>
        <p:spPr>
          <a:xfrm>
            <a:off x="548640" y="3794760"/>
            <a:ext cx="3547872" cy="2240280"/>
          </a:xfrm>
          <a:prstGeom prst="roundRect">
            <a:avLst>
              <a:gd name="adj" fmla="val 3265"/>
            </a:avLst>
          </a:prstGeom>
          <a:solidFill>
            <a:srgbClr val="F3F5F8"/>
          </a:solidFill>
          <a:ln w="12700">
            <a:solidFill>
              <a:srgbClr val="E3E7ED"/>
            </a:solidFill>
            <a:prstDash val="solid"/>
          </a:ln>
        </p:spPr>
      </p:sp>
      <p:sp>
        <p:nvSpPr>
          <p:cNvPr id="16" name="Text 14"/>
          <p:cNvSpPr txBox="1"/>
          <p:nvPr/>
        </p:nvSpPr>
        <p:spPr>
          <a:xfrm>
            <a:off x="777240" y="3977640"/>
            <a:ext cx="457200" cy="411480"/>
          </a:xfrm>
          <a:prstGeom prst="rect">
            <a:avLst/>
          </a:prstGeom>
          <a:noFill/>
          <a:ln/>
        </p:spPr>
        <p:txBody>
          <a:bodyPr wrap="square" lIns="0" tIns="0" rIns="0" bIns="0" rtlCol="0" anchor="t"/>
          <a:lstStyle/>
          <a:p>
            <a:pPr indent="0" marL="0">
              <a:buNone/>
            </a:pPr>
            <a:r>
              <a:rPr lang="en-US" sz="2200" b="1" dirty="0">
                <a:solidFill>
                  <a:srgbClr val="C2410C"/>
                </a:solidFill>
                <a:latin typeface="Calibri" pitchFamily="34" charset="0"/>
                <a:ea typeface="Calibri" pitchFamily="34" charset="-122"/>
                <a:cs typeface="Calibri" pitchFamily="34" charset="-120"/>
              </a:rPr>
              <a:t>4</a:t>
            </a:r>
            <a:endParaRPr lang="en-US" sz="2200" dirty="0"/>
          </a:p>
        </p:txBody>
      </p:sp>
      <p:sp>
        <p:nvSpPr>
          <p:cNvPr id="17" name="Text 15"/>
          <p:cNvSpPr txBox="1"/>
          <p:nvPr/>
        </p:nvSpPr>
        <p:spPr>
          <a:xfrm>
            <a:off x="777240" y="4416552"/>
            <a:ext cx="3090672" cy="365760"/>
          </a:xfrm>
          <a:prstGeom prst="rect">
            <a:avLst/>
          </a:prstGeom>
          <a:noFill/>
          <a:ln/>
        </p:spPr>
        <p:txBody>
          <a:bodyPr wrap="square" lIns="0" tIns="0" rIns="0" bIns="0" rtlCol="0" anchor="t"/>
          <a:lstStyle/>
          <a:p>
            <a:pPr indent="0" marL="0">
              <a:buNone/>
            </a:pPr>
            <a:r>
              <a:rPr lang="en-US" sz="1700" b="1" dirty="0">
                <a:solidFill>
                  <a:srgbClr val="13294B"/>
                </a:solidFill>
                <a:latin typeface="Calibri" pitchFamily="34" charset="0"/>
                <a:ea typeface="Calibri" pitchFamily="34" charset="-122"/>
                <a:cs typeface="Calibri" pitchFamily="34" charset="-120"/>
              </a:rPr>
              <a:t>Store-and-forward at the edge</a:t>
            </a:r>
            <a:endParaRPr lang="en-US" sz="1700" dirty="0"/>
          </a:p>
        </p:txBody>
      </p:sp>
      <p:sp>
        <p:nvSpPr>
          <p:cNvPr id="18" name="Text 16"/>
          <p:cNvSpPr txBox="1"/>
          <p:nvPr/>
        </p:nvSpPr>
        <p:spPr>
          <a:xfrm>
            <a:off x="777240" y="4800600"/>
            <a:ext cx="3090672" cy="1143000"/>
          </a:xfrm>
          <a:prstGeom prst="rect">
            <a:avLst/>
          </a:prstGeom>
          <a:noFill/>
          <a:ln/>
        </p:spPr>
        <p:txBody>
          <a:bodyPr wrap="square" lIns="0" tIns="0" rIns="0" bIns="0" rtlCol="0" anchor="t"/>
          <a:lstStyle/>
          <a:p>
            <a:pPr indent="0" marL="0">
              <a:buNone/>
            </a:pPr>
            <a:r>
              <a:rPr lang="en-US" sz="1400" dirty="0">
                <a:solidFill>
                  <a:srgbClr val="374151"/>
                </a:solidFill>
                <a:latin typeface="Calibri" pitchFamily="34" charset="0"/>
                <a:ea typeface="Calibri" pitchFamily="34" charset="-122"/>
                <a:cs typeface="Calibri" pitchFamily="34" charset="-120"/>
              </a:rPr>
              <a:t>If the fog server is unreachable, the ESP32 keeps up to 300 readings (5 minutes) and uploads them later with their original timing.</a:t>
            </a:r>
            <a:endParaRPr lang="en-US" sz="1400" dirty="0"/>
          </a:p>
        </p:txBody>
      </p:sp>
      <p:sp>
        <p:nvSpPr>
          <p:cNvPr id="19" name="Shape 17"/>
          <p:cNvSpPr/>
          <p:nvPr/>
        </p:nvSpPr>
        <p:spPr>
          <a:xfrm>
            <a:off x="4320540" y="3794760"/>
            <a:ext cx="3547872" cy="2240280"/>
          </a:xfrm>
          <a:prstGeom prst="roundRect">
            <a:avLst>
              <a:gd name="adj" fmla="val 3265"/>
            </a:avLst>
          </a:prstGeom>
          <a:solidFill>
            <a:srgbClr val="F3F5F8"/>
          </a:solidFill>
          <a:ln w="12700">
            <a:solidFill>
              <a:srgbClr val="E3E7ED"/>
            </a:solidFill>
            <a:prstDash val="solid"/>
          </a:ln>
        </p:spPr>
      </p:sp>
      <p:sp>
        <p:nvSpPr>
          <p:cNvPr id="20" name="Text 18"/>
          <p:cNvSpPr txBox="1"/>
          <p:nvPr/>
        </p:nvSpPr>
        <p:spPr>
          <a:xfrm>
            <a:off x="4549140" y="3977640"/>
            <a:ext cx="457200" cy="411480"/>
          </a:xfrm>
          <a:prstGeom prst="rect">
            <a:avLst/>
          </a:prstGeom>
          <a:noFill/>
          <a:ln/>
        </p:spPr>
        <p:txBody>
          <a:bodyPr wrap="square" lIns="0" tIns="0" rIns="0" bIns="0" rtlCol="0" anchor="t"/>
          <a:lstStyle/>
          <a:p>
            <a:pPr indent="0" marL="0">
              <a:buNone/>
            </a:pPr>
            <a:r>
              <a:rPr lang="en-US" sz="2200" b="1" dirty="0">
                <a:solidFill>
                  <a:srgbClr val="C2410C"/>
                </a:solidFill>
                <a:latin typeface="Calibri" pitchFamily="34" charset="0"/>
                <a:ea typeface="Calibri" pitchFamily="34" charset="-122"/>
                <a:cs typeface="Calibri" pitchFamily="34" charset="-120"/>
              </a:rPr>
              <a:t>5</a:t>
            </a:r>
            <a:endParaRPr lang="en-US" sz="2200" dirty="0"/>
          </a:p>
        </p:txBody>
      </p:sp>
      <p:sp>
        <p:nvSpPr>
          <p:cNvPr id="21" name="Text 19"/>
          <p:cNvSpPr txBox="1"/>
          <p:nvPr/>
        </p:nvSpPr>
        <p:spPr>
          <a:xfrm>
            <a:off x="4549140" y="4416552"/>
            <a:ext cx="3090672" cy="365760"/>
          </a:xfrm>
          <a:prstGeom prst="rect">
            <a:avLst/>
          </a:prstGeom>
          <a:noFill/>
          <a:ln/>
        </p:spPr>
        <p:txBody>
          <a:bodyPr wrap="square" lIns="0" tIns="0" rIns="0" bIns="0" rtlCol="0" anchor="t"/>
          <a:lstStyle/>
          <a:p>
            <a:pPr indent="0" marL="0">
              <a:buNone/>
            </a:pPr>
            <a:r>
              <a:rPr lang="en-US" sz="1700" b="1" dirty="0">
                <a:solidFill>
                  <a:srgbClr val="13294B"/>
                </a:solidFill>
                <a:latin typeface="Calibri" pitchFamily="34" charset="0"/>
                <a:ea typeface="Calibri" pitchFamily="34" charset="-122"/>
                <a:cs typeface="Calibri" pitchFamily="34" charset="-120"/>
              </a:rPr>
              <a:t>Black-box fault recording</a:t>
            </a:r>
            <a:endParaRPr lang="en-US" sz="1700" dirty="0"/>
          </a:p>
        </p:txBody>
      </p:sp>
      <p:sp>
        <p:nvSpPr>
          <p:cNvPr id="22" name="Text 20"/>
          <p:cNvSpPr txBox="1"/>
          <p:nvPr/>
        </p:nvSpPr>
        <p:spPr>
          <a:xfrm>
            <a:off x="4549140" y="4800600"/>
            <a:ext cx="3090672" cy="1143000"/>
          </a:xfrm>
          <a:prstGeom prst="rect">
            <a:avLst/>
          </a:prstGeom>
          <a:noFill/>
          <a:ln/>
        </p:spPr>
        <p:txBody>
          <a:bodyPr wrap="square" lIns="0" tIns="0" rIns="0" bIns="0" rtlCol="0" anchor="t"/>
          <a:lstStyle/>
          <a:p>
            <a:pPr indent="0" marL="0">
              <a:buNone/>
            </a:pPr>
            <a:r>
              <a:rPr lang="en-US" sz="1400" dirty="0">
                <a:solidFill>
                  <a:srgbClr val="374151"/>
                </a:solidFill>
                <a:latin typeface="Calibri" pitchFamily="34" charset="0"/>
                <a:ea typeface="Calibri" pitchFamily="34" charset="-122"/>
                <a:cs typeface="Calibri" pitchFamily="34" charset="-120"/>
              </a:rPr>
              <a:t>50 readings before and 50 after every new fault are saved as CSV and tagged with the pump ID, ready for analysis and model training.</a:t>
            </a:r>
            <a:endParaRPr lang="en-US" sz="1400" dirty="0"/>
          </a:p>
        </p:txBody>
      </p:sp>
      <p:sp>
        <p:nvSpPr>
          <p:cNvPr id="23" name="Shape 21"/>
          <p:cNvSpPr/>
          <p:nvPr/>
        </p:nvSpPr>
        <p:spPr>
          <a:xfrm>
            <a:off x="8092440" y="3794760"/>
            <a:ext cx="3547872" cy="2240280"/>
          </a:xfrm>
          <a:prstGeom prst="roundRect">
            <a:avLst>
              <a:gd name="adj" fmla="val 3265"/>
            </a:avLst>
          </a:prstGeom>
          <a:solidFill>
            <a:srgbClr val="F3F5F8"/>
          </a:solidFill>
          <a:ln w="12700">
            <a:solidFill>
              <a:srgbClr val="E3E7ED"/>
            </a:solidFill>
            <a:prstDash val="solid"/>
          </a:ln>
        </p:spPr>
      </p:sp>
      <p:sp>
        <p:nvSpPr>
          <p:cNvPr id="24" name="Text 22"/>
          <p:cNvSpPr txBox="1"/>
          <p:nvPr/>
        </p:nvSpPr>
        <p:spPr>
          <a:xfrm>
            <a:off x="8321040" y="3977640"/>
            <a:ext cx="457200" cy="411480"/>
          </a:xfrm>
          <a:prstGeom prst="rect">
            <a:avLst/>
          </a:prstGeom>
          <a:noFill/>
          <a:ln/>
        </p:spPr>
        <p:txBody>
          <a:bodyPr wrap="square" lIns="0" tIns="0" rIns="0" bIns="0" rtlCol="0" anchor="t"/>
          <a:lstStyle/>
          <a:p>
            <a:pPr indent="0" marL="0">
              <a:buNone/>
            </a:pPr>
            <a:r>
              <a:rPr lang="en-US" sz="2200" b="1" dirty="0">
                <a:solidFill>
                  <a:srgbClr val="C2410C"/>
                </a:solidFill>
                <a:latin typeface="Calibri" pitchFamily="34" charset="0"/>
                <a:ea typeface="Calibri" pitchFamily="34" charset="-122"/>
                <a:cs typeface="Calibri" pitchFamily="34" charset="-120"/>
              </a:rPr>
              <a:t>6</a:t>
            </a:r>
            <a:endParaRPr lang="en-US" sz="2200" dirty="0"/>
          </a:p>
        </p:txBody>
      </p:sp>
      <p:sp>
        <p:nvSpPr>
          <p:cNvPr id="25" name="Text 23"/>
          <p:cNvSpPr txBox="1"/>
          <p:nvPr/>
        </p:nvSpPr>
        <p:spPr>
          <a:xfrm>
            <a:off x="8321040" y="4416552"/>
            <a:ext cx="3090672" cy="365760"/>
          </a:xfrm>
          <a:prstGeom prst="rect">
            <a:avLst/>
          </a:prstGeom>
          <a:noFill/>
          <a:ln/>
        </p:spPr>
        <p:txBody>
          <a:bodyPr wrap="square" lIns="0" tIns="0" rIns="0" bIns="0" rtlCol="0" anchor="t"/>
          <a:lstStyle/>
          <a:p>
            <a:pPr indent="0" marL="0">
              <a:buNone/>
            </a:pPr>
            <a:r>
              <a:rPr lang="en-US" sz="1700" b="1" dirty="0">
                <a:solidFill>
                  <a:srgbClr val="13294B"/>
                </a:solidFill>
                <a:latin typeface="Calibri" pitchFamily="34" charset="0"/>
                <a:ea typeface="Calibri" pitchFamily="34" charset="-122"/>
                <a:cs typeface="Calibri" pitchFamily="34" charset="-120"/>
              </a:rPr>
              <a:t>Self-monitoring pipeline</a:t>
            </a:r>
            <a:endParaRPr lang="en-US" sz="1700" dirty="0"/>
          </a:p>
        </p:txBody>
      </p:sp>
      <p:sp>
        <p:nvSpPr>
          <p:cNvPr id="26" name="Text 24"/>
          <p:cNvSpPr txBox="1"/>
          <p:nvPr/>
        </p:nvSpPr>
        <p:spPr>
          <a:xfrm>
            <a:off x="8321040" y="4800600"/>
            <a:ext cx="3090672" cy="1143000"/>
          </a:xfrm>
          <a:prstGeom prst="rect">
            <a:avLst/>
          </a:prstGeom>
          <a:noFill/>
          <a:ln/>
        </p:spPr>
        <p:txBody>
          <a:bodyPr wrap="square" lIns="0" tIns="0" rIns="0" bIns="0" rtlCol="0" anchor="t"/>
          <a:lstStyle/>
          <a:p>
            <a:pPr indent="0" marL="0">
              <a:buNone/>
            </a:pPr>
            <a:r>
              <a:rPr lang="en-US" sz="1400" dirty="0">
                <a:solidFill>
                  <a:srgbClr val="374151"/>
                </a:solidFill>
                <a:latin typeface="Calibri" pitchFamily="34" charset="0"/>
                <a:ea typeface="Calibri" pitchFamily="34" charset="-122"/>
                <a:cs typeface="Calibri" pitchFamily="34" charset="-120"/>
              </a:rPr>
              <a:t>The dashboard flags a silent node within 5 s, counts recovered readings and limits SMS to one per minute per pump.</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1"/>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685800"/>
          </a:xfrm>
          <a:prstGeom prst="rect">
            <a:avLst/>
          </a:prstGeom>
          <a:noFill/>
          <a:ln/>
        </p:spPr>
        <p:txBody>
          <a:bodyPr wrap="square" lIns="0" tIns="0" rIns="0" bIns="0" rtlCol="0" anchor="ctr"/>
          <a:lstStyle/>
          <a:p>
            <a:pPr algn="l" indent="0" marL="0">
              <a:buNone/>
            </a:pPr>
            <a:r>
              <a:rPr lang="en-US" sz="2800" b="1" dirty="0">
                <a:solidFill>
                  <a:srgbClr val="13294B"/>
                </a:solidFill>
                <a:latin typeface="Calibri" pitchFamily="34" charset="0"/>
                <a:ea typeface="Calibri" pitchFamily="34" charset="-122"/>
                <a:cs typeface="Calibri" pitchFamily="34" charset="-120"/>
              </a:rPr>
              <a:t>System Architecture</a:t>
            </a:r>
            <a:endParaRPr lang="en-US" sz="2800" dirty="0"/>
          </a:p>
        </p:txBody>
      </p:sp>
      <p:sp>
        <p:nvSpPr>
          <p:cNvPr id="3" name="Shape 1"/>
          <p:cNvSpPr/>
          <p:nvPr/>
        </p:nvSpPr>
        <p:spPr>
          <a:xfrm>
            <a:off x="548640" y="1234440"/>
            <a:ext cx="3291840" cy="2788920"/>
          </a:xfrm>
          <a:prstGeom prst="rect">
            <a:avLst/>
          </a:prstGeom>
          <a:solidFill>
            <a:srgbClr val="FFFFFF"/>
          </a:solidFill>
          <a:ln w="12700">
            <a:solidFill>
              <a:srgbClr val="13294B"/>
            </a:solidFill>
            <a:prstDash val="solid"/>
          </a:ln>
        </p:spPr>
      </p:sp>
      <p:sp>
        <p:nvSpPr>
          <p:cNvPr id="4" name="Shape 2"/>
          <p:cNvSpPr/>
          <p:nvPr/>
        </p:nvSpPr>
        <p:spPr>
          <a:xfrm>
            <a:off x="548640" y="1234440"/>
            <a:ext cx="3291840" cy="365760"/>
          </a:xfrm>
          <a:prstGeom prst="rect">
            <a:avLst/>
          </a:prstGeom>
          <a:solidFill>
            <a:srgbClr val="13294B"/>
          </a:solidFill>
          <a:ln w="12700">
            <a:solidFill>
              <a:srgbClr val="13294B"/>
            </a:solidFill>
            <a:prstDash val="solid"/>
          </a:ln>
        </p:spPr>
      </p:sp>
      <p:sp>
        <p:nvSpPr>
          <p:cNvPr id="5" name="Text 3"/>
          <p:cNvSpPr txBox="1"/>
          <p:nvPr/>
        </p:nvSpPr>
        <p:spPr>
          <a:xfrm>
            <a:off x="685800" y="1234440"/>
            <a:ext cx="3108960" cy="36576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EDGE LAYER  ·  one node per pump</a:t>
            </a:r>
            <a:endParaRPr lang="en-US" sz="1200" dirty="0"/>
          </a:p>
        </p:txBody>
      </p:sp>
      <p:sp>
        <p:nvSpPr>
          <p:cNvPr id="6" name="Shape 4"/>
          <p:cNvSpPr/>
          <p:nvPr/>
        </p:nvSpPr>
        <p:spPr>
          <a:xfrm>
            <a:off x="731520" y="1737360"/>
            <a:ext cx="2926080" cy="411480"/>
          </a:xfrm>
          <a:prstGeom prst="roundRect">
            <a:avLst>
              <a:gd name="adj" fmla="val 17778"/>
            </a:avLst>
          </a:prstGeom>
          <a:solidFill>
            <a:srgbClr val="F3F5F8"/>
          </a:solidFill>
          <a:ln w="12700">
            <a:solidFill>
              <a:srgbClr val="E3E7ED"/>
            </a:solidFill>
            <a:prstDash val="solid"/>
          </a:ln>
        </p:spPr>
      </p:sp>
      <p:sp>
        <p:nvSpPr>
          <p:cNvPr id="7" name="Text 5"/>
          <p:cNvSpPr txBox="1"/>
          <p:nvPr/>
        </p:nvSpPr>
        <p:spPr>
          <a:xfrm>
            <a:off x="868680" y="1737360"/>
            <a:ext cx="2743200" cy="411480"/>
          </a:xfrm>
          <a:prstGeom prst="rect">
            <a:avLst/>
          </a:prstGeom>
          <a:noFill/>
          <a:ln/>
        </p:spPr>
        <p:txBody>
          <a:bodyPr wrap="square" lIns="0" tIns="0" rIns="0" bIns="0" rtlCol="0" anchor="ctr"/>
          <a:lstStyle/>
          <a:p>
            <a:pPr indent="0" marL="0">
              <a:buNone/>
            </a:pPr>
            <a:r>
              <a:rPr lang="en-US" sz="1300" b="1" dirty="0">
                <a:solidFill>
                  <a:srgbClr val="1F2937"/>
                </a:solidFill>
                <a:latin typeface="Calibri" pitchFamily="34" charset="0"/>
                <a:ea typeface="Calibri" pitchFamily="34" charset="-122"/>
                <a:cs typeface="Calibri" pitchFamily="34" charset="-120"/>
              </a:rPr>
              <a:t>PUMP-01   ESP32 + MPU6050 + GPS</a:t>
            </a:r>
            <a:endParaRPr lang="en-US" sz="1300" dirty="0"/>
          </a:p>
        </p:txBody>
      </p:sp>
      <p:sp>
        <p:nvSpPr>
          <p:cNvPr id="8" name="Shape 6"/>
          <p:cNvSpPr/>
          <p:nvPr/>
        </p:nvSpPr>
        <p:spPr>
          <a:xfrm>
            <a:off x="731520" y="2240280"/>
            <a:ext cx="2926080" cy="411480"/>
          </a:xfrm>
          <a:prstGeom prst="roundRect">
            <a:avLst>
              <a:gd name="adj" fmla="val 17778"/>
            </a:avLst>
          </a:prstGeom>
          <a:solidFill>
            <a:srgbClr val="F3F5F8"/>
          </a:solidFill>
          <a:ln w="12700">
            <a:solidFill>
              <a:srgbClr val="E3E7ED"/>
            </a:solidFill>
            <a:prstDash val="solid"/>
          </a:ln>
        </p:spPr>
      </p:sp>
      <p:sp>
        <p:nvSpPr>
          <p:cNvPr id="9" name="Text 7"/>
          <p:cNvSpPr txBox="1"/>
          <p:nvPr/>
        </p:nvSpPr>
        <p:spPr>
          <a:xfrm>
            <a:off x="868680" y="2240280"/>
            <a:ext cx="2743200" cy="411480"/>
          </a:xfrm>
          <a:prstGeom prst="rect">
            <a:avLst/>
          </a:prstGeom>
          <a:noFill/>
          <a:ln/>
        </p:spPr>
        <p:txBody>
          <a:bodyPr wrap="square" lIns="0" tIns="0" rIns="0" bIns="0" rtlCol="0" anchor="ctr"/>
          <a:lstStyle/>
          <a:p>
            <a:pPr indent="0" marL="0">
              <a:buNone/>
            </a:pPr>
            <a:r>
              <a:rPr lang="en-US" sz="1300" b="1" dirty="0">
                <a:solidFill>
                  <a:srgbClr val="1F2937"/>
                </a:solidFill>
                <a:latin typeface="Calibri" pitchFamily="34" charset="0"/>
                <a:ea typeface="Calibri" pitchFamily="34" charset="-122"/>
                <a:cs typeface="Calibri" pitchFamily="34" charset="-120"/>
              </a:rPr>
              <a:t>PUMP-02   ESP32 + MPU6050 + GPS</a:t>
            </a:r>
            <a:endParaRPr lang="en-US" sz="1300" dirty="0"/>
          </a:p>
        </p:txBody>
      </p:sp>
      <p:sp>
        <p:nvSpPr>
          <p:cNvPr id="10" name="Shape 8"/>
          <p:cNvSpPr/>
          <p:nvPr/>
        </p:nvSpPr>
        <p:spPr>
          <a:xfrm>
            <a:off x="731520" y="2743200"/>
            <a:ext cx="2926080" cy="411480"/>
          </a:xfrm>
          <a:prstGeom prst="roundRect">
            <a:avLst>
              <a:gd name="adj" fmla="val 17778"/>
            </a:avLst>
          </a:prstGeom>
          <a:solidFill>
            <a:srgbClr val="F3F5F8"/>
          </a:solidFill>
          <a:ln w="12700">
            <a:solidFill>
              <a:srgbClr val="E3E7ED"/>
            </a:solidFill>
            <a:prstDash val="solid"/>
          </a:ln>
        </p:spPr>
      </p:sp>
      <p:sp>
        <p:nvSpPr>
          <p:cNvPr id="11" name="Text 9"/>
          <p:cNvSpPr txBox="1"/>
          <p:nvPr/>
        </p:nvSpPr>
        <p:spPr>
          <a:xfrm>
            <a:off x="868680" y="2743200"/>
            <a:ext cx="2743200" cy="41148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PUMP-N    ...</a:t>
            </a:r>
            <a:endParaRPr lang="en-US" sz="1300" dirty="0"/>
          </a:p>
        </p:txBody>
      </p:sp>
      <p:sp>
        <p:nvSpPr>
          <p:cNvPr id="12" name="Text 10"/>
          <p:cNvSpPr txBox="1"/>
          <p:nvPr/>
        </p:nvSpPr>
        <p:spPr>
          <a:xfrm>
            <a:off x="731520" y="3291840"/>
            <a:ext cx="2926080" cy="685800"/>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Reads vibration every 1 s, classifies it, drives buzzer, LCD and motor, buffers readings offline</a:t>
            </a:r>
            <a:endParaRPr lang="en-US" sz="1200" dirty="0"/>
          </a:p>
        </p:txBody>
      </p:sp>
      <p:sp>
        <p:nvSpPr>
          <p:cNvPr id="13" name="Shape 11"/>
          <p:cNvSpPr/>
          <p:nvPr/>
        </p:nvSpPr>
        <p:spPr>
          <a:xfrm>
            <a:off x="3931920" y="2286000"/>
            <a:ext cx="1051560" cy="0"/>
          </a:xfrm>
          <a:prstGeom prst="line">
            <a:avLst/>
          </a:prstGeom>
          <a:noFill/>
          <a:ln w="25400">
            <a:solidFill>
              <a:srgbClr val="13294B"/>
            </a:solidFill>
            <a:prstDash val="solid"/>
            <a:tailEnd type="triangle"/>
          </a:ln>
        </p:spPr>
      </p:sp>
      <p:sp>
        <p:nvSpPr>
          <p:cNvPr id="14" name="Text 12"/>
          <p:cNvSpPr txBox="1"/>
          <p:nvPr/>
        </p:nvSpPr>
        <p:spPr>
          <a:xfrm>
            <a:off x="3840480" y="1801368"/>
            <a:ext cx="1234440" cy="457200"/>
          </a:xfrm>
          <a:prstGeom prst="rect">
            <a:avLst/>
          </a:prstGeom>
          <a:noFill/>
          <a:ln/>
        </p:spPr>
        <p:txBody>
          <a:bodyPr wrap="square" lIns="0" tIns="0" rIns="0" bIns="0" rtlCol="0" anchor="b"/>
          <a:lstStyle/>
          <a:p>
            <a:pPr algn="ctr" indent="0" marL="0">
              <a:buNone/>
            </a:pPr>
            <a:r>
              <a:rPr lang="en-US" sz="1100" dirty="0">
                <a:solidFill>
                  <a:srgbClr val="13294B"/>
                </a:solidFill>
                <a:latin typeface="Calibri" pitchFamily="34" charset="0"/>
                <a:ea typeface="Calibri" pitchFamily="34" charset="-122"/>
                <a:cs typeface="Calibri" pitchFamily="34" charset="-120"/>
              </a:rPr>
              <a:t>/data, /alert</a:t>
            </a:r>
            <a:endParaRPr lang="en-US" sz="1100" dirty="0"/>
          </a:p>
          <a:p>
            <a:pPr algn="ctr" indent="0" marL="0">
              <a:buNone/>
            </a:pPr>
            <a:r>
              <a:rPr lang="en-US" sz="1100" dirty="0">
                <a:solidFill>
                  <a:srgbClr val="13294B"/>
                </a:solidFill>
                <a:latin typeface="Calibri" pitchFamily="34" charset="0"/>
                <a:ea typeface="Calibri" pitchFamily="34" charset="-122"/>
                <a:cs typeface="Calibri" pitchFamily="34" charset="-120"/>
              </a:rPr>
              <a:t>/data/batch</a:t>
            </a:r>
            <a:endParaRPr lang="en-US" sz="1100" dirty="0"/>
          </a:p>
        </p:txBody>
      </p:sp>
      <p:sp>
        <p:nvSpPr>
          <p:cNvPr id="15" name="Shape 13"/>
          <p:cNvSpPr/>
          <p:nvPr/>
        </p:nvSpPr>
        <p:spPr>
          <a:xfrm flipH="1">
            <a:off x="3931920" y="3017520"/>
            <a:ext cx="1051560" cy="0"/>
          </a:xfrm>
          <a:prstGeom prst="line">
            <a:avLst/>
          </a:prstGeom>
          <a:noFill/>
          <a:ln w="25400">
            <a:solidFill>
              <a:srgbClr val="C2410C"/>
            </a:solidFill>
            <a:prstDash val="solid"/>
            <a:tailEnd type="triangle"/>
          </a:ln>
        </p:spPr>
      </p:sp>
      <p:sp>
        <p:nvSpPr>
          <p:cNvPr id="16" name="Text 14"/>
          <p:cNvSpPr txBox="1"/>
          <p:nvPr/>
        </p:nvSpPr>
        <p:spPr>
          <a:xfrm>
            <a:off x="3840480" y="3081528"/>
            <a:ext cx="1234440" cy="457200"/>
          </a:xfrm>
          <a:prstGeom prst="rect">
            <a:avLst/>
          </a:prstGeom>
          <a:noFill/>
          <a:ln/>
        </p:spPr>
        <p:txBody>
          <a:bodyPr wrap="square" lIns="0" tIns="0" rIns="0" bIns="0" rtlCol="0" anchor="t"/>
          <a:lstStyle/>
          <a:p>
            <a:pPr algn="ctr" indent="0" marL="0">
              <a:buNone/>
            </a:pPr>
            <a:r>
              <a:rPr lang="en-US" sz="1100" dirty="0">
                <a:solidFill>
                  <a:srgbClr val="C2410C"/>
                </a:solidFill>
                <a:latin typeface="Calibri" pitchFamily="34" charset="0"/>
                <a:ea typeface="Calibri" pitchFamily="34" charset="-122"/>
                <a:cs typeface="Calibri" pitchFamily="34" charset="-120"/>
              </a:rPr>
              <a:t>restart command (in reply)</a:t>
            </a:r>
            <a:endParaRPr lang="en-US" sz="1100" dirty="0"/>
          </a:p>
        </p:txBody>
      </p:sp>
      <p:sp>
        <p:nvSpPr>
          <p:cNvPr id="17" name="Shape 15"/>
          <p:cNvSpPr/>
          <p:nvPr/>
        </p:nvSpPr>
        <p:spPr>
          <a:xfrm>
            <a:off x="5120640" y="1234440"/>
            <a:ext cx="3291840" cy="2788920"/>
          </a:xfrm>
          <a:prstGeom prst="rect">
            <a:avLst/>
          </a:prstGeom>
          <a:solidFill>
            <a:srgbClr val="FFFFFF"/>
          </a:solidFill>
          <a:ln w="12700">
            <a:solidFill>
              <a:srgbClr val="13294B"/>
            </a:solidFill>
            <a:prstDash val="solid"/>
          </a:ln>
        </p:spPr>
      </p:sp>
      <p:sp>
        <p:nvSpPr>
          <p:cNvPr id="18" name="Shape 16"/>
          <p:cNvSpPr/>
          <p:nvPr/>
        </p:nvSpPr>
        <p:spPr>
          <a:xfrm>
            <a:off x="5120640" y="1234440"/>
            <a:ext cx="3291840" cy="365760"/>
          </a:xfrm>
          <a:prstGeom prst="rect">
            <a:avLst/>
          </a:prstGeom>
          <a:solidFill>
            <a:srgbClr val="13294B"/>
          </a:solidFill>
          <a:ln w="12700">
            <a:solidFill>
              <a:srgbClr val="13294B"/>
            </a:solidFill>
            <a:prstDash val="solid"/>
          </a:ln>
        </p:spPr>
      </p:sp>
      <p:sp>
        <p:nvSpPr>
          <p:cNvPr id="19" name="Text 17"/>
          <p:cNvSpPr txBox="1"/>
          <p:nvPr/>
        </p:nvSpPr>
        <p:spPr>
          <a:xfrm>
            <a:off x="5257800" y="1234440"/>
            <a:ext cx="3108960" cy="36576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FOG LAYER</a:t>
            </a:r>
            <a:endParaRPr lang="en-US" sz="1200" dirty="0"/>
          </a:p>
        </p:txBody>
      </p:sp>
      <p:sp>
        <p:nvSpPr>
          <p:cNvPr id="20" name="Text 18"/>
          <p:cNvSpPr txBox="1"/>
          <p:nvPr/>
        </p:nvSpPr>
        <p:spPr>
          <a:xfrm>
            <a:off x="5303520" y="1691640"/>
            <a:ext cx="3017520" cy="32004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Flask server in the pump office</a:t>
            </a:r>
            <a:endParaRPr lang="en-US" sz="1500" dirty="0"/>
          </a:p>
        </p:txBody>
      </p:sp>
      <p:sp>
        <p:nvSpPr>
          <p:cNvPr id="21" name="Text 19"/>
          <p:cNvSpPr txBox="1"/>
          <p:nvPr/>
        </p:nvSpPr>
        <p:spPr>
          <a:xfrm>
            <a:off x="5303520" y="2075688"/>
            <a:ext cx="3017520" cy="182880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374151"/>
                </a:solidFill>
                <a:latin typeface="Calibri" pitchFamily="34" charset="0"/>
                <a:ea typeface="Calibri" pitchFamily="34" charset="-122"/>
                <a:cs typeface="Calibri" pitchFamily="34" charset="-120"/>
              </a:rPr>
              <a:t>Receives readings from all pumps</a:t>
            </a:r>
            <a:endParaRPr lang="en-US" sz="1300" dirty="0"/>
          </a:p>
          <a:p>
            <a:pPr marL="177800" indent="-177800">
              <a:spcAft>
                <a:spcPts val="700"/>
              </a:spcAft>
              <a:buSzPct val="100000"/>
              <a:buChar char="•"/>
            </a:pPr>
            <a:r>
              <a:rPr lang="en-US" sz="1300" dirty="0">
                <a:solidFill>
                  <a:srgbClr val="374151"/>
                </a:solidFill>
                <a:latin typeface="Calibri" pitchFamily="34" charset="0"/>
                <a:ea typeface="Calibri" pitchFamily="34" charset="-122"/>
                <a:cs typeface="Calibri" pitchFamily="34" charset="-120"/>
              </a:rPr>
              <a:t>Live dashboard with map</a:t>
            </a:r>
            <a:endParaRPr lang="en-US" sz="1300" dirty="0"/>
          </a:p>
          <a:p>
            <a:pPr marL="177800" indent="-177800">
              <a:spcAft>
                <a:spcPts val="700"/>
              </a:spcAft>
              <a:buSzPct val="100000"/>
              <a:buChar char="•"/>
            </a:pPr>
            <a:r>
              <a:rPr lang="en-US" sz="1300" dirty="0">
                <a:solidFill>
                  <a:srgbClr val="374151"/>
                </a:solidFill>
                <a:latin typeface="Calibri" pitchFamily="34" charset="0"/>
                <a:ea typeface="Calibri" pitchFamily="34" charset="-122"/>
                <a:cs typeface="Calibri" pitchFamily="34" charset="-120"/>
              </a:rPr>
              <a:t>Event log and statistics per pump</a:t>
            </a:r>
            <a:endParaRPr lang="en-US" sz="1300" dirty="0"/>
          </a:p>
          <a:p>
            <a:pPr marL="177800" indent="-177800">
              <a:spcAft>
                <a:spcPts val="700"/>
              </a:spcAft>
              <a:buSzPct val="100000"/>
              <a:buChar char="•"/>
            </a:pPr>
            <a:r>
              <a:rPr lang="en-US" sz="1300" dirty="0">
                <a:solidFill>
                  <a:srgbClr val="374151"/>
                </a:solidFill>
                <a:latin typeface="Calibri" pitchFamily="34" charset="0"/>
                <a:ea typeface="Calibri" pitchFamily="34" charset="-122"/>
                <a:cs typeface="Calibri" pitchFamily="34" charset="-120"/>
              </a:rPr>
              <a:t>Saves fault CSV recordings</a:t>
            </a:r>
            <a:endParaRPr lang="en-US" sz="1300" dirty="0"/>
          </a:p>
          <a:p>
            <a:pPr marL="177800" indent="-177800">
              <a:spcAft>
                <a:spcPts val="700"/>
              </a:spcAft>
              <a:buSzPct val="100000"/>
              <a:buChar char="•"/>
            </a:pPr>
            <a:r>
              <a:rPr lang="en-US" sz="1300" dirty="0">
                <a:solidFill>
                  <a:srgbClr val="374151"/>
                </a:solidFill>
                <a:latin typeface="Calibri" pitchFamily="34" charset="0"/>
                <a:ea typeface="Calibri" pitchFamily="34" charset="-122"/>
                <a:cs typeface="Calibri" pitchFamily="34" charset="-120"/>
              </a:rPr>
              <a:t>Queues restart commands</a:t>
            </a:r>
            <a:endParaRPr lang="en-US" sz="1300" dirty="0"/>
          </a:p>
        </p:txBody>
      </p:sp>
      <p:sp>
        <p:nvSpPr>
          <p:cNvPr id="22" name="Shape 20"/>
          <p:cNvSpPr/>
          <p:nvPr/>
        </p:nvSpPr>
        <p:spPr>
          <a:xfrm>
            <a:off x="8503920" y="2286000"/>
            <a:ext cx="777240" cy="0"/>
          </a:xfrm>
          <a:prstGeom prst="line">
            <a:avLst/>
          </a:prstGeom>
          <a:noFill/>
          <a:ln w="25400">
            <a:solidFill>
              <a:srgbClr val="13294B"/>
            </a:solidFill>
            <a:prstDash val="solid"/>
            <a:tailEnd type="triangle"/>
          </a:ln>
        </p:spPr>
      </p:sp>
      <p:sp>
        <p:nvSpPr>
          <p:cNvPr id="23" name="Text 21"/>
          <p:cNvSpPr txBox="1"/>
          <p:nvPr/>
        </p:nvSpPr>
        <p:spPr>
          <a:xfrm>
            <a:off x="8412480" y="1801368"/>
            <a:ext cx="960120" cy="457200"/>
          </a:xfrm>
          <a:prstGeom prst="rect">
            <a:avLst/>
          </a:prstGeom>
          <a:noFill/>
          <a:ln/>
        </p:spPr>
        <p:txBody>
          <a:bodyPr wrap="square" lIns="0" tIns="0" rIns="0" bIns="0" rtlCol="0" anchor="t"/>
          <a:lstStyle/>
          <a:p>
            <a:pPr algn="ctr" indent="0" marL="0">
              <a:buNone/>
            </a:pPr>
            <a:r>
              <a:rPr lang="en-US" sz="1100" dirty="0">
                <a:solidFill>
                  <a:srgbClr val="13294B"/>
                </a:solidFill>
                <a:latin typeface="Calibri" pitchFamily="34" charset="0"/>
                <a:ea typeface="Calibri" pitchFamily="34" charset="-122"/>
                <a:cs typeface="Calibri" pitchFamily="34" charset="-120"/>
              </a:rPr>
              <a:t>HTTPS on a new fault</a:t>
            </a:r>
            <a:endParaRPr lang="en-US" sz="1100" dirty="0"/>
          </a:p>
        </p:txBody>
      </p:sp>
      <p:sp>
        <p:nvSpPr>
          <p:cNvPr id="24" name="Shape 22"/>
          <p:cNvSpPr/>
          <p:nvPr/>
        </p:nvSpPr>
        <p:spPr>
          <a:xfrm>
            <a:off x="9372600" y="1234440"/>
            <a:ext cx="2270455" cy="2788920"/>
          </a:xfrm>
          <a:prstGeom prst="rect">
            <a:avLst/>
          </a:prstGeom>
          <a:solidFill>
            <a:srgbClr val="FFFFFF"/>
          </a:solidFill>
          <a:ln w="12700">
            <a:solidFill>
              <a:srgbClr val="13294B"/>
            </a:solidFill>
            <a:prstDash val="solid"/>
          </a:ln>
        </p:spPr>
      </p:sp>
      <p:sp>
        <p:nvSpPr>
          <p:cNvPr id="25" name="Shape 23"/>
          <p:cNvSpPr/>
          <p:nvPr/>
        </p:nvSpPr>
        <p:spPr>
          <a:xfrm>
            <a:off x="9372600" y="1234440"/>
            <a:ext cx="2270455" cy="365760"/>
          </a:xfrm>
          <a:prstGeom prst="rect">
            <a:avLst/>
          </a:prstGeom>
          <a:solidFill>
            <a:srgbClr val="13294B"/>
          </a:solidFill>
          <a:ln w="12700">
            <a:solidFill>
              <a:srgbClr val="13294B"/>
            </a:solidFill>
            <a:prstDash val="solid"/>
          </a:ln>
        </p:spPr>
      </p:sp>
      <p:sp>
        <p:nvSpPr>
          <p:cNvPr id="26" name="Text 24"/>
          <p:cNvSpPr txBox="1"/>
          <p:nvPr/>
        </p:nvSpPr>
        <p:spPr>
          <a:xfrm>
            <a:off x="9509760" y="1234440"/>
            <a:ext cx="2087575" cy="36576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CLOUD LAYER</a:t>
            </a:r>
            <a:endParaRPr lang="en-US" sz="1200" dirty="0"/>
          </a:p>
        </p:txBody>
      </p:sp>
      <p:sp>
        <p:nvSpPr>
          <p:cNvPr id="27" name="Text 25"/>
          <p:cNvSpPr txBox="1"/>
          <p:nvPr/>
        </p:nvSpPr>
        <p:spPr>
          <a:xfrm>
            <a:off x="9555480" y="1691640"/>
            <a:ext cx="1996135" cy="32004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Twilio SMS</a:t>
            </a:r>
            <a:endParaRPr lang="en-US" sz="1500" dirty="0"/>
          </a:p>
        </p:txBody>
      </p:sp>
      <p:sp>
        <p:nvSpPr>
          <p:cNvPr id="28" name="Text 26"/>
          <p:cNvSpPr txBox="1"/>
          <p:nvPr/>
        </p:nvSpPr>
        <p:spPr>
          <a:xfrm>
            <a:off x="9555480" y="2075688"/>
            <a:ext cx="1996135" cy="182880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374151"/>
                </a:solidFill>
                <a:latin typeface="Calibri" pitchFamily="34" charset="0"/>
                <a:ea typeface="Calibri" pitchFamily="34" charset="-122"/>
                <a:cs typeface="Calibri" pitchFamily="34" charset="-120"/>
              </a:rPr>
              <a:t>SMS to the maintenance engineer</a:t>
            </a:r>
            <a:endParaRPr lang="en-US" sz="1300" dirty="0"/>
          </a:p>
          <a:p>
            <a:pPr marL="177800" indent="-177800">
              <a:spcAft>
                <a:spcPts val="700"/>
              </a:spcAft>
              <a:buSzPct val="100000"/>
              <a:buChar char="•"/>
            </a:pPr>
            <a:r>
              <a:rPr lang="en-US" sz="1300" dirty="0">
                <a:solidFill>
                  <a:srgbClr val="374151"/>
                </a:solidFill>
                <a:latin typeface="Calibri" pitchFamily="34" charset="0"/>
                <a:ea typeface="Calibri" pitchFamily="34" charset="-122"/>
                <a:cs typeface="Calibri" pitchFamily="34" charset="-120"/>
              </a:rPr>
              <a:t>Pump ID, reading and map link</a:t>
            </a:r>
            <a:endParaRPr lang="en-US" sz="1300" dirty="0"/>
          </a:p>
          <a:p>
            <a:pPr marL="177800" indent="-177800">
              <a:spcAft>
                <a:spcPts val="700"/>
              </a:spcAft>
              <a:buSzPct val="100000"/>
              <a:buChar char="•"/>
            </a:pPr>
            <a:r>
              <a:rPr lang="en-US" sz="1300" dirty="0">
                <a:solidFill>
                  <a:srgbClr val="374151"/>
                </a:solidFill>
                <a:latin typeface="Calibri" pitchFamily="34" charset="0"/>
                <a:ea typeface="Calibri" pitchFamily="34" charset="-122"/>
                <a:cs typeface="Calibri" pitchFamily="34" charset="-120"/>
              </a:rPr>
              <a:t>Any phone, no app</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4251960"/>
          <a:ext cx="11094415" cy="914400"/>
        </p:xfrm>
        <a:graphic>
          <a:graphicData uri="http://schemas.openxmlformats.org/drawingml/2006/table">
            <a:tbl>
              <a:tblPr/>
              <a:tblGrid>
                <a:gridCol w="1645920"/>
                <a:gridCol w="2926080"/>
                <a:gridCol w="6519672"/>
              </a:tblGrid>
              <a:tr h="0">
                <a:tc>
                  <a:txBody>
                    <a:bodyPr/>
                    <a:lstStyle/>
                    <a:p>
                      <a:pPr indent="0" marL="0">
                        <a:buNone/>
                      </a:pPr>
                      <a:r>
                        <a:rPr lang="en-US" sz="1300" b="1" dirty="0">
                          <a:solidFill>
                            <a:srgbClr val="13294B"/>
                          </a:solidFill>
                          <a:latin typeface="Calibri" pitchFamily="34" charset="0"/>
                          <a:ea typeface="Calibri" pitchFamily="34" charset="-122"/>
                          <a:cs typeface="Calibri" pitchFamily="34" charset="-120"/>
                        </a:rPr>
                        <a:t>Link</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E7EBF1"/>
                    </a:solidFill>
                  </a:tcPr>
                </a:tc>
                <a:tc>
                  <a:txBody>
                    <a:bodyPr/>
                    <a:lstStyle/>
                    <a:p>
                      <a:pPr indent="0" marL="0">
                        <a:buNone/>
                      </a:pPr>
                      <a:r>
                        <a:rPr lang="en-US" sz="1300" b="1" dirty="0">
                          <a:solidFill>
                            <a:srgbClr val="13294B"/>
                          </a:solidFill>
                          <a:latin typeface="Calibri" pitchFamily="34" charset="0"/>
                          <a:ea typeface="Calibri" pitchFamily="34" charset="-122"/>
                          <a:cs typeface="Calibri" pitchFamily="34" charset="-120"/>
                        </a:rPr>
                        <a:t>Protocol</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E7EBF1"/>
                    </a:solidFill>
                  </a:tcPr>
                </a:tc>
                <a:tc>
                  <a:txBody>
                    <a:bodyPr/>
                    <a:lstStyle/>
                    <a:p>
                      <a:pPr indent="0" marL="0">
                        <a:buNone/>
                      </a:pPr>
                      <a:r>
                        <a:rPr lang="en-US" sz="1300" b="1" dirty="0">
                          <a:solidFill>
                            <a:srgbClr val="13294B"/>
                          </a:solidFill>
                          <a:latin typeface="Calibri" pitchFamily="34" charset="0"/>
                          <a:ea typeface="Calibri" pitchFamily="34" charset="-122"/>
                          <a:cs typeface="Calibri" pitchFamily="34" charset="-120"/>
                        </a:rPr>
                        <a:t>Data exchanged</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E7EBF1"/>
                    </a:solidFill>
                  </a:tcPr>
                </a:tc>
              </a:tr>
              <a:tr h="0">
                <a:tc>
                  <a:txBody>
                    <a:bodyPr/>
                    <a:lstStyle/>
                    <a:p>
                      <a:pPr indent="0" marL="0">
                        <a:buNone/>
                      </a:pPr>
                      <a:r>
                        <a:rPr lang="en-US" sz="1300" b="1" dirty="0">
                          <a:solidFill>
                            <a:srgbClr val="374151"/>
                          </a:solidFill>
                          <a:latin typeface="Calibri" pitchFamily="34" charset="0"/>
                          <a:ea typeface="Calibri" pitchFamily="34" charset="-122"/>
                          <a:cs typeface="Calibri" pitchFamily="34" charset="-120"/>
                        </a:rPr>
                        <a:t>ESP32 → Fog</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HTTP POST over Wi-Fi, JSON</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One reading per second with pump ID and location; buffered batch after an outage; alert on CRITICAL</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374151"/>
                          </a:solidFill>
                          <a:latin typeface="Calibri" pitchFamily="34" charset="0"/>
                          <a:ea typeface="Calibri" pitchFamily="34" charset="-122"/>
                          <a:cs typeface="Calibri" pitchFamily="34" charset="-120"/>
                        </a:rPr>
                        <a:t>Fog → ESP32</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Reply to the same HTTP request</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Restart command after a motor trip</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374151"/>
                          </a:solidFill>
                          <a:latin typeface="Calibri" pitchFamily="34" charset="0"/>
                          <a:ea typeface="Calibri" pitchFamily="34" charset="-122"/>
                          <a:cs typeface="Calibri" pitchFamily="34" charset="-120"/>
                        </a:rPr>
                        <a:t>Fog → Cloud</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HTTPS, Twilio REST API</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SMS request on each new fault</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374151"/>
                          </a:solidFill>
                          <a:latin typeface="Calibri" pitchFamily="34" charset="0"/>
                          <a:ea typeface="Calibri" pitchFamily="34" charset="-122"/>
                          <a:cs typeface="Calibri" pitchFamily="34" charset="-120"/>
                        </a:rPr>
                        <a:t>Browser → Fog</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HTTP on the LAN, port 5001</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Dashboard and status every second</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1"/>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685800"/>
          </a:xfrm>
          <a:prstGeom prst="rect">
            <a:avLst/>
          </a:prstGeom>
          <a:noFill/>
          <a:ln/>
        </p:spPr>
        <p:txBody>
          <a:bodyPr wrap="square" lIns="0" tIns="0" rIns="0" bIns="0" rtlCol="0" anchor="ctr"/>
          <a:lstStyle/>
          <a:p>
            <a:pPr algn="l" indent="0" marL="0">
              <a:buNone/>
            </a:pPr>
            <a:r>
              <a:rPr lang="en-US" sz="2800" b="1" dirty="0">
                <a:solidFill>
                  <a:srgbClr val="13294B"/>
                </a:solidFill>
                <a:latin typeface="Calibri" pitchFamily="34" charset="0"/>
                <a:ea typeface="Calibri" pitchFamily="34" charset="-122"/>
                <a:cs typeface="Calibri" pitchFamily="34" charset="-120"/>
              </a:rPr>
              <a:t>Hardware Components and Interfacing</a:t>
            </a:r>
            <a:endParaRPr lang="en-US" sz="28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94415" cy="914400"/>
        </p:xfrm>
        <a:graphic>
          <a:graphicData uri="http://schemas.openxmlformats.org/drawingml/2006/table">
            <a:tbl>
              <a:tblPr/>
              <a:tblGrid>
                <a:gridCol w="2103120"/>
                <a:gridCol w="3429000"/>
                <a:gridCol w="4343400"/>
                <a:gridCol w="1216152"/>
              </a:tblGrid>
              <a:tr h="384048">
                <a:tc>
                  <a:txBody>
                    <a:bodyPr/>
                    <a:lstStyle/>
                    <a:p>
                      <a:pPr indent="0" marL="0">
                        <a:buNone/>
                      </a:pPr>
                      <a:r>
                        <a:rPr lang="en-US" sz="1300" b="1" dirty="0">
                          <a:solidFill>
                            <a:srgbClr val="13294B"/>
                          </a:solidFill>
                          <a:latin typeface="Calibri" pitchFamily="34" charset="0"/>
                          <a:ea typeface="Calibri" pitchFamily="34" charset="-122"/>
                          <a:cs typeface="Calibri" pitchFamily="34" charset="-120"/>
                        </a:rPr>
                        <a:t>Component</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E7EBF1"/>
                    </a:solidFill>
                  </a:tcPr>
                </a:tc>
                <a:tc>
                  <a:txBody>
                    <a:bodyPr/>
                    <a:lstStyle/>
                    <a:p>
                      <a:pPr indent="0" marL="0">
                        <a:buNone/>
                      </a:pPr>
                      <a:r>
                        <a:rPr lang="en-US" sz="1300" b="1" dirty="0">
                          <a:solidFill>
                            <a:srgbClr val="13294B"/>
                          </a:solidFill>
                          <a:latin typeface="Calibri" pitchFamily="34" charset="0"/>
                          <a:ea typeface="Calibri" pitchFamily="34" charset="-122"/>
                          <a:cs typeface="Calibri" pitchFamily="34" charset="-120"/>
                        </a:rPr>
                        <a:t>Function</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E7EBF1"/>
                    </a:solidFill>
                  </a:tcPr>
                </a:tc>
                <a:tc>
                  <a:txBody>
                    <a:bodyPr/>
                    <a:lstStyle/>
                    <a:p>
                      <a:pPr indent="0" marL="0">
                        <a:buNone/>
                      </a:pPr>
                      <a:r>
                        <a:rPr lang="en-US" sz="1300" b="1" dirty="0">
                          <a:solidFill>
                            <a:srgbClr val="13294B"/>
                          </a:solidFill>
                          <a:latin typeface="Calibri" pitchFamily="34" charset="0"/>
                          <a:ea typeface="Calibri" pitchFamily="34" charset="-122"/>
                          <a:cs typeface="Calibri" pitchFamily="34" charset="-120"/>
                        </a:rPr>
                        <a:t>Connection to ESP32</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E7EBF1"/>
                    </a:solidFill>
                  </a:tcPr>
                </a:tc>
                <a:tc>
                  <a:txBody>
                    <a:bodyPr/>
                    <a:lstStyle/>
                    <a:p>
                      <a:pPr indent="0" marL="0">
                        <a:buNone/>
                      </a:pPr>
                      <a:r>
                        <a:rPr lang="en-US" sz="1300" b="1" dirty="0">
                          <a:solidFill>
                            <a:srgbClr val="13294B"/>
                          </a:solidFill>
                          <a:latin typeface="Calibri" pitchFamily="34" charset="0"/>
                          <a:ea typeface="Calibri" pitchFamily="34" charset="-122"/>
                          <a:cs typeface="Calibri" pitchFamily="34" charset="-120"/>
                        </a:rPr>
                        <a:t>Approx. cost (₹)</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E7EBF1"/>
                    </a:solidFill>
                  </a:tcPr>
                </a:tc>
              </a:tr>
              <a:tr h="384048">
                <a:tc>
                  <a:txBody>
                    <a:bodyPr/>
                    <a:lstStyle/>
                    <a:p>
                      <a:pPr indent="0" marL="0">
                        <a:buNone/>
                      </a:pPr>
                      <a:r>
                        <a:rPr lang="en-US" sz="1300" b="1" dirty="0">
                          <a:solidFill>
                            <a:srgbClr val="374151"/>
                          </a:solidFill>
                          <a:latin typeface="Calibri" pitchFamily="34" charset="0"/>
                          <a:ea typeface="Calibri" pitchFamily="34" charset="-122"/>
                          <a:cs typeface="Calibri" pitchFamily="34" charset="-120"/>
                        </a:rPr>
                        <a:t>ESP32 DevKit</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Edge controller with built-in Wi-Fi</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Main controller, USB powered</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400</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r h="384048">
                <a:tc>
                  <a:txBody>
                    <a:bodyPr/>
                    <a:lstStyle/>
                    <a:p>
                      <a:pPr indent="0" marL="0">
                        <a:buNone/>
                      </a:pPr>
                      <a:r>
                        <a:rPr lang="en-US" sz="1300" b="1" dirty="0">
                          <a:solidFill>
                            <a:srgbClr val="374151"/>
                          </a:solidFill>
                          <a:latin typeface="Calibri" pitchFamily="34" charset="0"/>
                          <a:ea typeface="Calibri" pitchFamily="34" charset="-122"/>
                          <a:cs typeface="Calibri" pitchFamily="34" charset="-120"/>
                        </a:rPr>
                        <a:t>MPU6050</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3-axis accelerometer, ±2 g range</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I²C: SDA GPIO 21, SCL GPIO 22, address 0x68</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150</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r h="384048">
                <a:tc>
                  <a:txBody>
                    <a:bodyPr/>
                    <a:lstStyle/>
                    <a:p>
                      <a:pPr indent="0" marL="0">
                        <a:buNone/>
                      </a:pPr>
                      <a:r>
                        <a:rPr lang="en-US" sz="1300" b="1" dirty="0">
                          <a:solidFill>
                            <a:srgbClr val="374151"/>
                          </a:solidFill>
                          <a:latin typeface="Calibri" pitchFamily="34" charset="0"/>
                          <a:ea typeface="Calibri" pitchFamily="34" charset="-122"/>
                          <a:cs typeface="Calibri" pitchFamily="34" charset="-120"/>
                        </a:rPr>
                        <a:t>NEO-6M GPS (new)</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CEFE7"/>
                    </a:solidFill>
                  </a:tcPr>
                </a:tc>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Position of the pump</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CEFE7"/>
                    </a:solidFill>
                  </a:tcPr>
                </a:tc>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UART2: GPS TX → GPIO 16, GPS RX → GPIO 17, 9600 baud</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CEFE7"/>
                    </a:solidFill>
                  </a:tcPr>
                </a:tc>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350</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CEFE7"/>
                    </a:solidFill>
                  </a:tcPr>
                </a:tc>
              </a:tr>
              <a:tr h="384048">
                <a:tc>
                  <a:txBody>
                    <a:bodyPr/>
                    <a:lstStyle/>
                    <a:p>
                      <a:pPr indent="0" marL="0">
                        <a:buNone/>
                      </a:pPr>
                      <a:r>
                        <a:rPr lang="en-US" sz="1300" b="1" dirty="0">
                          <a:solidFill>
                            <a:srgbClr val="374151"/>
                          </a:solidFill>
                          <a:latin typeface="Calibri" pitchFamily="34" charset="0"/>
                          <a:ea typeface="Calibri" pitchFamily="34" charset="-122"/>
                          <a:cs typeface="Calibri" pitchFamily="34" charset="-120"/>
                        </a:rPr>
                        <a:t>16×2 LCD with I²C</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Reading, speed, state, buffered count</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Shared I²C bus, address 0x27</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200</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r h="384048">
                <a:tc>
                  <a:txBody>
                    <a:bodyPr/>
                    <a:lstStyle/>
                    <a:p>
                      <a:pPr indent="0" marL="0">
                        <a:buNone/>
                      </a:pPr>
                      <a:r>
                        <a:rPr lang="en-US" sz="1300" b="1" dirty="0">
                          <a:solidFill>
                            <a:srgbClr val="374151"/>
                          </a:solidFill>
                          <a:latin typeface="Calibri" pitchFamily="34" charset="0"/>
                          <a:ea typeface="Calibri" pitchFamily="34" charset="-122"/>
                          <a:cs typeface="Calibri" pitchFamily="34" charset="-120"/>
                        </a:rPr>
                        <a:t>Potentiometer</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Sets motor speed; turning to zero resets a trip</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GPIO 34 (ADC input)</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20</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r h="384048">
                <a:tc>
                  <a:txBody>
                    <a:bodyPr/>
                    <a:lstStyle/>
                    <a:p>
                      <a:pPr indent="0" marL="0">
                        <a:buNone/>
                      </a:pPr>
                      <a:r>
                        <a:rPr lang="en-US" sz="1300" b="1" dirty="0">
                          <a:solidFill>
                            <a:srgbClr val="374151"/>
                          </a:solidFill>
                          <a:latin typeface="Calibri" pitchFamily="34" charset="0"/>
                          <a:ea typeface="Calibri" pitchFamily="34" charset="-122"/>
                          <a:cs typeface="Calibri" pitchFamily="34" charset="-120"/>
                        </a:rPr>
                        <a:t>L298N motor driver</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Drives the motor; trip sets PWM to 0</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ENA GPIO 25 (PWM), IN1 GPIO 26, IN2 GPIO 27</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150</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r h="384048">
                <a:tc>
                  <a:txBody>
                    <a:bodyPr/>
                    <a:lstStyle/>
                    <a:p>
                      <a:pPr indent="0" marL="0">
                        <a:buNone/>
                      </a:pPr>
                      <a:r>
                        <a:rPr lang="en-US" sz="1300" b="1" dirty="0">
                          <a:solidFill>
                            <a:srgbClr val="374151"/>
                          </a:solidFill>
                          <a:latin typeface="Calibri" pitchFamily="34" charset="0"/>
                          <a:ea typeface="Calibri" pitchFamily="34" charset="-122"/>
                          <a:cs typeface="Calibri" pitchFamily="34" charset="-120"/>
                        </a:rPr>
                        <a:t>DC motor</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Stands in for the pump motor</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L298N output terminals</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r h="384048">
                <a:tc>
                  <a:txBody>
                    <a:bodyPr/>
                    <a:lstStyle/>
                    <a:p>
                      <a:pPr indent="0" marL="0">
                        <a:buNone/>
                      </a:pPr>
                      <a:r>
                        <a:rPr lang="en-US" sz="1300" b="1" dirty="0">
                          <a:solidFill>
                            <a:srgbClr val="374151"/>
                          </a:solidFill>
                          <a:latin typeface="Calibri" pitchFamily="34" charset="0"/>
                          <a:ea typeface="Calibri" pitchFamily="34" charset="-122"/>
                          <a:cs typeface="Calibri" pitchFamily="34" charset="-120"/>
                        </a:rPr>
                        <a:t>Buzzer</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2 kHz on CRITICAL, short beeps while tripped</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GPIO 32</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20</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r h="384048">
                <a:tc>
                  <a:txBody>
                    <a:bodyPr/>
                    <a:lstStyle/>
                    <a:p>
                      <a:pPr indent="0" marL="0">
                        <a:buNone/>
                      </a:pPr>
                      <a:r>
                        <a:rPr lang="en-US" sz="1300" b="1" dirty="0">
                          <a:solidFill>
                            <a:srgbClr val="374151"/>
                          </a:solidFill>
                          <a:latin typeface="Calibri" pitchFamily="34" charset="0"/>
                          <a:ea typeface="Calibri" pitchFamily="34" charset="-122"/>
                          <a:cs typeface="Calibri" pitchFamily="34" charset="-120"/>
                        </a:rPr>
                        <a:t>Total per node</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300" b="1" dirty="0">
                          <a:solidFill>
                            <a:srgbClr val="374151"/>
                          </a:solidFill>
                          <a:latin typeface="Calibri" pitchFamily="34" charset="0"/>
                          <a:ea typeface="Calibri" pitchFamily="34" charset="-122"/>
                          <a:cs typeface="Calibri" pitchFamily="34" charset="-120"/>
                        </a:rPr>
                        <a:t>about 1,400</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5715000"/>
            <a:ext cx="11094415" cy="548640"/>
          </a:xfrm>
          <a:prstGeom prst="rect">
            <a:avLst/>
          </a:prstGeom>
          <a:noFill/>
          <a:ln/>
        </p:spPr>
        <p:txBody>
          <a:bodyPr wrap="square" lIns="0" tIns="0" rIns="0" bIns="0" rtlCol="0" anchor="t"/>
          <a:lstStyle/>
          <a:p>
            <a:pPr indent="0" marL="0">
              <a:buNone/>
            </a:pPr>
            <a:r>
              <a:rPr lang="en-US" sz="1300" dirty="0">
                <a:solidFill>
                  <a:srgbClr val="5B6472"/>
                </a:solidFill>
                <a:latin typeface="Calibri" pitchFamily="34" charset="0"/>
                <a:ea typeface="Calibri" pitchFamily="34" charset="-122"/>
                <a:cs typeface="Calibri" pitchFamily="34" charset="-120"/>
              </a:rPr>
              <a:t>Prices are approximate retail prices for hobby modules. The motor trip uses the existing L298N enable pin, so it needed no extra hardware. On a real pump the L298N is replaced by a relay driving the motor contactor.</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1"/>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685800"/>
          </a:xfrm>
          <a:prstGeom prst="rect">
            <a:avLst/>
          </a:prstGeom>
          <a:noFill/>
          <a:ln/>
        </p:spPr>
        <p:txBody>
          <a:bodyPr wrap="square" lIns="0" tIns="0" rIns="0" bIns="0" rtlCol="0" anchor="ctr"/>
          <a:lstStyle/>
          <a:p>
            <a:pPr algn="l" indent="0" marL="0">
              <a:buNone/>
            </a:pPr>
            <a:r>
              <a:rPr lang="en-US" sz="2800" b="1" dirty="0">
                <a:solidFill>
                  <a:srgbClr val="13294B"/>
                </a:solidFill>
                <a:latin typeface="Calibri" pitchFamily="34" charset="0"/>
                <a:ea typeface="Calibri" pitchFamily="34" charset="-122"/>
                <a:cs typeface="Calibri" pitchFamily="34" charset="-120"/>
              </a:rPr>
              <a:t>Software Stack and Interfaces</a:t>
            </a:r>
            <a:endParaRPr lang="en-US" sz="2800" dirty="0"/>
          </a:p>
        </p:txBody>
      </p:sp>
      <p:sp>
        <p:nvSpPr>
          <p:cNvPr id="3" name="Text 1"/>
          <p:cNvSpPr txBox="1"/>
          <p:nvPr/>
        </p:nvSpPr>
        <p:spPr>
          <a:xfrm>
            <a:off x="548640" y="1234440"/>
            <a:ext cx="5394960" cy="320040"/>
          </a:xfrm>
          <a:prstGeom prst="rect">
            <a:avLst/>
          </a:prstGeom>
          <a:noFill/>
          <a:ln/>
        </p:spPr>
        <p:txBody>
          <a:bodyPr wrap="square" lIns="0" tIns="0" rIns="0" bIns="0" rtlCol="0" anchor="t"/>
          <a:lstStyle/>
          <a:p>
            <a:pPr indent="0" marL="0">
              <a:buNone/>
            </a:pPr>
            <a:r>
              <a:rPr lang="en-US" sz="1600" b="1" dirty="0">
                <a:solidFill>
                  <a:srgbClr val="13294B"/>
                </a:solidFill>
                <a:latin typeface="Calibri" pitchFamily="34" charset="0"/>
                <a:ea typeface="Calibri" pitchFamily="34" charset="-122"/>
                <a:cs typeface="Calibri" pitchFamily="34" charset="-120"/>
              </a:rPr>
              <a:t>Technologies used</a:t>
            </a:r>
            <a:endParaRPr lang="en-US" sz="1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5394960" cy="914400"/>
        </p:xfrm>
        <a:graphic>
          <a:graphicData uri="http://schemas.openxmlformats.org/drawingml/2006/table">
            <a:tbl>
              <a:tblPr/>
              <a:tblGrid>
                <a:gridCol w="1463040"/>
                <a:gridCol w="3931920"/>
              </a:tblGrid>
              <a:tr h="0">
                <a:tc>
                  <a:txBody>
                    <a:bodyPr/>
                    <a:lstStyle/>
                    <a:p>
                      <a:pPr indent="0" marL="0">
                        <a:buNone/>
                      </a:pPr>
                      <a:r>
                        <a:rPr lang="en-US" sz="1300" b="1" dirty="0">
                          <a:solidFill>
                            <a:srgbClr val="13294B"/>
                          </a:solidFill>
                          <a:latin typeface="Calibri" pitchFamily="34" charset="0"/>
                          <a:ea typeface="Calibri" pitchFamily="34" charset="-122"/>
                          <a:cs typeface="Calibri" pitchFamily="34" charset="-120"/>
                        </a:rPr>
                        <a:t>Layer</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E7EBF1"/>
                    </a:solidFill>
                  </a:tcPr>
                </a:tc>
                <a:tc>
                  <a:txBody>
                    <a:bodyPr/>
                    <a:lstStyle/>
                    <a:p>
                      <a:pPr indent="0" marL="0">
                        <a:buNone/>
                      </a:pPr>
                      <a:r>
                        <a:rPr lang="en-US" sz="1300" b="1" dirty="0">
                          <a:solidFill>
                            <a:srgbClr val="13294B"/>
                          </a:solidFill>
                          <a:latin typeface="Calibri" pitchFamily="34" charset="0"/>
                          <a:ea typeface="Calibri" pitchFamily="34" charset="-122"/>
                          <a:cs typeface="Calibri" pitchFamily="34" charset="-120"/>
                        </a:rPr>
                        <a:t>Technology</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E7EBF1"/>
                    </a:solidFill>
                  </a:tcPr>
                </a:tc>
              </a:tr>
              <a:tr h="0">
                <a:tc>
                  <a:txBody>
                    <a:bodyPr/>
                    <a:lstStyle/>
                    <a:p>
                      <a:pPr indent="0" marL="0">
                        <a:buNone/>
                      </a:pPr>
                      <a:r>
                        <a:rPr lang="en-US" sz="1300" b="1" dirty="0">
                          <a:solidFill>
                            <a:srgbClr val="374151"/>
                          </a:solidFill>
                          <a:latin typeface="Calibri" pitchFamily="34" charset="0"/>
                          <a:ea typeface="Calibri" pitchFamily="34" charset="-122"/>
                          <a:cs typeface="Calibri" pitchFamily="34" charset="-120"/>
                        </a:rPr>
                        <a:t>Edge firmware</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Arduino C++ on ESP32; WiFi, HTTPClient, Wire, LiquidCrystal_I2C, TinyGPSPlus</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374151"/>
                          </a:solidFill>
                          <a:latin typeface="Calibri" pitchFamily="34" charset="0"/>
                          <a:ea typeface="Calibri" pitchFamily="34" charset="-122"/>
                          <a:cs typeface="Calibri" pitchFamily="34" charset="-120"/>
                        </a:rPr>
                        <a:t>Fog server</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Python 3, Flask (multi-threaded), python-dotenv, twilio</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374151"/>
                          </a:solidFill>
                          <a:latin typeface="Calibri" pitchFamily="34" charset="0"/>
                          <a:ea typeface="Calibri" pitchFamily="34" charset="-122"/>
                          <a:cs typeface="Calibri" pitchFamily="34" charset="-120"/>
                        </a:rPr>
                        <a:t>Dashboard</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HTML, CSS, JavaScript; Chart.js and Leaflet served locally; OpenStreetMap tiles</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374151"/>
                          </a:solidFill>
                          <a:latin typeface="Calibri" pitchFamily="34" charset="0"/>
                          <a:ea typeface="Calibri" pitchFamily="34" charset="-122"/>
                          <a:cs typeface="Calibri" pitchFamily="34" charset="-120"/>
                        </a:rPr>
                        <a:t>Alerts</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Twilio Programmable SMS (REST API)</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374151"/>
                          </a:solidFill>
                          <a:latin typeface="Calibri" pitchFamily="34" charset="0"/>
                          <a:ea typeface="Calibri" pitchFamily="34" charset="-122"/>
                          <a:cs typeface="Calibri" pitchFamily="34" charset="-120"/>
                        </a:rPr>
                        <a:t>Data</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JSON over HTTP; fault recordings as CSV</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6263640" y="1234440"/>
            <a:ext cx="5376672" cy="320040"/>
          </a:xfrm>
          <a:prstGeom prst="rect">
            <a:avLst/>
          </a:prstGeom>
          <a:noFill/>
          <a:ln/>
        </p:spPr>
        <p:txBody>
          <a:bodyPr wrap="square" lIns="0" tIns="0" rIns="0" bIns="0" rtlCol="0" anchor="t"/>
          <a:lstStyle/>
          <a:p>
            <a:pPr indent="0" marL="0">
              <a:buNone/>
            </a:pPr>
            <a:r>
              <a:rPr lang="en-US" sz="1600" b="1" dirty="0">
                <a:solidFill>
                  <a:srgbClr val="13294B"/>
                </a:solidFill>
                <a:latin typeface="Calibri" pitchFamily="34" charset="0"/>
                <a:ea typeface="Calibri" pitchFamily="34" charset="-122"/>
                <a:cs typeface="Calibri" pitchFamily="34" charset="-120"/>
              </a:rPr>
              <a:t>Fog server endpoints</a:t>
            </a:r>
            <a:endParaRPr lang="en-US" sz="1600" dirty="0"/>
          </a:p>
        </p:txBody>
      </p:sp>
      <p:graphicFrame>
        <p:nvGraphicFramePr>
          <p:cNvPr id="21" name="Table 1"/>
          <p:cNvGraphicFramePr>
            <a:graphicFrameLocks noGrp="1"/>
          </p:cNvGraphicFramePr>
          <p:nvPr>
            <p:extLst>
              <p:ext uri="{D42A27DB-BD31-4B8C-83A1-F6EECF244321}">
                <p14:modId xmlns:p14="http://schemas.microsoft.com/office/powerpoint/2010/main" val="1579011935"/>
              </p:ext>
            </p:extLst>
          </p:nvPr>
        </p:nvGraphicFramePr>
        <p:xfrm>
          <a:off x="6263640" y="1645920"/>
          <a:ext cx="5376672" cy="914400"/>
        </p:xfrm>
        <a:graphic>
          <a:graphicData uri="http://schemas.openxmlformats.org/drawingml/2006/table">
            <a:tbl>
              <a:tblPr/>
              <a:tblGrid>
                <a:gridCol w="1828800"/>
                <a:gridCol w="3547872"/>
              </a:tblGrid>
              <a:tr h="0">
                <a:tc>
                  <a:txBody>
                    <a:bodyPr/>
                    <a:lstStyle/>
                    <a:p>
                      <a:pPr indent="0" marL="0">
                        <a:buNone/>
                      </a:pPr>
                      <a:r>
                        <a:rPr lang="en-US" sz="1300" b="1" dirty="0">
                          <a:solidFill>
                            <a:srgbClr val="13294B"/>
                          </a:solidFill>
                          <a:latin typeface="Calibri" pitchFamily="34" charset="0"/>
                          <a:ea typeface="Calibri" pitchFamily="34" charset="-122"/>
                          <a:cs typeface="Calibri" pitchFamily="34" charset="-120"/>
                        </a:rPr>
                        <a:t>Endpoint</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E7EBF1"/>
                    </a:solidFill>
                  </a:tcPr>
                </a:tc>
                <a:tc>
                  <a:txBody>
                    <a:bodyPr/>
                    <a:lstStyle/>
                    <a:p>
                      <a:pPr indent="0" marL="0">
                        <a:buNone/>
                      </a:pPr>
                      <a:r>
                        <a:rPr lang="en-US" sz="1300" b="1" dirty="0">
                          <a:solidFill>
                            <a:srgbClr val="13294B"/>
                          </a:solidFill>
                          <a:latin typeface="Calibri" pitchFamily="34" charset="0"/>
                          <a:ea typeface="Calibri" pitchFamily="34" charset="-122"/>
                          <a:cs typeface="Calibri" pitchFamily="34" charset="-120"/>
                        </a:rPr>
                        <a:t>Purpose</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E7EBF1"/>
                    </a:solidFill>
                  </a:tcPr>
                </a:tc>
              </a:tr>
              <a:tr h="0">
                <a:tc>
                  <a:txBody>
                    <a:bodyPr/>
                    <a:lstStyle/>
                    <a:p>
                      <a:pPr indent="0" marL="0">
                        <a:buNone/>
                      </a:pPr>
                      <a:r>
                        <a:rPr lang="en-US" sz="1300" b="1" dirty="0">
                          <a:solidFill>
                            <a:srgbClr val="374151"/>
                          </a:solidFill>
                          <a:latin typeface="Calibri" pitchFamily="34" charset="0"/>
                          <a:ea typeface="Calibri" pitchFamily="34" charset="-122"/>
                          <a:cs typeface="Calibri" pitchFamily="34" charset="-120"/>
                        </a:rPr>
                        <a:t>POST /data</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Reading every second (ID, location, motor state)</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374151"/>
                          </a:solidFill>
                          <a:latin typeface="Calibri" pitchFamily="34" charset="0"/>
                          <a:ea typeface="Calibri" pitchFamily="34" charset="-122"/>
                          <a:cs typeface="Calibri" pitchFamily="34" charset="-120"/>
                        </a:rPr>
                        <a:t>POST /data/batch</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Readings buffered during an outage</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374151"/>
                          </a:solidFill>
                          <a:latin typeface="Calibri" pitchFamily="34" charset="0"/>
                          <a:ea typeface="Calibri" pitchFamily="34" charset="-122"/>
                          <a:cs typeface="Calibri" pitchFamily="34" charset="-120"/>
                        </a:rPr>
                        <a:t>POST /alert</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Critical alert; triggers the SMS</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374151"/>
                          </a:solidFill>
                          <a:latin typeface="Calibri" pitchFamily="34" charset="0"/>
                          <a:ea typeface="Calibri" pitchFamily="34" charset="-122"/>
                          <a:cs typeface="Calibri" pitchFamily="34" charset="-120"/>
                        </a:rPr>
                        <a:t>GET /api/status</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Fleet list and the selected pump's data</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374151"/>
                          </a:solidFill>
                          <a:latin typeface="Calibri" pitchFamily="34" charset="0"/>
                          <a:ea typeface="Calibri" pitchFamily="34" charset="-122"/>
                          <a:cs typeface="Calibri" pitchFamily="34" charset="-120"/>
                        </a:rPr>
                        <a:t>POST /api/command</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Restart a tripped motor</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374151"/>
                          </a:solidFill>
                          <a:latin typeface="Calibri" pitchFamily="34" charset="0"/>
                          <a:ea typeface="Calibri" pitchFamily="34" charset="-122"/>
                          <a:cs typeface="Calibri" pitchFamily="34" charset="-120"/>
                        </a:rPr>
                        <a:t>GET /faults/…</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Download a fault recording CSV</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374151"/>
                          </a:solidFill>
                          <a:latin typeface="Calibri" pitchFamily="34" charset="0"/>
                          <a:ea typeface="Calibri" pitchFamily="34" charset="-122"/>
                          <a:cs typeface="Calibri" pitchFamily="34" charset="-120"/>
                        </a:rPr>
                        <a:t>/test-sms</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Manual SMS test from the dashboard</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bl>
          </a:graphicData>
        </a:graphic>
      </p:graphicFrame>
      <p:sp>
        <p:nvSpPr>
          <p:cNvPr id="7" name="Text 3"/>
          <p:cNvSpPr txBox="1"/>
          <p:nvPr/>
        </p:nvSpPr>
        <p:spPr>
          <a:xfrm>
            <a:off x="548640" y="4663440"/>
            <a:ext cx="11094415" cy="457200"/>
          </a:xfrm>
          <a:prstGeom prst="rect">
            <a:avLst/>
          </a:prstGeom>
          <a:noFill/>
          <a:ln/>
        </p:spPr>
        <p:txBody>
          <a:bodyPr wrap="square" lIns="0" tIns="0" rIns="0" bIns="0" rtlCol="0" anchor="t"/>
          <a:lstStyle/>
          <a:p>
            <a:pPr indent="0" marL="0">
              <a:buNone/>
            </a:pPr>
            <a:r>
              <a:rPr lang="en-US" sz="1400" dirty="0">
                <a:solidFill>
                  <a:srgbClr val="5B6472"/>
                </a:solidFill>
                <a:latin typeface="Calibri" pitchFamily="34" charset="0"/>
                <a:ea typeface="Calibri" pitchFamily="34" charset="-122"/>
                <a:cs typeface="Calibri" pitchFamily="34" charset="-120"/>
              </a:rPr>
              <a:t>Twilio credentials are kept in a .env file on the fog server. They are never in the source code, the Git repository or the ESP32.</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1"/>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685800"/>
          </a:xfrm>
          <a:prstGeom prst="rect">
            <a:avLst/>
          </a:prstGeom>
          <a:noFill/>
          <a:ln/>
        </p:spPr>
        <p:txBody>
          <a:bodyPr wrap="square" lIns="0" tIns="0" rIns="0" bIns="0" rtlCol="0" anchor="ctr"/>
          <a:lstStyle/>
          <a:p>
            <a:pPr algn="l" indent="0" marL="0">
              <a:buNone/>
            </a:pPr>
            <a:r>
              <a:rPr lang="en-US" sz="2800" b="1" dirty="0">
                <a:solidFill>
                  <a:srgbClr val="13294B"/>
                </a:solidFill>
                <a:latin typeface="Calibri" pitchFamily="34" charset="0"/>
                <a:ea typeface="Calibri" pitchFamily="34" charset="-122"/>
                <a:cs typeface="Calibri" pitchFamily="34" charset="-120"/>
              </a:rPr>
              <a:t>Detection Method and Motor Protection</a:t>
            </a:r>
            <a:endParaRPr lang="en-US" sz="2800" dirty="0"/>
          </a:p>
        </p:txBody>
      </p:sp>
      <p:sp>
        <p:nvSpPr>
          <p:cNvPr id="3" name="Shape 1"/>
          <p:cNvSpPr/>
          <p:nvPr/>
        </p:nvSpPr>
        <p:spPr>
          <a:xfrm>
            <a:off x="548640" y="1280160"/>
            <a:ext cx="5212080" cy="822960"/>
          </a:xfrm>
          <a:prstGeom prst="roundRect">
            <a:avLst>
              <a:gd name="adj" fmla="val 8889"/>
            </a:avLst>
          </a:prstGeom>
          <a:solidFill>
            <a:srgbClr val="F3F5F8"/>
          </a:solidFill>
          <a:ln w="12700">
            <a:solidFill>
              <a:srgbClr val="E3E7ED"/>
            </a:solidFill>
            <a:prstDash val="solid"/>
          </a:ln>
        </p:spPr>
      </p:sp>
      <p:sp>
        <p:nvSpPr>
          <p:cNvPr id="4" name="Text 2"/>
          <p:cNvSpPr/>
          <p:nvPr/>
        </p:nvSpPr>
        <p:spPr>
          <a:xfrm>
            <a:off x="548640" y="1280160"/>
            <a:ext cx="5212080" cy="822960"/>
          </a:xfrm>
          <a:prstGeom prst="rect">
            <a:avLst/>
          </a:prstGeom>
          <a:noFill/>
          <a:ln/>
        </p:spPr>
        <p:txBody>
          <a:bodyPr wrap="square" lIns="0" tIns="0" rIns="0" bIns="0" rtlCol="0" anchor="ctr"/>
          <a:lstStyle/>
          <a:p>
            <a:pPr algn="ctr" indent="0" marL="0">
              <a:buNone/>
            </a:pPr>
            <a:r>
              <a:rPr lang="en-US" sz="2400" dirty="0">
                <a:solidFill>
                  <a:srgbClr val="1F2937"/>
                </a:solidFill>
                <a:latin typeface="Cambria" pitchFamily="34" charset="0"/>
                <a:ea typeface="Cambria" pitchFamily="34" charset="-122"/>
                <a:cs typeface="Cambria" pitchFamily="34" charset="-120"/>
              </a:rPr>
              <a:t>v = | √(ax² + ay² + az²) − 1 g |</a:t>
            </a:r>
            <a:endParaRPr lang="en-US" sz="2400" dirty="0"/>
          </a:p>
        </p:txBody>
      </p:sp>
      <p:sp>
        <p:nvSpPr>
          <p:cNvPr id="5" name="Text 3"/>
          <p:cNvSpPr txBox="1"/>
          <p:nvPr/>
        </p:nvSpPr>
        <p:spPr>
          <a:xfrm>
            <a:off x="548640" y="2331720"/>
            <a:ext cx="5212080" cy="2743200"/>
          </a:xfrm>
          <a:prstGeom prst="rect">
            <a:avLst/>
          </a:prstGeom>
          <a:noFill/>
          <a:ln/>
        </p:spPr>
        <p:txBody>
          <a:bodyPr wrap="square" lIns="0" tIns="0" rIns="0" bIns="0" rtlCol="0" anchor="t"/>
          <a:lstStyle/>
          <a:p>
            <a:pPr marL="177800" indent="-177800">
              <a:spcAft>
                <a:spcPts val="700"/>
              </a:spcAft>
              <a:buSzPct val="100000"/>
              <a:buChar char="•"/>
            </a:pPr>
            <a:r>
              <a:rPr lang="en-US" sz="1500" dirty="0">
                <a:solidFill>
                  <a:srgbClr val="374151"/>
                </a:solidFill>
                <a:latin typeface="Calibri" pitchFamily="34" charset="0"/>
                <a:ea typeface="Calibri" pitchFamily="34" charset="-122"/>
                <a:cs typeface="Calibri" pitchFamily="34" charset="-120"/>
              </a:rPr>
              <a:t>ax, ay, az: acceleration in g from the MPU6050 (±2 g range, 16384 counts per g)</a:t>
            </a:r>
            <a:endParaRPr lang="en-US" sz="1500" dirty="0"/>
          </a:p>
          <a:p>
            <a:pPr marL="177800" indent="-177800">
              <a:spcAft>
                <a:spcPts val="700"/>
              </a:spcAft>
              <a:buSzPct val="100000"/>
              <a:buChar char="•"/>
            </a:pPr>
            <a:r>
              <a:rPr lang="en-US" sz="1500" dirty="0">
                <a:solidFill>
                  <a:srgbClr val="374151"/>
                </a:solidFill>
                <a:latin typeface="Calibri" pitchFamily="34" charset="0"/>
                <a:ea typeface="Calibri" pitchFamily="34" charset="-122"/>
                <a:cs typeface="Calibri" pitchFamily="34" charset="-120"/>
              </a:rPr>
              <a:t>Magnitude of the acceleration vector, minus 1 g of gravity, leaves the vibration</a:t>
            </a:r>
            <a:endParaRPr lang="en-US" sz="1500" dirty="0"/>
          </a:p>
          <a:p>
            <a:pPr marL="177800" indent="-177800">
              <a:spcAft>
                <a:spcPts val="700"/>
              </a:spcAft>
              <a:buSzPct val="100000"/>
              <a:buChar char="•"/>
            </a:pPr>
            <a:r>
              <a:rPr lang="en-US" sz="1500" dirty="0">
                <a:solidFill>
                  <a:srgbClr val="374151"/>
                </a:solidFill>
                <a:latin typeface="Calibri" pitchFamily="34" charset="0"/>
                <a:ea typeface="Calibri" pitchFamily="34" charset="-122"/>
                <a:cs typeface="Calibri" pitchFamily="34" charset="-120"/>
              </a:rPr>
              <a:t>One reading per second, classified on the ESP32 itself</a:t>
            </a:r>
            <a:endParaRPr lang="en-US" sz="1500" dirty="0"/>
          </a:p>
          <a:p>
            <a:pPr marL="177800" indent="-177800">
              <a:spcAft>
                <a:spcPts val="700"/>
              </a:spcAft>
              <a:buSzPct val="100000"/>
              <a:buChar char="•"/>
            </a:pPr>
            <a:r>
              <a:rPr lang="en-US" sz="1500" dirty="0">
                <a:solidFill>
                  <a:srgbClr val="374151"/>
                </a:solidFill>
                <a:latin typeface="Calibri" pitchFamily="34" charset="0"/>
                <a:ea typeface="Calibri" pitchFamily="34" charset="-122"/>
                <a:cs typeface="Calibri" pitchFamily="34" charset="-120"/>
              </a:rPr>
              <a:t>The ±2 g range caps the largest possible reading at about 2.46 g, so the thresholds sit well below it</a:t>
            </a:r>
            <a:endParaRPr lang="en-US" sz="1500" dirty="0"/>
          </a:p>
        </p:txBody>
      </p:sp>
      <p:sp>
        <p:nvSpPr>
          <p:cNvPr id="6" name="Text 4"/>
          <p:cNvSpPr txBox="1"/>
          <p:nvPr/>
        </p:nvSpPr>
        <p:spPr>
          <a:xfrm>
            <a:off x="6172200" y="1234440"/>
            <a:ext cx="5486400" cy="320040"/>
          </a:xfrm>
          <a:prstGeom prst="rect">
            <a:avLst/>
          </a:prstGeom>
          <a:noFill/>
          <a:ln/>
        </p:spPr>
        <p:txBody>
          <a:bodyPr wrap="square" lIns="0" tIns="0" rIns="0" bIns="0" rtlCol="0" anchor="t"/>
          <a:lstStyle/>
          <a:p>
            <a:pPr indent="0" marL="0">
              <a:buNone/>
            </a:pPr>
            <a:r>
              <a:rPr lang="en-US" sz="1600" b="1" dirty="0">
                <a:solidFill>
                  <a:srgbClr val="13294B"/>
                </a:solidFill>
                <a:latin typeface="Calibri" pitchFamily="34" charset="0"/>
                <a:ea typeface="Calibri" pitchFamily="34" charset="-122"/>
                <a:cs typeface="Calibri" pitchFamily="34" charset="-120"/>
              </a:rPr>
              <a:t>Classification and response</a:t>
            </a:r>
            <a:endParaRPr lang="en-US" sz="16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172200" y="1645920"/>
          <a:ext cx="5468112" cy="914400"/>
        </p:xfrm>
        <a:graphic>
          <a:graphicData uri="http://schemas.openxmlformats.org/drawingml/2006/table">
            <a:tbl>
              <a:tblPr/>
              <a:tblGrid>
                <a:gridCol w="1234440"/>
                <a:gridCol w="1965960"/>
                <a:gridCol w="2267712"/>
              </a:tblGrid>
              <a:tr h="457200">
                <a:tc>
                  <a:txBody>
                    <a:bodyPr/>
                    <a:lstStyle/>
                    <a:p>
                      <a:pPr indent="0" marL="0">
                        <a:buNone/>
                      </a:pPr>
                      <a:r>
                        <a:rPr lang="en-US" sz="1400" b="1" dirty="0">
                          <a:solidFill>
                            <a:srgbClr val="13294B"/>
                          </a:solidFill>
                          <a:latin typeface="Calibri" pitchFamily="34" charset="0"/>
                          <a:ea typeface="Calibri" pitchFamily="34" charset="-122"/>
                          <a:cs typeface="Calibri" pitchFamily="34" charset="-120"/>
                        </a:rPr>
                        <a:t>State</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E7EBF1"/>
                    </a:solidFill>
                  </a:tcPr>
                </a:tc>
                <a:tc>
                  <a:txBody>
                    <a:bodyPr/>
                    <a:lstStyle/>
                    <a:p>
                      <a:pPr indent="0" marL="0">
                        <a:buNone/>
                      </a:pPr>
                      <a:r>
                        <a:rPr lang="en-US" sz="1400" b="1" dirty="0">
                          <a:solidFill>
                            <a:srgbClr val="13294B"/>
                          </a:solidFill>
                          <a:latin typeface="Calibri" pitchFamily="34" charset="0"/>
                          <a:ea typeface="Calibri" pitchFamily="34" charset="-122"/>
                          <a:cs typeface="Calibri" pitchFamily="34" charset="-120"/>
                        </a:rPr>
                        <a:t>Vibration v</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E7EBF1"/>
                    </a:solidFill>
                  </a:tcPr>
                </a:tc>
                <a:tc>
                  <a:txBody>
                    <a:bodyPr/>
                    <a:lstStyle/>
                    <a:p>
                      <a:pPr indent="0" marL="0">
                        <a:buNone/>
                      </a:pPr>
                      <a:r>
                        <a:rPr lang="en-US" sz="1400" b="1" dirty="0">
                          <a:solidFill>
                            <a:srgbClr val="13294B"/>
                          </a:solidFill>
                          <a:latin typeface="Calibri" pitchFamily="34" charset="0"/>
                          <a:ea typeface="Calibri" pitchFamily="34" charset="-122"/>
                          <a:cs typeface="Calibri" pitchFamily="34" charset="-120"/>
                        </a:rPr>
                        <a:t>Response</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E7EBF1"/>
                    </a:solidFill>
                  </a:tcPr>
                </a:tc>
              </a:tr>
              <a:tr h="457200">
                <a:tc>
                  <a:txBody>
                    <a:bodyPr/>
                    <a:lstStyle/>
                    <a:p>
                      <a:pPr indent="0" marL="0">
                        <a:buNone/>
                      </a:pPr>
                      <a:r>
                        <a:rPr lang="en-US" sz="1400" b="1" dirty="0">
                          <a:solidFill>
                            <a:srgbClr val="15803D"/>
                          </a:solidFill>
                          <a:latin typeface="Calibri" pitchFamily="34" charset="0"/>
                          <a:ea typeface="Calibri" pitchFamily="34" charset="-122"/>
                          <a:cs typeface="Calibri" pitchFamily="34" charset="-120"/>
                        </a:rPr>
                        <a:t>NORMAL</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400" dirty="0">
                          <a:solidFill>
                            <a:srgbClr val="374151"/>
                          </a:solidFill>
                          <a:latin typeface="Calibri" pitchFamily="34" charset="0"/>
                          <a:ea typeface="Calibri" pitchFamily="34" charset="-122"/>
                          <a:cs typeface="Calibri" pitchFamily="34" charset="-120"/>
                        </a:rPr>
                        <a:t>below 1.00 g</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400" dirty="0">
                          <a:solidFill>
                            <a:srgbClr val="374151"/>
                          </a:solidFill>
                          <a:latin typeface="Calibri" pitchFamily="34" charset="0"/>
                          <a:ea typeface="Calibri" pitchFamily="34" charset="-122"/>
                          <a:cs typeface="Calibri" pitchFamily="34" charset="-120"/>
                        </a:rPr>
                        <a:t>None</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rgbClr val="B45309"/>
                          </a:solidFill>
                          <a:latin typeface="Calibri" pitchFamily="34" charset="0"/>
                          <a:ea typeface="Calibri" pitchFamily="34" charset="-122"/>
                          <a:cs typeface="Calibri" pitchFamily="34" charset="-120"/>
                        </a:rPr>
                        <a:t>WARNING</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400" dirty="0">
                          <a:solidFill>
                            <a:srgbClr val="374151"/>
                          </a:solidFill>
                          <a:latin typeface="Calibri" pitchFamily="34" charset="0"/>
                          <a:ea typeface="Calibri" pitchFamily="34" charset="-122"/>
                          <a:cs typeface="Calibri" pitchFamily="34" charset="-120"/>
                        </a:rPr>
                        <a:t>1.00 to 1.20 g</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400" dirty="0">
                          <a:solidFill>
                            <a:srgbClr val="374151"/>
                          </a:solidFill>
                          <a:latin typeface="Calibri" pitchFamily="34" charset="0"/>
                          <a:ea typeface="Calibri" pitchFamily="34" charset="-122"/>
                          <a:cs typeface="Calibri" pitchFamily="34" charset="-120"/>
                        </a:rPr>
                        <a:t>Logged, shown in amber</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rgbClr val="B91C1C"/>
                          </a:solidFill>
                          <a:latin typeface="Calibri" pitchFamily="34" charset="0"/>
                          <a:ea typeface="Calibri" pitchFamily="34" charset="-122"/>
                          <a:cs typeface="Calibri" pitchFamily="34" charset="-120"/>
                        </a:rPr>
                        <a:t>CRITICAL</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400" dirty="0">
                          <a:solidFill>
                            <a:srgbClr val="374151"/>
                          </a:solidFill>
                          <a:latin typeface="Calibri" pitchFamily="34" charset="0"/>
                          <a:ea typeface="Calibri" pitchFamily="34" charset="-122"/>
                          <a:cs typeface="Calibri" pitchFamily="34" charset="-120"/>
                        </a:rPr>
                        <a:t>1.20 g and above</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400" dirty="0">
                          <a:solidFill>
                            <a:srgbClr val="374151"/>
                          </a:solidFill>
                          <a:latin typeface="Calibri" pitchFamily="34" charset="0"/>
                          <a:ea typeface="Calibri" pitchFamily="34" charset="-122"/>
                          <a:cs typeface="Calibri" pitchFamily="34" charset="-120"/>
                        </a:rPr>
                        <a:t>Buzzer, SMS, fault recording</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rgbClr val="B91C1C"/>
                          </a:solidFill>
                          <a:latin typeface="Calibri" pitchFamily="34" charset="0"/>
                          <a:ea typeface="Calibri" pitchFamily="34" charset="-122"/>
                          <a:cs typeface="Calibri" pitchFamily="34" charset="-120"/>
                        </a:rPr>
                        <a:t>TRIPPED</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400" dirty="0">
                          <a:solidFill>
                            <a:srgbClr val="374151"/>
                          </a:solidFill>
                          <a:latin typeface="Calibri" pitchFamily="34" charset="0"/>
                          <a:ea typeface="Calibri" pitchFamily="34" charset="-122"/>
                          <a:cs typeface="Calibri" pitchFamily="34" charset="-120"/>
                        </a:rPr>
                        <a:t>3 CRITICAL readings in a row</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400" dirty="0">
                          <a:solidFill>
                            <a:srgbClr val="374151"/>
                          </a:solidFill>
                          <a:latin typeface="Calibri" pitchFamily="34" charset="0"/>
                          <a:ea typeface="Calibri" pitchFamily="34" charset="-122"/>
                          <a:cs typeface="Calibri" pitchFamily="34" charset="-120"/>
                        </a:rPr>
                        <a:t>Motor power cut at the pump</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bl>
          </a:graphicData>
        </a:graphic>
      </p:graphicFrame>
      <p:sp>
        <p:nvSpPr>
          <p:cNvPr id="8" name="Text 5"/>
          <p:cNvSpPr txBox="1"/>
          <p:nvPr/>
        </p:nvSpPr>
        <p:spPr>
          <a:xfrm>
            <a:off x="6172200" y="4069080"/>
            <a:ext cx="5468112" cy="1371600"/>
          </a:xfrm>
          <a:prstGeom prst="rect">
            <a:avLst/>
          </a:prstGeom>
          <a:noFill/>
          <a:ln/>
        </p:spPr>
        <p:txBody>
          <a:bodyPr wrap="square" lIns="0" tIns="0" rIns="0" bIns="0" rtlCol="0" anchor="t"/>
          <a:lstStyle/>
          <a:p>
            <a:pPr indent="0" marL="0">
              <a:buNone/>
            </a:pPr>
            <a:r>
              <a:rPr lang="en-US" sz="1300" dirty="0">
                <a:solidFill>
                  <a:srgbClr val="5B6472"/>
                </a:solidFill>
                <a:latin typeface="Calibri" pitchFamily="34" charset="0"/>
                <a:ea typeface="Calibri" pitchFamily="34" charset="-122"/>
                <a:cs typeface="Calibri" pitchFamily="34" charset="-120"/>
              </a:rPr>
              <a:t>Thresholds were set on our motor test rig, where normal running averages about 0.1 g with short peaks up to about 1.0 g. They are configured in both the ESP32 firmware and the fog server. Waiting for 3 readings before tripping stops a single knock from shutting the pump down.</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1"/>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685800"/>
          </a:xfrm>
          <a:prstGeom prst="rect">
            <a:avLst/>
          </a:prstGeom>
          <a:noFill/>
          <a:ln/>
        </p:spPr>
        <p:txBody>
          <a:bodyPr wrap="square" lIns="0" tIns="0" rIns="0" bIns="0" rtlCol="0" anchor="ctr"/>
          <a:lstStyle/>
          <a:p>
            <a:pPr algn="l" indent="0" marL="0">
              <a:buNone/>
            </a:pPr>
            <a:r>
              <a:rPr lang="en-US" sz="2800" b="1" dirty="0">
                <a:solidFill>
                  <a:srgbClr val="13294B"/>
                </a:solidFill>
                <a:latin typeface="Calibri" pitchFamily="34" charset="0"/>
                <a:ea typeface="Calibri" pitchFamily="34" charset="-122"/>
                <a:cs typeface="Calibri" pitchFamily="34" charset="-120"/>
              </a:rPr>
              <a:t>System Workflow</a:t>
            </a:r>
            <a:endParaRPr lang="en-US" sz="2800" dirty="0"/>
          </a:p>
        </p:txBody>
      </p:sp>
      <p:sp>
        <p:nvSpPr>
          <p:cNvPr id="3" name="Shape 1"/>
          <p:cNvSpPr/>
          <p:nvPr/>
        </p:nvSpPr>
        <p:spPr>
          <a:xfrm>
            <a:off x="548640" y="1234440"/>
            <a:ext cx="11094415" cy="1600200"/>
          </a:xfrm>
          <a:prstGeom prst="rect">
            <a:avLst/>
          </a:prstGeom>
          <a:solidFill>
            <a:srgbClr val="F3F5F8"/>
          </a:solidFill>
          <a:ln w="12700">
            <a:solidFill>
              <a:srgbClr val="F3F5F8"/>
            </a:solidFill>
            <a:prstDash val="solid"/>
          </a:ln>
        </p:spPr>
      </p:sp>
      <p:sp>
        <p:nvSpPr>
          <p:cNvPr id="4" name="Shape 2"/>
          <p:cNvSpPr/>
          <p:nvPr/>
        </p:nvSpPr>
        <p:spPr>
          <a:xfrm>
            <a:off x="548640" y="3063240"/>
            <a:ext cx="11094415" cy="1600200"/>
          </a:xfrm>
          <a:prstGeom prst="rect">
            <a:avLst/>
          </a:prstGeom>
          <a:solidFill>
            <a:srgbClr val="F3F5F8"/>
          </a:solidFill>
          <a:ln w="12700">
            <a:solidFill>
              <a:srgbClr val="F3F5F8"/>
            </a:solidFill>
            <a:prstDash val="solid"/>
          </a:ln>
        </p:spPr>
      </p:sp>
      <p:sp>
        <p:nvSpPr>
          <p:cNvPr id="5" name="Text 3"/>
          <p:cNvSpPr txBox="1"/>
          <p:nvPr/>
        </p:nvSpPr>
        <p:spPr>
          <a:xfrm>
            <a:off x="685800" y="1234440"/>
            <a:ext cx="1188720" cy="1600200"/>
          </a:xfrm>
          <a:prstGeom prst="rect">
            <a:avLst/>
          </a:prstGeom>
          <a:noFill/>
          <a:ln/>
        </p:spPr>
        <p:txBody>
          <a:bodyPr wrap="square" lIns="0" tIns="0" rIns="0" bIns="0" rtlCol="0" anchor="ctr"/>
          <a:lstStyle/>
          <a:p>
            <a:pPr indent="0" marL="0">
              <a:buNone/>
            </a:pPr>
            <a:r>
              <a:rPr lang="en-US" sz="1400" b="1" dirty="0">
                <a:solidFill>
                  <a:srgbClr val="13294B"/>
                </a:solidFill>
                <a:latin typeface="Calibri" pitchFamily="34" charset="0"/>
                <a:ea typeface="Calibri" pitchFamily="34" charset="-122"/>
                <a:cs typeface="Calibri" pitchFamily="34" charset="-120"/>
              </a:rPr>
              <a:t>Edge node</a:t>
            </a:r>
            <a:endParaRPr lang="en-US" sz="1400" dirty="0"/>
          </a:p>
          <a:p>
            <a:pPr indent="0" marL="0">
              <a:buNone/>
            </a:pPr>
            <a:r>
              <a:rPr lang="en-US" sz="1400" dirty="0">
                <a:solidFill>
                  <a:srgbClr val="13294B"/>
                </a:solidFill>
                <a:latin typeface="Calibri" pitchFamily="34" charset="0"/>
                <a:ea typeface="Calibri" pitchFamily="34" charset="-122"/>
                <a:cs typeface="Calibri" pitchFamily="34" charset="-120"/>
              </a:rPr>
              <a:t>(ESP32)</a:t>
            </a:r>
            <a:endParaRPr lang="en-US" sz="1400" dirty="0"/>
          </a:p>
        </p:txBody>
      </p:sp>
      <p:sp>
        <p:nvSpPr>
          <p:cNvPr id="6" name="Text 4"/>
          <p:cNvSpPr txBox="1"/>
          <p:nvPr/>
        </p:nvSpPr>
        <p:spPr>
          <a:xfrm>
            <a:off x="685800" y="3063240"/>
            <a:ext cx="1188720" cy="1600200"/>
          </a:xfrm>
          <a:prstGeom prst="rect">
            <a:avLst/>
          </a:prstGeom>
          <a:noFill/>
          <a:ln/>
        </p:spPr>
        <p:txBody>
          <a:bodyPr wrap="square" lIns="0" tIns="0" rIns="0" bIns="0" rtlCol="0" anchor="ctr"/>
          <a:lstStyle/>
          <a:p>
            <a:pPr indent="0" marL="0">
              <a:buNone/>
            </a:pPr>
            <a:r>
              <a:rPr lang="en-US" sz="1400" b="1" dirty="0">
                <a:solidFill>
                  <a:srgbClr val="13294B"/>
                </a:solidFill>
                <a:latin typeface="Calibri" pitchFamily="34" charset="0"/>
                <a:ea typeface="Calibri" pitchFamily="34" charset="-122"/>
                <a:cs typeface="Calibri" pitchFamily="34" charset="-120"/>
              </a:rPr>
              <a:t>Fog server</a:t>
            </a:r>
            <a:endParaRPr lang="en-US" sz="1400" dirty="0"/>
          </a:p>
          <a:p>
            <a:pPr indent="0" marL="0">
              <a:buNone/>
            </a:pPr>
            <a:r>
              <a:rPr lang="en-US" sz="1400" dirty="0">
                <a:solidFill>
                  <a:srgbClr val="13294B"/>
                </a:solidFill>
                <a:latin typeface="Calibri" pitchFamily="34" charset="0"/>
                <a:ea typeface="Calibri" pitchFamily="34" charset="-122"/>
                <a:cs typeface="Calibri" pitchFamily="34" charset="-120"/>
              </a:rPr>
              <a:t>(Flask)</a:t>
            </a:r>
            <a:endParaRPr lang="en-US" sz="1400" dirty="0"/>
          </a:p>
        </p:txBody>
      </p:sp>
      <p:sp>
        <p:nvSpPr>
          <p:cNvPr id="7" name="Shape 5"/>
          <p:cNvSpPr/>
          <p:nvPr/>
        </p:nvSpPr>
        <p:spPr>
          <a:xfrm>
            <a:off x="1783080" y="1600200"/>
            <a:ext cx="1783080" cy="868680"/>
          </a:xfrm>
          <a:prstGeom prst="rect">
            <a:avLst/>
          </a:prstGeom>
          <a:solidFill>
            <a:srgbClr val="FFFFFF"/>
          </a:solidFill>
          <a:ln w="12700">
            <a:solidFill>
              <a:srgbClr val="6B7280"/>
            </a:solidFill>
            <a:prstDash val="solid"/>
          </a:ln>
        </p:spPr>
      </p:sp>
      <p:sp>
        <p:nvSpPr>
          <p:cNvPr id="8" name="Text 6"/>
          <p:cNvSpPr txBox="1"/>
          <p:nvPr/>
        </p:nvSpPr>
        <p:spPr>
          <a:xfrm>
            <a:off x="1856232" y="1600200"/>
            <a:ext cx="1636776" cy="868680"/>
          </a:xfrm>
          <a:prstGeom prst="rect">
            <a:avLst/>
          </a:prstGeom>
          <a:noFill/>
          <a:ln/>
        </p:spPr>
        <p:txBody>
          <a:bodyPr wrap="square" lIns="0" tIns="0" rIns="0" bIns="0" rtlCol="0" anchor="ctr"/>
          <a:lstStyle/>
          <a:p>
            <a:pPr algn="ctr" indent="0" marL="0">
              <a:buNone/>
            </a:pPr>
            <a:r>
              <a:rPr lang="en-US" sz="1300" dirty="0">
                <a:solidFill>
                  <a:srgbClr val="1F2937"/>
                </a:solidFill>
                <a:latin typeface="Calibri" pitchFamily="34" charset="0"/>
                <a:ea typeface="Calibri" pitchFamily="34" charset="-122"/>
                <a:cs typeface="Calibri" pitchFamily="34" charset="-120"/>
              </a:rPr>
              <a:t>1. Read MPU6050 and GPS</a:t>
            </a:r>
            <a:endParaRPr lang="en-US" sz="1300" dirty="0"/>
          </a:p>
        </p:txBody>
      </p:sp>
      <p:sp>
        <p:nvSpPr>
          <p:cNvPr id="9" name="Shape 7"/>
          <p:cNvSpPr/>
          <p:nvPr/>
        </p:nvSpPr>
        <p:spPr>
          <a:xfrm>
            <a:off x="3566160" y="2029968"/>
            <a:ext cx="182880" cy="0"/>
          </a:xfrm>
          <a:prstGeom prst="line">
            <a:avLst/>
          </a:prstGeom>
          <a:noFill/>
          <a:ln w="25400">
            <a:solidFill>
              <a:srgbClr val="13294B"/>
            </a:solidFill>
            <a:prstDash val="solid"/>
            <a:tailEnd type="triangle"/>
          </a:ln>
        </p:spPr>
      </p:sp>
      <p:sp>
        <p:nvSpPr>
          <p:cNvPr id="10" name="Shape 8"/>
          <p:cNvSpPr/>
          <p:nvPr/>
        </p:nvSpPr>
        <p:spPr>
          <a:xfrm>
            <a:off x="3749040" y="1600200"/>
            <a:ext cx="1783080" cy="868680"/>
          </a:xfrm>
          <a:prstGeom prst="rect">
            <a:avLst/>
          </a:prstGeom>
          <a:solidFill>
            <a:srgbClr val="FFFFFF"/>
          </a:solidFill>
          <a:ln w="12700">
            <a:solidFill>
              <a:srgbClr val="6B7280"/>
            </a:solidFill>
            <a:prstDash val="solid"/>
          </a:ln>
        </p:spPr>
      </p:sp>
      <p:sp>
        <p:nvSpPr>
          <p:cNvPr id="11" name="Text 9"/>
          <p:cNvSpPr txBox="1"/>
          <p:nvPr/>
        </p:nvSpPr>
        <p:spPr>
          <a:xfrm>
            <a:off x="3822192" y="1600200"/>
            <a:ext cx="1636776" cy="868680"/>
          </a:xfrm>
          <a:prstGeom prst="rect">
            <a:avLst/>
          </a:prstGeom>
          <a:noFill/>
          <a:ln/>
        </p:spPr>
        <p:txBody>
          <a:bodyPr wrap="square" lIns="0" tIns="0" rIns="0" bIns="0" rtlCol="0" anchor="ctr"/>
          <a:lstStyle/>
          <a:p>
            <a:pPr algn="ctr" indent="0" marL="0">
              <a:buNone/>
            </a:pPr>
            <a:r>
              <a:rPr lang="en-US" sz="1300" dirty="0">
                <a:solidFill>
                  <a:srgbClr val="1F2937"/>
                </a:solidFill>
                <a:latin typeface="Calibri" pitchFamily="34" charset="0"/>
                <a:ea typeface="Calibri" pitchFamily="34" charset="-122"/>
                <a:cs typeface="Calibri" pitchFamily="34" charset="-120"/>
              </a:rPr>
              <a:t>2. Compute vibration v</a:t>
            </a:r>
            <a:endParaRPr lang="en-US" sz="1300" dirty="0"/>
          </a:p>
        </p:txBody>
      </p:sp>
      <p:sp>
        <p:nvSpPr>
          <p:cNvPr id="12" name="Shape 10"/>
          <p:cNvSpPr/>
          <p:nvPr/>
        </p:nvSpPr>
        <p:spPr>
          <a:xfrm>
            <a:off x="5532120" y="2029968"/>
            <a:ext cx="182880" cy="0"/>
          </a:xfrm>
          <a:prstGeom prst="line">
            <a:avLst/>
          </a:prstGeom>
          <a:noFill/>
          <a:ln w="25400">
            <a:solidFill>
              <a:srgbClr val="13294B"/>
            </a:solidFill>
            <a:prstDash val="solid"/>
            <a:tailEnd type="triangle"/>
          </a:ln>
        </p:spPr>
      </p:sp>
      <p:sp>
        <p:nvSpPr>
          <p:cNvPr id="13" name="Shape 11"/>
          <p:cNvSpPr/>
          <p:nvPr/>
        </p:nvSpPr>
        <p:spPr>
          <a:xfrm>
            <a:off x="5715000" y="1600200"/>
            <a:ext cx="1783080" cy="868680"/>
          </a:xfrm>
          <a:prstGeom prst="rect">
            <a:avLst/>
          </a:prstGeom>
          <a:solidFill>
            <a:srgbClr val="FFFFFF"/>
          </a:solidFill>
          <a:ln w="12700">
            <a:solidFill>
              <a:srgbClr val="6B7280"/>
            </a:solidFill>
            <a:prstDash val="solid"/>
          </a:ln>
        </p:spPr>
      </p:sp>
      <p:sp>
        <p:nvSpPr>
          <p:cNvPr id="14" name="Text 12"/>
          <p:cNvSpPr txBox="1"/>
          <p:nvPr/>
        </p:nvSpPr>
        <p:spPr>
          <a:xfrm>
            <a:off x="5788152" y="1600200"/>
            <a:ext cx="1636776" cy="868680"/>
          </a:xfrm>
          <a:prstGeom prst="rect">
            <a:avLst/>
          </a:prstGeom>
          <a:noFill/>
          <a:ln/>
        </p:spPr>
        <p:txBody>
          <a:bodyPr wrap="square" lIns="0" tIns="0" rIns="0" bIns="0" rtlCol="0" anchor="ctr"/>
          <a:lstStyle/>
          <a:p>
            <a:pPr algn="ctr" indent="0" marL="0">
              <a:buNone/>
            </a:pPr>
            <a:r>
              <a:rPr lang="en-US" sz="1300" dirty="0">
                <a:solidFill>
                  <a:srgbClr val="1F2937"/>
                </a:solidFill>
                <a:latin typeface="Calibri" pitchFamily="34" charset="0"/>
                <a:ea typeface="Calibri" pitchFamily="34" charset="-122"/>
                <a:cs typeface="Calibri" pitchFamily="34" charset="-120"/>
              </a:rPr>
              <a:t>3. Classify the reading</a:t>
            </a:r>
            <a:endParaRPr lang="en-US" sz="1300" dirty="0"/>
          </a:p>
        </p:txBody>
      </p:sp>
      <p:sp>
        <p:nvSpPr>
          <p:cNvPr id="15" name="Shape 13"/>
          <p:cNvSpPr/>
          <p:nvPr/>
        </p:nvSpPr>
        <p:spPr>
          <a:xfrm>
            <a:off x="7498080" y="2029968"/>
            <a:ext cx="182880" cy="0"/>
          </a:xfrm>
          <a:prstGeom prst="line">
            <a:avLst/>
          </a:prstGeom>
          <a:noFill/>
          <a:ln w="25400">
            <a:solidFill>
              <a:srgbClr val="13294B"/>
            </a:solidFill>
            <a:prstDash val="solid"/>
            <a:tailEnd type="triangle"/>
          </a:ln>
        </p:spPr>
      </p:sp>
      <p:sp>
        <p:nvSpPr>
          <p:cNvPr id="16" name="Shape 14"/>
          <p:cNvSpPr/>
          <p:nvPr/>
        </p:nvSpPr>
        <p:spPr>
          <a:xfrm>
            <a:off x="7680960" y="1600200"/>
            <a:ext cx="1783080" cy="868680"/>
          </a:xfrm>
          <a:prstGeom prst="rect">
            <a:avLst/>
          </a:prstGeom>
          <a:solidFill>
            <a:srgbClr val="FFFFFF"/>
          </a:solidFill>
          <a:ln w="12700">
            <a:solidFill>
              <a:srgbClr val="6B7280"/>
            </a:solidFill>
            <a:prstDash val="solid"/>
          </a:ln>
        </p:spPr>
      </p:sp>
      <p:sp>
        <p:nvSpPr>
          <p:cNvPr id="17" name="Text 15"/>
          <p:cNvSpPr txBox="1"/>
          <p:nvPr/>
        </p:nvSpPr>
        <p:spPr>
          <a:xfrm>
            <a:off x="7754112" y="1600200"/>
            <a:ext cx="1636776" cy="868680"/>
          </a:xfrm>
          <a:prstGeom prst="rect">
            <a:avLst/>
          </a:prstGeom>
          <a:noFill/>
          <a:ln/>
        </p:spPr>
        <p:txBody>
          <a:bodyPr wrap="square" lIns="0" tIns="0" rIns="0" bIns="0" rtlCol="0" anchor="ctr"/>
          <a:lstStyle/>
          <a:p>
            <a:pPr algn="ctr" indent="0" marL="0">
              <a:buNone/>
            </a:pPr>
            <a:r>
              <a:rPr lang="en-US" sz="1300" dirty="0">
                <a:solidFill>
                  <a:srgbClr val="1F2937"/>
                </a:solidFill>
                <a:latin typeface="Calibri" pitchFamily="34" charset="0"/>
                <a:ea typeface="Calibri" pitchFamily="34" charset="-122"/>
                <a:cs typeface="Calibri" pitchFamily="34" charset="-120"/>
              </a:rPr>
              <a:t>4. Buzzer; trip motor after 3 CRITICAL</a:t>
            </a:r>
            <a:endParaRPr lang="en-US" sz="1300" dirty="0"/>
          </a:p>
        </p:txBody>
      </p:sp>
      <p:sp>
        <p:nvSpPr>
          <p:cNvPr id="18" name="Shape 16"/>
          <p:cNvSpPr/>
          <p:nvPr/>
        </p:nvSpPr>
        <p:spPr>
          <a:xfrm>
            <a:off x="9464040" y="2029968"/>
            <a:ext cx="182880" cy="0"/>
          </a:xfrm>
          <a:prstGeom prst="line">
            <a:avLst/>
          </a:prstGeom>
          <a:noFill/>
          <a:ln w="25400">
            <a:solidFill>
              <a:srgbClr val="13294B"/>
            </a:solidFill>
            <a:prstDash val="solid"/>
            <a:tailEnd type="triangle"/>
          </a:ln>
        </p:spPr>
      </p:sp>
      <p:sp>
        <p:nvSpPr>
          <p:cNvPr id="19" name="Shape 17"/>
          <p:cNvSpPr/>
          <p:nvPr/>
        </p:nvSpPr>
        <p:spPr>
          <a:xfrm>
            <a:off x="9646920" y="1600200"/>
            <a:ext cx="1783080" cy="868680"/>
          </a:xfrm>
          <a:prstGeom prst="rect">
            <a:avLst/>
          </a:prstGeom>
          <a:solidFill>
            <a:srgbClr val="FFFFFF"/>
          </a:solidFill>
          <a:ln w="12700">
            <a:solidFill>
              <a:srgbClr val="6B7280"/>
            </a:solidFill>
            <a:prstDash val="solid"/>
          </a:ln>
        </p:spPr>
      </p:sp>
      <p:sp>
        <p:nvSpPr>
          <p:cNvPr id="20" name="Text 18"/>
          <p:cNvSpPr txBox="1"/>
          <p:nvPr/>
        </p:nvSpPr>
        <p:spPr>
          <a:xfrm>
            <a:off x="9720072" y="1600200"/>
            <a:ext cx="1636776" cy="868680"/>
          </a:xfrm>
          <a:prstGeom prst="rect">
            <a:avLst/>
          </a:prstGeom>
          <a:noFill/>
          <a:ln/>
        </p:spPr>
        <p:txBody>
          <a:bodyPr wrap="square" lIns="0" tIns="0" rIns="0" bIns="0" rtlCol="0" anchor="ctr"/>
          <a:lstStyle/>
          <a:p>
            <a:pPr algn="ctr" indent="0" marL="0">
              <a:buNone/>
            </a:pPr>
            <a:r>
              <a:rPr lang="en-US" sz="1300" dirty="0">
                <a:solidFill>
                  <a:srgbClr val="1F2937"/>
                </a:solidFill>
                <a:latin typeface="Calibri" pitchFamily="34" charset="0"/>
                <a:ea typeface="Calibri" pitchFamily="34" charset="-122"/>
                <a:cs typeface="Calibri" pitchFamily="34" charset="-120"/>
              </a:rPr>
              <a:t>5. Send reading, or buffer it if the fog is unreachable</a:t>
            </a:r>
            <a:endParaRPr lang="en-US" sz="1300" dirty="0"/>
          </a:p>
        </p:txBody>
      </p:sp>
      <p:sp>
        <p:nvSpPr>
          <p:cNvPr id="21" name="Shape 19"/>
          <p:cNvSpPr/>
          <p:nvPr/>
        </p:nvSpPr>
        <p:spPr>
          <a:xfrm>
            <a:off x="10538460" y="2468880"/>
            <a:ext cx="0" cy="960120"/>
          </a:xfrm>
          <a:prstGeom prst="line">
            <a:avLst/>
          </a:prstGeom>
          <a:noFill/>
          <a:ln w="25400">
            <a:solidFill>
              <a:srgbClr val="13294B"/>
            </a:solidFill>
            <a:prstDash val="solid"/>
            <a:tailEnd type="triangle"/>
          </a:ln>
        </p:spPr>
      </p:sp>
      <p:sp>
        <p:nvSpPr>
          <p:cNvPr id="22" name="Text 20"/>
          <p:cNvSpPr txBox="1"/>
          <p:nvPr/>
        </p:nvSpPr>
        <p:spPr>
          <a:xfrm>
            <a:off x="10584180" y="2697480"/>
            <a:ext cx="1097280" cy="274320"/>
          </a:xfrm>
          <a:prstGeom prst="rect">
            <a:avLst/>
          </a:prstGeom>
          <a:noFill/>
          <a:ln/>
        </p:spPr>
        <p:txBody>
          <a:bodyPr wrap="square" lIns="0" tIns="0" rIns="0" bIns="0" rtlCol="0" anchor="t"/>
          <a:lstStyle/>
          <a:p>
            <a:pPr indent="0" marL="0">
              <a:buNone/>
            </a:pPr>
            <a:r>
              <a:rPr lang="en-US" sz="1100" dirty="0">
                <a:solidFill>
                  <a:srgbClr val="13294B"/>
                </a:solidFill>
                <a:latin typeface="Calibri" pitchFamily="34" charset="0"/>
                <a:ea typeface="Calibri" pitchFamily="34" charset="-122"/>
                <a:cs typeface="Calibri" pitchFamily="34" charset="-120"/>
              </a:rPr>
              <a:t>POST /data</a:t>
            </a:r>
            <a:endParaRPr lang="en-US" sz="1100" dirty="0"/>
          </a:p>
        </p:txBody>
      </p:sp>
      <p:sp>
        <p:nvSpPr>
          <p:cNvPr id="23" name="Shape 21"/>
          <p:cNvSpPr/>
          <p:nvPr/>
        </p:nvSpPr>
        <p:spPr>
          <a:xfrm>
            <a:off x="9646920" y="3429000"/>
            <a:ext cx="1783080" cy="868680"/>
          </a:xfrm>
          <a:prstGeom prst="rect">
            <a:avLst/>
          </a:prstGeom>
          <a:solidFill>
            <a:srgbClr val="FFFFFF"/>
          </a:solidFill>
          <a:ln w="12700">
            <a:solidFill>
              <a:srgbClr val="6B7280"/>
            </a:solidFill>
            <a:prstDash val="solid"/>
          </a:ln>
        </p:spPr>
      </p:sp>
      <p:sp>
        <p:nvSpPr>
          <p:cNvPr id="24" name="Text 22"/>
          <p:cNvSpPr txBox="1"/>
          <p:nvPr/>
        </p:nvSpPr>
        <p:spPr>
          <a:xfrm>
            <a:off x="9720072" y="3429000"/>
            <a:ext cx="1636776" cy="868680"/>
          </a:xfrm>
          <a:prstGeom prst="rect">
            <a:avLst/>
          </a:prstGeom>
          <a:noFill/>
          <a:ln/>
        </p:spPr>
        <p:txBody>
          <a:bodyPr wrap="square" lIns="0" tIns="0" rIns="0" bIns="0" rtlCol="0" anchor="ctr"/>
          <a:lstStyle/>
          <a:p>
            <a:pPr algn="ctr" indent="0" marL="0">
              <a:buNone/>
            </a:pPr>
            <a:r>
              <a:rPr lang="en-US" sz="1300" dirty="0">
                <a:solidFill>
                  <a:srgbClr val="1F2937"/>
                </a:solidFill>
                <a:latin typeface="Calibri" pitchFamily="34" charset="0"/>
                <a:ea typeface="Calibri" pitchFamily="34" charset="-122"/>
                <a:cs typeface="Calibri" pitchFamily="34" charset="-120"/>
              </a:rPr>
              <a:t>6. Update pump state, graph and map</a:t>
            </a:r>
            <a:endParaRPr lang="en-US" sz="1300" dirty="0"/>
          </a:p>
        </p:txBody>
      </p:sp>
      <p:sp>
        <p:nvSpPr>
          <p:cNvPr id="25" name="Shape 23"/>
          <p:cNvSpPr/>
          <p:nvPr/>
        </p:nvSpPr>
        <p:spPr>
          <a:xfrm flipH="1">
            <a:off x="9464040" y="3858768"/>
            <a:ext cx="182880" cy="0"/>
          </a:xfrm>
          <a:prstGeom prst="line">
            <a:avLst/>
          </a:prstGeom>
          <a:noFill/>
          <a:ln w="25400">
            <a:solidFill>
              <a:srgbClr val="13294B"/>
            </a:solidFill>
            <a:prstDash val="solid"/>
            <a:tailEnd type="triangle"/>
          </a:ln>
        </p:spPr>
      </p:sp>
      <p:sp>
        <p:nvSpPr>
          <p:cNvPr id="26" name="Shape 24"/>
          <p:cNvSpPr/>
          <p:nvPr/>
        </p:nvSpPr>
        <p:spPr>
          <a:xfrm>
            <a:off x="7680960" y="3429000"/>
            <a:ext cx="1783080" cy="868680"/>
          </a:xfrm>
          <a:prstGeom prst="rect">
            <a:avLst/>
          </a:prstGeom>
          <a:solidFill>
            <a:srgbClr val="FFFFFF"/>
          </a:solidFill>
          <a:ln w="12700">
            <a:solidFill>
              <a:srgbClr val="C2410C"/>
            </a:solidFill>
            <a:prstDash val="solid"/>
          </a:ln>
        </p:spPr>
      </p:sp>
      <p:sp>
        <p:nvSpPr>
          <p:cNvPr id="27" name="Text 25"/>
          <p:cNvSpPr txBox="1"/>
          <p:nvPr/>
        </p:nvSpPr>
        <p:spPr>
          <a:xfrm>
            <a:off x="7754112" y="3429000"/>
            <a:ext cx="1636776" cy="868680"/>
          </a:xfrm>
          <a:prstGeom prst="rect">
            <a:avLst/>
          </a:prstGeom>
          <a:noFill/>
          <a:ln/>
        </p:spPr>
        <p:txBody>
          <a:bodyPr wrap="square" lIns="0" tIns="0" rIns="0" bIns="0" rtlCol="0" anchor="ctr"/>
          <a:lstStyle/>
          <a:p>
            <a:pPr algn="ctr" indent="0" marL="0">
              <a:buNone/>
            </a:pPr>
            <a:r>
              <a:rPr lang="en-US" sz="1300" dirty="0">
                <a:solidFill>
                  <a:srgbClr val="1F2937"/>
                </a:solidFill>
                <a:latin typeface="Calibri" pitchFamily="34" charset="0"/>
                <a:ea typeface="Calibri" pitchFamily="34" charset="-122"/>
                <a:cs typeface="Calibri" pitchFamily="34" charset="-120"/>
              </a:rPr>
              <a:t>7. Is this a new CRITICAL event?</a:t>
            </a:r>
            <a:endParaRPr lang="en-US" sz="1300" dirty="0"/>
          </a:p>
        </p:txBody>
      </p:sp>
      <p:sp>
        <p:nvSpPr>
          <p:cNvPr id="28" name="Shape 26"/>
          <p:cNvSpPr/>
          <p:nvPr/>
        </p:nvSpPr>
        <p:spPr>
          <a:xfrm flipH="1">
            <a:off x="7498080" y="3858768"/>
            <a:ext cx="182880" cy="0"/>
          </a:xfrm>
          <a:prstGeom prst="line">
            <a:avLst/>
          </a:prstGeom>
          <a:noFill/>
          <a:ln w="25400">
            <a:solidFill>
              <a:srgbClr val="C2410C"/>
            </a:solidFill>
            <a:prstDash val="solid"/>
            <a:tailEnd type="triangle"/>
          </a:ln>
        </p:spPr>
      </p:sp>
      <p:sp>
        <p:nvSpPr>
          <p:cNvPr id="29" name="Shape 27"/>
          <p:cNvSpPr/>
          <p:nvPr/>
        </p:nvSpPr>
        <p:spPr>
          <a:xfrm>
            <a:off x="5715000" y="3429000"/>
            <a:ext cx="1783080" cy="868680"/>
          </a:xfrm>
          <a:prstGeom prst="rect">
            <a:avLst/>
          </a:prstGeom>
          <a:solidFill>
            <a:srgbClr val="FFFFFF"/>
          </a:solidFill>
          <a:ln w="12700">
            <a:solidFill>
              <a:srgbClr val="6B7280"/>
            </a:solidFill>
            <a:prstDash val="solid"/>
          </a:ln>
        </p:spPr>
      </p:sp>
      <p:sp>
        <p:nvSpPr>
          <p:cNvPr id="30" name="Text 28"/>
          <p:cNvSpPr txBox="1"/>
          <p:nvPr/>
        </p:nvSpPr>
        <p:spPr>
          <a:xfrm>
            <a:off x="5788152" y="3429000"/>
            <a:ext cx="1636776" cy="868680"/>
          </a:xfrm>
          <a:prstGeom prst="rect">
            <a:avLst/>
          </a:prstGeom>
          <a:noFill/>
          <a:ln/>
        </p:spPr>
        <p:txBody>
          <a:bodyPr wrap="square" lIns="0" tIns="0" rIns="0" bIns="0" rtlCol="0" anchor="ctr"/>
          <a:lstStyle/>
          <a:p>
            <a:pPr algn="ctr" indent="0" marL="0">
              <a:buNone/>
            </a:pPr>
            <a:r>
              <a:rPr lang="en-US" sz="1300" dirty="0">
                <a:solidFill>
                  <a:srgbClr val="1F2937"/>
                </a:solidFill>
                <a:latin typeface="Calibri" pitchFamily="34" charset="0"/>
                <a:ea typeface="Calibri" pitchFamily="34" charset="-122"/>
                <a:cs typeface="Calibri" pitchFamily="34" charset="-120"/>
              </a:rPr>
              <a:t>8. SMS with pump ID and map link (60 s cooldown)</a:t>
            </a:r>
            <a:endParaRPr lang="en-US" sz="1300" dirty="0"/>
          </a:p>
        </p:txBody>
      </p:sp>
      <p:sp>
        <p:nvSpPr>
          <p:cNvPr id="31" name="Shape 29"/>
          <p:cNvSpPr/>
          <p:nvPr/>
        </p:nvSpPr>
        <p:spPr>
          <a:xfrm flipH="1">
            <a:off x="5532120" y="3858768"/>
            <a:ext cx="182880" cy="0"/>
          </a:xfrm>
          <a:prstGeom prst="line">
            <a:avLst/>
          </a:prstGeom>
          <a:noFill/>
          <a:ln w="25400">
            <a:solidFill>
              <a:srgbClr val="13294B"/>
            </a:solidFill>
            <a:prstDash val="solid"/>
            <a:tailEnd type="triangle"/>
          </a:ln>
        </p:spPr>
      </p:sp>
      <p:sp>
        <p:nvSpPr>
          <p:cNvPr id="32" name="Shape 30"/>
          <p:cNvSpPr/>
          <p:nvPr/>
        </p:nvSpPr>
        <p:spPr>
          <a:xfrm>
            <a:off x="3749040" y="3429000"/>
            <a:ext cx="1783080" cy="868680"/>
          </a:xfrm>
          <a:prstGeom prst="rect">
            <a:avLst/>
          </a:prstGeom>
          <a:solidFill>
            <a:srgbClr val="FFFFFF"/>
          </a:solidFill>
          <a:ln w="12700">
            <a:solidFill>
              <a:srgbClr val="6B7280"/>
            </a:solidFill>
            <a:prstDash val="solid"/>
          </a:ln>
        </p:spPr>
      </p:sp>
      <p:sp>
        <p:nvSpPr>
          <p:cNvPr id="33" name="Text 31"/>
          <p:cNvSpPr txBox="1"/>
          <p:nvPr/>
        </p:nvSpPr>
        <p:spPr>
          <a:xfrm>
            <a:off x="3822192" y="3429000"/>
            <a:ext cx="1636776" cy="868680"/>
          </a:xfrm>
          <a:prstGeom prst="rect">
            <a:avLst/>
          </a:prstGeom>
          <a:noFill/>
          <a:ln/>
        </p:spPr>
        <p:txBody>
          <a:bodyPr wrap="square" lIns="0" tIns="0" rIns="0" bIns="0" rtlCol="0" anchor="ctr"/>
          <a:lstStyle/>
          <a:p>
            <a:pPr algn="ctr" indent="0" marL="0">
              <a:buNone/>
            </a:pPr>
            <a:r>
              <a:rPr lang="en-US" sz="1300" dirty="0">
                <a:solidFill>
                  <a:srgbClr val="1F2937"/>
                </a:solidFill>
                <a:latin typeface="Calibri" pitchFamily="34" charset="0"/>
                <a:ea typeface="Calibri" pitchFamily="34" charset="-122"/>
                <a:cs typeface="Calibri" pitchFamily="34" charset="-120"/>
              </a:rPr>
              <a:t>9. Save CSV: 50 readings before and 50 after</a:t>
            </a:r>
            <a:endParaRPr lang="en-US" sz="1300" dirty="0"/>
          </a:p>
        </p:txBody>
      </p:sp>
      <p:sp>
        <p:nvSpPr>
          <p:cNvPr id="34" name="Text 32"/>
          <p:cNvSpPr txBox="1"/>
          <p:nvPr/>
        </p:nvSpPr>
        <p:spPr>
          <a:xfrm>
            <a:off x="7406640" y="3172968"/>
            <a:ext cx="365760" cy="228600"/>
          </a:xfrm>
          <a:prstGeom prst="rect">
            <a:avLst/>
          </a:prstGeom>
          <a:noFill/>
          <a:ln/>
        </p:spPr>
        <p:txBody>
          <a:bodyPr wrap="square" lIns="0" tIns="0" rIns="0" bIns="0" rtlCol="0" anchor="t"/>
          <a:lstStyle/>
          <a:p>
            <a:pPr algn="ctr" indent="0" marL="0">
              <a:buNone/>
            </a:pPr>
            <a:r>
              <a:rPr lang="en-US" sz="1100" b="1" dirty="0">
                <a:solidFill>
                  <a:srgbClr val="C2410C"/>
                </a:solidFill>
                <a:latin typeface="Calibri" pitchFamily="34" charset="0"/>
                <a:ea typeface="Calibri" pitchFamily="34" charset="-122"/>
                <a:cs typeface="Calibri" pitchFamily="34" charset="-120"/>
              </a:rPr>
              <a:t>yes</a:t>
            </a:r>
            <a:endParaRPr lang="en-US" sz="1100" dirty="0"/>
          </a:p>
        </p:txBody>
      </p:sp>
      <p:sp>
        <p:nvSpPr>
          <p:cNvPr id="35" name="Shape 33"/>
          <p:cNvSpPr/>
          <p:nvPr/>
        </p:nvSpPr>
        <p:spPr>
          <a:xfrm flipV="1">
            <a:off x="2674620" y="2468880"/>
            <a:ext cx="0" cy="960120"/>
          </a:xfrm>
          <a:prstGeom prst="line">
            <a:avLst/>
          </a:prstGeom>
          <a:noFill/>
          <a:ln w="25400">
            <a:solidFill>
              <a:srgbClr val="C2410C"/>
            </a:solidFill>
            <a:prstDash val="solid"/>
            <a:tailEnd type="triangle"/>
          </a:ln>
        </p:spPr>
      </p:sp>
      <p:sp>
        <p:nvSpPr>
          <p:cNvPr id="36" name="Text 34"/>
          <p:cNvSpPr txBox="1"/>
          <p:nvPr/>
        </p:nvSpPr>
        <p:spPr>
          <a:xfrm>
            <a:off x="2747772" y="2697480"/>
            <a:ext cx="2377440" cy="274320"/>
          </a:xfrm>
          <a:prstGeom prst="rect">
            <a:avLst/>
          </a:prstGeom>
          <a:noFill/>
          <a:ln/>
        </p:spPr>
        <p:txBody>
          <a:bodyPr wrap="square" lIns="0" tIns="0" rIns="0" bIns="0" rtlCol="0" anchor="t"/>
          <a:lstStyle/>
          <a:p>
            <a:pPr indent="0" marL="0">
              <a:buNone/>
            </a:pPr>
            <a:r>
              <a:rPr lang="en-US" sz="1100" dirty="0">
                <a:solidFill>
                  <a:srgbClr val="C2410C"/>
                </a:solidFill>
                <a:latin typeface="Calibri" pitchFamily="34" charset="0"/>
                <a:ea typeface="Calibri" pitchFamily="34" charset="-122"/>
                <a:cs typeface="Calibri" pitchFamily="34" charset="-120"/>
              </a:rPr>
              <a:t>reply may carry a restart command</a:t>
            </a:r>
            <a:endParaRPr lang="en-US" sz="1100" dirty="0"/>
          </a:p>
        </p:txBody>
      </p:sp>
      <p:sp>
        <p:nvSpPr>
          <p:cNvPr id="37" name="Text 35"/>
          <p:cNvSpPr txBox="1"/>
          <p:nvPr/>
        </p:nvSpPr>
        <p:spPr>
          <a:xfrm>
            <a:off x="548640" y="4937760"/>
            <a:ext cx="11094415" cy="731520"/>
          </a:xfrm>
          <a:prstGeom prst="rect">
            <a:avLst/>
          </a:prstGeom>
          <a:noFill/>
          <a:ln/>
        </p:spPr>
        <p:txBody>
          <a:bodyPr wrap="square" lIns="0" tIns="0" rIns="0" bIns="0" rtlCol="0" anchor="t"/>
          <a:lstStyle/>
          <a:p>
            <a:pPr indent="0" marL="0">
              <a:buNone/>
            </a:pPr>
            <a:r>
              <a:rPr lang="en-US" sz="1400" dirty="0">
                <a:solidFill>
                  <a:srgbClr val="5B6472"/>
                </a:solidFill>
                <a:latin typeface="Calibri" pitchFamily="34" charset="0"/>
                <a:ea typeface="Calibri" pitchFamily="34" charset="-122"/>
                <a:cs typeface="Calibri" pitchFamily="34" charset="-120"/>
              </a:rPr>
              <a:t>The loop repeats every second. The buzzer and the trip happen before any network step, so local protection never waits on the fog or the cloud. On a CRITICAL reading the ESP32 also sends POST /alert, which is what triggers the SMS.</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1"/>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685800"/>
          </a:xfrm>
          <a:prstGeom prst="rect">
            <a:avLst/>
          </a:prstGeom>
          <a:noFill/>
          <a:ln/>
        </p:spPr>
        <p:txBody>
          <a:bodyPr wrap="square" lIns="0" tIns="0" rIns="0" bIns="0" rtlCol="0" anchor="ctr"/>
          <a:lstStyle/>
          <a:p>
            <a:pPr algn="l" indent="0" marL="0">
              <a:buNone/>
            </a:pPr>
            <a:r>
              <a:rPr lang="en-US" sz="2800" b="1" dirty="0">
                <a:solidFill>
                  <a:srgbClr val="13294B"/>
                </a:solidFill>
                <a:latin typeface="Calibri" pitchFamily="34" charset="0"/>
                <a:ea typeface="Calibri" pitchFamily="34" charset="-122"/>
                <a:cs typeface="Calibri" pitchFamily="34" charset="-120"/>
              </a:rPr>
              <a:t>Machine Identification with GPS</a:t>
            </a:r>
            <a:endParaRPr lang="en-US" sz="2800" dirty="0"/>
          </a:p>
        </p:txBody>
      </p:sp>
      <p:sp>
        <p:nvSpPr>
          <p:cNvPr id="3" name="Text 1"/>
          <p:cNvSpPr txBox="1"/>
          <p:nvPr/>
        </p:nvSpPr>
        <p:spPr>
          <a:xfrm>
            <a:off x="548640" y="1234440"/>
            <a:ext cx="5486400" cy="320040"/>
          </a:xfrm>
          <a:prstGeom prst="rect">
            <a:avLst/>
          </a:prstGeom>
          <a:noFill/>
          <a:ln/>
        </p:spPr>
        <p:txBody>
          <a:bodyPr wrap="square" lIns="0" tIns="0" rIns="0" bIns="0" rtlCol="0" anchor="t"/>
          <a:lstStyle/>
          <a:p>
            <a:pPr indent="0" marL="0">
              <a:buNone/>
            </a:pPr>
            <a:r>
              <a:rPr lang="en-US" sz="1600" b="1" dirty="0">
                <a:solidFill>
                  <a:srgbClr val="13294B"/>
                </a:solidFill>
                <a:latin typeface="Calibri" pitchFamily="34" charset="0"/>
                <a:ea typeface="Calibri" pitchFamily="34" charset="-122"/>
                <a:cs typeface="Calibri" pitchFamily="34" charset="-120"/>
              </a:rPr>
              <a:t>How each pump is identified</a:t>
            </a:r>
            <a:endParaRPr lang="en-US" sz="1600" dirty="0"/>
          </a:p>
        </p:txBody>
      </p:sp>
      <p:sp>
        <p:nvSpPr>
          <p:cNvPr id="4" name="Text 2"/>
          <p:cNvSpPr txBox="1"/>
          <p:nvPr/>
        </p:nvSpPr>
        <p:spPr>
          <a:xfrm>
            <a:off x="548640" y="1645920"/>
            <a:ext cx="365760" cy="868680"/>
          </a:xfrm>
          <a:prstGeom prst="rect">
            <a:avLst/>
          </a:prstGeom>
          <a:noFill/>
          <a:ln/>
        </p:spPr>
        <p:txBody>
          <a:bodyPr wrap="square" lIns="0" tIns="0" rIns="0" bIns="0" rtlCol="0" anchor="ctr"/>
          <a:lstStyle/>
          <a:p>
            <a:pPr indent="0" marL="0">
              <a:buNone/>
            </a:pPr>
            <a:r>
              <a:rPr lang="en-US" sz="1800" b="1" dirty="0">
                <a:solidFill>
                  <a:srgbClr val="C2410C"/>
                </a:solidFill>
                <a:latin typeface="Calibri" pitchFamily="34" charset="0"/>
                <a:ea typeface="Calibri" pitchFamily="34" charset="-122"/>
                <a:cs typeface="Calibri" pitchFamily="34" charset="-120"/>
              </a:rPr>
              <a:t>1</a:t>
            </a:r>
            <a:endParaRPr lang="en-US" sz="1800" dirty="0"/>
          </a:p>
        </p:txBody>
      </p:sp>
      <p:sp>
        <p:nvSpPr>
          <p:cNvPr id="5" name="Text 3"/>
          <p:cNvSpPr txBox="1"/>
          <p:nvPr/>
        </p:nvSpPr>
        <p:spPr>
          <a:xfrm>
            <a:off x="1005840" y="1645920"/>
            <a:ext cx="5029200" cy="868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Fixed identity</a:t>
            </a:r>
            <a:endParaRPr lang="en-US" sz="1500" dirty="0"/>
          </a:p>
          <a:p>
            <a:pPr indent="0" marL="0">
              <a:buNone/>
            </a:pPr>
            <a:r>
              <a:rPr lang="en-US" sz="1400" dirty="0">
                <a:solidFill>
                  <a:srgbClr val="374151"/>
                </a:solidFill>
                <a:latin typeface="Calibri" pitchFamily="34" charset="0"/>
                <a:ea typeface="Calibri" pitchFamily="34" charset="-122"/>
                <a:cs typeface="Calibri" pitchFamily="34" charset="-120"/>
              </a:rPr>
              <a:t>MACHINE_ID and site name are set in the firmware of each node.</a:t>
            </a:r>
            <a:endParaRPr lang="en-US" sz="1500" dirty="0"/>
          </a:p>
        </p:txBody>
      </p:sp>
      <p:sp>
        <p:nvSpPr>
          <p:cNvPr id="6" name="Shape 4"/>
          <p:cNvSpPr/>
          <p:nvPr/>
        </p:nvSpPr>
        <p:spPr>
          <a:xfrm>
            <a:off x="548640" y="2514600"/>
            <a:ext cx="5486400" cy="0"/>
          </a:xfrm>
          <a:prstGeom prst="line">
            <a:avLst/>
          </a:prstGeom>
          <a:noFill/>
          <a:ln w="9525">
            <a:solidFill>
              <a:srgbClr val="E5E7EB"/>
            </a:solidFill>
            <a:prstDash val="solid"/>
          </a:ln>
        </p:spPr>
      </p:sp>
      <p:sp>
        <p:nvSpPr>
          <p:cNvPr id="7" name="Text 5"/>
          <p:cNvSpPr txBox="1"/>
          <p:nvPr/>
        </p:nvSpPr>
        <p:spPr>
          <a:xfrm>
            <a:off x="548640" y="2514600"/>
            <a:ext cx="365760" cy="868680"/>
          </a:xfrm>
          <a:prstGeom prst="rect">
            <a:avLst/>
          </a:prstGeom>
          <a:noFill/>
          <a:ln/>
        </p:spPr>
        <p:txBody>
          <a:bodyPr wrap="square" lIns="0" tIns="0" rIns="0" bIns="0" rtlCol="0" anchor="ctr"/>
          <a:lstStyle/>
          <a:p>
            <a:pPr indent="0" marL="0">
              <a:buNone/>
            </a:pPr>
            <a:r>
              <a:rPr lang="en-US" sz="1800" b="1" dirty="0">
                <a:solidFill>
                  <a:srgbClr val="C2410C"/>
                </a:solidFill>
                <a:latin typeface="Calibri" pitchFamily="34" charset="0"/>
                <a:ea typeface="Calibri" pitchFamily="34" charset="-122"/>
                <a:cs typeface="Calibri" pitchFamily="34" charset="-120"/>
              </a:rPr>
              <a:t>2</a:t>
            </a:r>
            <a:endParaRPr lang="en-US" sz="1800" dirty="0"/>
          </a:p>
        </p:txBody>
      </p:sp>
      <p:sp>
        <p:nvSpPr>
          <p:cNvPr id="8" name="Text 6"/>
          <p:cNvSpPr txBox="1"/>
          <p:nvPr/>
        </p:nvSpPr>
        <p:spPr>
          <a:xfrm>
            <a:off x="1005840" y="2514600"/>
            <a:ext cx="5029200" cy="868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GPS position</a:t>
            </a:r>
            <a:endParaRPr lang="en-US" sz="1500" dirty="0"/>
          </a:p>
          <a:p>
            <a:pPr indent="0" marL="0">
              <a:buNone/>
            </a:pPr>
            <a:r>
              <a:rPr lang="en-US" sz="1400" dirty="0">
                <a:solidFill>
                  <a:srgbClr val="374151"/>
                </a:solidFill>
                <a:latin typeface="Calibri" pitchFamily="34" charset="0"/>
                <a:ea typeface="Calibri" pitchFamily="34" charset="-122"/>
                <a:cs typeface="Calibri" pitchFamily="34" charset="-120"/>
              </a:rPr>
              <a:t>NEO-6M on UART2, parsed with TinyGPSPlus; used when the fix is less than 5 s old.</a:t>
            </a:r>
            <a:endParaRPr lang="en-US" sz="1500" dirty="0"/>
          </a:p>
        </p:txBody>
      </p:sp>
      <p:sp>
        <p:nvSpPr>
          <p:cNvPr id="9" name="Shape 7"/>
          <p:cNvSpPr/>
          <p:nvPr/>
        </p:nvSpPr>
        <p:spPr>
          <a:xfrm>
            <a:off x="548640" y="3383280"/>
            <a:ext cx="5486400" cy="0"/>
          </a:xfrm>
          <a:prstGeom prst="line">
            <a:avLst/>
          </a:prstGeom>
          <a:noFill/>
          <a:ln w="9525">
            <a:solidFill>
              <a:srgbClr val="E5E7EB"/>
            </a:solidFill>
            <a:prstDash val="solid"/>
          </a:ln>
        </p:spPr>
      </p:sp>
      <p:sp>
        <p:nvSpPr>
          <p:cNvPr id="10" name="Text 8"/>
          <p:cNvSpPr txBox="1"/>
          <p:nvPr/>
        </p:nvSpPr>
        <p:spPr>
          <a:xfrm>
            <a:off x="548640" y="3383280"/>
            <a:ext cx="365760" cy="868680"/>
          </a:xfrm>
          <a:prstGeom prst="rect">
            <a:avLst/>
          </a:prstGeom>
          <a:noFill/>
          <a:ln/>
        </p:spPr>
        <p:txBody>
          <a:bodyPr wrap="square" lIns="0" tIns="0" rIns="0" bIns="0" rtlCol="0" anchor="ctr"/>
          <a:lstStyle/>
          <a:p>
            <a:pPr indent="0" marL="0">
              <a:buNone/>
            </a:pPr>
            <a:r>
              <a:rPr lang="en-US" sz="1800" b="1" dirty="0">
                <a:solidFill>
                  <a:srgbClr val="C2410C"/>
                </a:solidFill>
                <a:latin typeface="Calibri" pitchFamily="34" charset="0"/>
                <a:ea typeface="Calibri" pitchFamily="34" charset="-122"/>
                <a:cs typeface="Calibri" pitchFamily="34" charset="-120"/>
              </a:rPr>
              <a:t>3</a:t>
            </a:r>
            <a:endParaRPr lang="en-US" sz="1800" dirty="0"/>
          </a:p>
        </p:txBody>
      </p:sp>
      <p:sp>
        <p:nvSpPr>
          <p:cNvPr id="11" name="Text 9"/>
          <p:cNvSpPr txBox="1"/>
          <p:nvPr/>
        </p:nvSpPr>
        <p:spPr>
          <a:xfrm>
            <a:off x="1005840" y="3383280"/>
            <a:ext cx="5029200" cy="868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Fallback location</a:t>
            </a:r>
            <a:endParaRPr lang="en-US" sz="1500" dirty="0"/>
          </a:p>
          <a:p>
            <a:pPr indent="0" marL="0">
              <a:buNone/>
            </a:pPr>
            <a:r>
              <a:rPr lang="en-US" sz="1400" dirty="0">
                <a:solidFill>
                  <a:srgbClr val="374151"/>
                </a:solidFill>
                <a:latin typeface="Calibri" pitchFamily="34" charset="0"/>
                <a:ea typeface="Calibri" pitchFamily="34" charset="-122"/>
                <a:cs typeface="Calibri" pitchFamily="34" charset="-120"/>
              </a:rPr>
              <a:t>Without a fix (indoors, or no GPS fitted) the node sends the coordinates entered at installation, marked as fixed.</a:t>
            </a:r>
            <a:endParaRPr lang="en-US" sz="1500" dirty="0"/>
          </a:p>
        </p:txBody>
      </p:sp>
      <p:sp>
        <p:nvSpPr>
          <p:cNvPr id="12" name="Shape 10"/>
          <p:cNvSpPr/>
          <p:nvPr/>
        </p:nvSpPr>
        <p:spPr>
          <a:xfrm>
            <a:off x="548640" y="4251960"/>
            <a:ext cx="5486400" cy="0"/>
          </a:xfrm>
          <a:prstGeom prst="line">
            <a:avLst/>
          </a:prstGeom>
          <a:noFill/>
          <a:ln w="9525">
            <a:solidFill>
              <a:srgbClr val="E5E7EB"/>
            </a:solidFill>
            <a:prstDash val="solid"/>
          </a:ln>
        </p:spPr>
      </p:sp>
      <p:sp>
        <p:nvSpPr>
          <p:cNvPr id="13" name="Text 11"/>
          <p:cNvSpPr txBox="1"/>
          <p:nvPr/>
        </p:nvSpPr>
        <p:spPr>
          <a:xfrm>
            <a:off x="548640" y="4251960"/>
            <a:ext cx="365760" cy="868680"/>
          </a:xfrm>
          <a:prstGeom prst="rect">
            <a:avLst/>
          </a:prstGeom>
          <a:noFill/>
          <a:ln/>
        </p:spPr>
        <p:txBody>
          <a:bodyPr wrap="square" lIns="0" tIns="0" rIns="0" bIns="0" rtlCol="0" anchor="ctr"/>
          <a:lstStyle/>
          <a:p>
            <a:pPr indent="0" marL="0">
              <a:buNone/>
            </a:pPr>
            <a:r>
              <a:rPr lang="en-US" sz="1800" b="1" dirty="0">
                <a:solidFill>
                  <a:srgbClr val="C2410C"/>
                </a:solidFill>
                <a:latin typeface="Calibri" pitchFamily="34" charset="0"/>
                <a:ea typeface="Calibri" pitchFamily="34" charset="-122"/>
                <a:cs typeface="Calibri" pitchFamily="34" charset="-120"/>
              </a:rPr>
              <a:t>4</a:t>
            </a:r>
            <a:endParaRPr lang="en-US" sz="1800" dirty="0"/>
          </a:p>
        </p:txBody>
      </p:sp>
      <p:sp>
        <p:nvSpPr>
          <p:cNvPr id="14" name="Text 12"/>
          <p:cNvSpPr txBox="1"/>
          <p:nvPr/>
        </p:nvSpPr>
        <p:spPr>
          <a:xfrm>
            <a:off x="1005840" y="4251960"/>
            <a:ext cx="5029200" cy="868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Sent with everything</a:t>
            </a:r>
            <a:endParaRPr lang="en-US" sz="1500" dirty="0"/>
          </a:p>
          <a:p>
            <a:pPr indent="0" marL="0">
              <a:buNone/>
            </a:pPr>
            <a:r>
              <a:rPr lang="en-US" sz="1400" dirty="0">
                <a:solidFill>
                  <a:srgbClr val="374151"/>
                </a:solidFill>
                <a:latin typeface="Calibri" pitchFamily="34" charset="0"/>
                <a:ea typeface="Calibri" pitchFamily="34" charset="-122"/>
                <a:cs typeface="Calibri" pitchFamily="34" charset="-120"/>
              </a:rPr>
              <a:t>Every reading, batch and alert carries id, site, lat, lon, a GPS flag and the satellite count.</a:t>
            </a:r>
            <a:endParaRPr lang="en-US" sz="1500" dirty="0"/>
          </a:p>
        </p:txBody>
      </p:sp>
      <p:sp>
        <p:nvSpPr>
          <p:cNvPr id="15" name="Text 13"/>
          <p:cNvSpPr txBox="1"/>
          <p:nvPr/>
        </p:nvSpPr>
        <p:spPr>
          <a:xfrm>
            <a:off x="6400800" y="1234440"/>
            <a:ext cx="5212080" cy="320040"/>
          </a:xfrm>
          <a:prstGeom prst="rect">
            <a:avLst/>
          </a:prstGeom>
          <a:noFill/>
          <a:ln/>
        </p:spPr>
        <p:txBody>
          <a:bodyPr wrap="square" lIns="0" tIns="0" rIns="0" bIns="0" rtlCol="0" anchor="t"/>
          <a:lstStyle/>
          <a:p>
            <a:pPr indent="0" marL="0">
              <a:buNone/>
            </a:pPr>
            <a:r>
              <a:rPr lang="en-US" sz="1600" b="1" dirty="0">
                <a:solidFill>
                  <a:srgbClr val="13294B"/>
                </a:solidFill>
                <a:latin typeface="Calibri" pitchFamily="34" charset="0"/>
                <a:ea typeface="Calibri" pitchFamily="34" charset="-122"/>
                <a:cs typeface="Calibri" pitchFamily="34" charset="-120"/>
              </a:rPr>
              <a:t>Where the location is used</a:t>
            </a:r>
            <a:endParaRPr lang="en-US" sz="1600" dirty="0"/>
          </a:p>
        </p:txBody>
      </p:sp>
      <p:sp>
        <p:nvSpPr>
          <p:cNvPr id="16" name="Text 14"/>
          <p:cNvSpPr txBox="1"/>
          <p:nvPr/>
        </p:nvSpPr>
        <p:spPr>
          <a:xfrm>
            <a:off x="6400800" y="1645920"/>
            <a:ext cx="5239512" cy="1280160"/>
          </a:xfrm>
          <a:prstGeom prst="rect">
            <a:avLst/>
          </a:prstGeom>
          <a:noFill/>
          <a:ln/>
        </p:spPr>
        <p:txBody>
          <a:bodyPr wrap="square" lIns="0" tIns="0" rIns="0" bIns="0" rtlCol="0" anchor="t"/>
          <a:lstStyle/>
          <a:p>
            <a:pPr marL="177800" indent="-177800">
              <a:spcAft>
                <a:spcPts val="700"/>
              </a:spcAft>
              <a:buSzPct val="100000"/>
              <a:buChar char="•"/>
            </a:pPr>
            <a:r>
              <a:rPr lang="en-US" sz="1500" dirty="0">
                <a:solidFill>
                  <a:srgbClr val="374151"/>
                </a:solidFill>
                <a:latin typeface="Calibri" pitchFamily="34" charset="0"/>
                <a:ea typeface="Calibri" pitchFamily="34" charset="-122"/>
                <a:cs typeface="Calibri" pitchFamily="34" charset="-120"/>
              </a:rPr>
              <a:t>Dashboard map: each pump is a marker coloured by its state</a:t>
            </a:r>
            <a:endParaRPr lang="en-US" sz="1500" dirty="0"/>
          </a:p>
          <a:p>
            <a:pPr marL="177800" indent="-177800">
              <a:spcAft>
                <a:spcPts val="700"/>
              </a:spcAft>
              <a:buSzPct val="100000"/>
              <a:buChar char="•"/>
            </a:pPr>
            <a:r>
              <a:rPr lang="en-US" sz="1500" dirty="0">
                <a:solidFill>
                  <a:srgbClr val="374151"/>
                </a:solidFill>
                <a:latin typeface="Calibri" pitchFamily="34" charset="0"/>
                <a:ea typeface="Calibri" pitchFamily="34" charset="-122"/>
                <a:cs typeface="Calibri" pitchFamily="34" charset="-120"/>
              </a:rPr>
              <a:t>SMS: pump ID, site, reading and a Google Maps link</a:t>
            </a:r>
            <a:endParaRPr lang="en-US" sz="1500" dirty="0"/>
          </a:p>
          <a:p>
            <a:pPr marL="177800" indent="-177800">
              <a:spcAft>
                <a:spcPts val="700"/>
              </a:spcAft>
              <a:buSzPct val="100000"/>
              <a:buChar char="•"/>
            </a:pPr>
            <a:r>
              <a:rPr lang="en-US" sz="1500" dirty="0">
                <a:solidFill>
                  <a:srgbClr val="374151"/>
                </a:solidFill>
                <a:latin typeface="Calibri" pitchFamily="34" charset="0"/>
                <a:ea typeface="Calibri" pitchFamily="34" charset="-122"/>
                <a:cs typeface="Calibri" pitchFamily="34" charset="-120"/>
              </a:rPr>
              <a:t>Fault recordings: every CSV row is tagged with the pump ID</a:t>
            </a:r>
            <a:endParaRPr lang="en-US" sz="1500" dirty="0"/>
          </a:p>
        </p:txBody>
      </p:sp>
      <p:sp>
        <p:nvSpPr>
          <p:cNvPr id="17" name="Shape 15"/>
          <p:cNvSpPr/>
          <p:nvPr/>
        </p:nvSpPr>
        <p:spPr>
          <a:xfrm>
            <a:off x="6400800" y="3063240"/>
            <a:ext cx="5239512" cy="1325880"/>
          </a:xfrm>
          <a:prstGeom prst="roundRect">
            <a:avLst>
              <a:gd name="adj" fmla="val 5517"/>
            </a:avLst>
          </a:prstGeom>
          <a:solidFill>
            <a:srgbClr val="F3F5F8"/>
          </a:solidFill>
          <a:ln w="12700">
            <a:solidFill>
              <a:srgbClr val="E3E7ED"/>
            </a:solidFill>
            <a:prstDash val="solid"/>
          </a:ln>
        </p:spPr>
      </p:sp>
      <p:sp>
        <p:nvSpPr>
          <p:cNvPr id="18" name="Text 16"/>
          <p:cNvSpPr txBox="1"/>
          <p:nvPr/>
        </p:nvSpPr>
        <p:spPr>
          <a:xfrm>
            <a:off x="6583680" y="3154680"/>
            <a:ext cx="2743200" cy="274320"/>
          </a:xfrm>
          <a:prstGeom prst="rect">
            <a:avLst/>
          </a:prstGeom>
          <a:noFill/>
          <a:ln/>
        </p:spPr>
        <p:txBody>
          <a:bodyPr wrap="square" lIns="0" tIns="0" rIns="0" bIns="0" rtlCol="0" anchor="t"/>
          <a:lstStyle/>
          <a:p>
            <a:pPr indent="0" marL="0">
              <a:buNone/>
            </a:pPr>
            <a:r>
              <a:rPr lang="en-US" sz="1200" b="1" dirty="0">
                <a:solidFill>
                  <a:srgbClr val="5B6472"/>
                </a:solidFill>
                <a:latin typeface="Calibri" pitchFamily="34" charset="0"/>
                <a:ea typeface="Calibri" pitchFamily="34" charset="-122"/>
                <a:cs typeface="Calibri" pitchFamily="34" charset="-120"/>
              </a:rPr>
              <a:t>Example SMS</a:t>
            </a:r>
            <a:endParaRPr lang="en-US" sz="1200" dirty="0"/>
          </a:p>
        </p:txBody>
      </p:sp>
      <p:sp>
        <p:nvSpPr>
          <p:cNvPr id="19" name="Text 17"/>
          <p:cNvSpPr/>
          <p:nvPr/>
        </p:nvSpPr>
        <p:spPr>
          <a:xfrm>
            <a:off x="6583680" y="3429000"/>
            <a:ext cx="4892040" cy="868680"/>
          </a:xfrm>
          <a:prstGeom prst="rect">
            <a:avLst/>
          </a:prstGeom>
          <a:noFill/>
          <a:ln/>
        </p:spPr>
        <p:txBody>
          <a:bodyPr wrap="square" lIns="0" tIns="0" rIns="0" bIns="0" rtlCol="0" anchor="t"/>
          <a:lstStyle/>
          <a:p>
            <a:pPr indent="0" marL="0">
              <a:buNone/>
            </a:pPr>
            <a:r>
              <a:rPr lang="en-US" sz="1200" dirty="0">
                <a:solidFill>
                  <a:srgbClr val="1F2937"/>
                </a:solidFill>
                <a:latin typeface="Courier New" pitchFamily="34" charset="0"/>
                <a:ea typeface="Courier New" pitchFamily="34" charset="-122"/>
                <a:cs typeface="Courier New" pitchFamily="34" charset="-120"/>
              </a:rPr>
              <a:t>ResQFog ALERT: PUMP-03 (Gandhi Nagar OHT) CRITICAL 1.31 g at 14:02:11. Location: https://maps.google.com/?q=12.95510,79.13980</a:t>
            </a:r>
            <a:endParaRPr lang="en-US" sz="1200" dirty="0"/>
          </a:p>
        </p:txBody>
      </p:sp>
      <p:sp>
        <p:nvSpPr>
          <p:cNvPr id="20" name="Text 18"/>
          <p:cNvSpPr txBox="1"/>
          <p:nvPr/>
        </p:nvSpPr>
        <p:spPr>
          <a:xfrm>
            <a:off x="548640" y="5257800"/>
            <a:ext cx="11094415" cy="731520"/>
          </a:xfrm>
          <a:prstGeom prst="rect">
            <a:avLst/>
          </a:prstGeom>
          <a:noFill/>
          <a:ln/>
        </p:spPr>
        <p:txBody>
          <a:bodyPr wrap="square" lIns="0" tIns="0" rIns="0" bIns="0" rtlCol="0" anchor="t"/>
          <a:lstStyle/>
          <a:p>
            <a:pPr indent="0" marL="0">
              <a:buNone/>
            </a:pPr>
            <a:r>
              <a:rPr lang="en-US" sz="1300" dirty="0">
                <a:solidFill>
                  <a:srgbClr val="5B6472"/>
                </a:solidFill>
                <a:latin typeface="Calibri" pitchFamily="34" charset="0"/>
                <a:ea typeface="Calibri" pitchFamily="34" charset="-122"/>
                <a:cs typeface="Calibri" pitchFamily="34" charset="-120"/>
              </a:rPr>
              <a:t>GPS needs a view of the sky. Most pump houses are small single-storey rooms, so the antenna can sit near a window or on the roof. Inside a large factory a fixed location per machine is enough, which is why the fallback exists.</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1"/>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685800"/>
          </a:xfrm>
          <a:prstGeom prst="rect">
            <a:avLst/>
          </a:prstGeom>
          <a:noFill/>
          <a:ln/>
        </p:spPr>
        <p:txBody>
          <a:bodyPr wrap="square" lIns="0" tIns="0" rIns="0" bIns="0" rtlCol="0" anchor="ctr"/>
          <a:lstStyle/>
          <a:p>
            <a:pPr algn="l" indent="0" marL="0">
              <a:buNone/>
            </a:pPr>
            <a:r>
              <a:rPr lang="en-US" sz="2800" b="1" dirty="0">
                <a:solidFill>
                  <a:srgbClr val="13294B"/>
                </a:solidFill>
                <a:latin typeface="Calibri" pitchFamily="34" charset="0"/>
                <a:ea typeface="Calibri" pitchFamily="34" charset="-122"/>
                <a:cs typeface="Calibri" pitchFamily="34" charset="-120"/>
              </a:rPr>
              <a:t>Motor Protection and Offline Buffering</a:t>
            </a:r>
            <a:endParaRPr lang="en-US" sz="2800" dirty="0"/>
          </a:p>
        </p:txBody>
      </p:sp>
      <p:sp>
        <p:nvSpPr>
          <p:cNvPr id="3" name="Text 1"/>
          <p:cNvSpPr txBox="1"/>
          <p:nvPr/>
        </p:nvSpPr>
        <p:spPr>
          <a:xfrm>
            <a:off x="548640" y="1234440"/>
            <a:ext cx="5303520" cy="320040"/>
          </a:xfrm>
          <a:prstGeom prst="rect">
            <a:avLst/>
          </a:prstGeom>
          <a:noFill/>
          <a:ln/>
        </p:spPr>
        <p:txBody>
          <a:bodyPr wrap="square" lIns="0" tIns="0" rIns="0" bIns="0" rtlCol="0" anchor="t"/>
          <a:lstStyle/>
          <a:p>
            <a:pPr indent="0" marL="0">
              <a:buNone/>
            </a:pPr>
            <a:r>
              <a:rPr lang="en-US" sz="1600" b="1" dirty="0">
                <a:solidFill>
                  <a:srgbClr val="13294B"/>
                </a:solidFill>
                <a:latin typeface="Calibri" pitchFamily="34" charset="0"/>
                <a:ea typeface="Calibri" pitchFamily="34" charset="-122"/>
                <a:cs typeface="Calibri" pitchFamily="34" charset="-120"/>
              </a:rPr>
              <a:t>Automatic motor trip</a:t>
            </a:r>
            <a:endParaRPr lang="en-US" sz="1600" dirty="0"/>
          </a:p>
        </p:txBody>
      </p:sp>
      <p:sp>
        <p:nvSpPr>
          <p:cNvPr id="4" name="Shape 2"/>
          <p:cNvSpPr/>
          <p:nvPr/>
        </p:nvSpPr>
        <p:spPr>
          <a:xfrm>
            <a:off x="731520" y="1783080"/>
            <a:ext cx="1737360" cy="731520"/>
          </a:xfrm>
          <a:prstGeom prst="roundRect">
            <a:avLst>
              <a:gd name="adj" fmla="val 10000"/>
            </a:avLst>
          </a:prstGeom>
          <a:solidFill>
            <a:srgbClr val="DCFCE7"/>
          </a:solidFill>
          <a:ln w="12700">
            <a:solidFill>
              <a:srgbClr val="15803D"/>
            </a:solidFill>
            <a:prstDash val="solid"/>
          </a:ln>
        </p:spPr>
      </p:sp>
      <p:sp>
        <p:nvSpPr>
          <p:cNvPr id="5" name="Text 3"/>
          <p:cNvSpPr txBox="1"/>
          <p:nvPr/>
        </p:nvSpPr>
        <p:spPr>
          <a:xfrm>
            <a:off x="731520" y="1783080"/>
            <a:ext cx="1737360" cy="731520"/>
          </a:xfrm>
          <a:prstGeom prst="rect">
            <a:avLst/>
          </a:prstGeom>
          <a:noFill/>
          <a:ln/>
        </p:spPr>
        <p:txBody>
          <a:bodyPr wrap="square" lIns="0" tIns="0" rIns="0" bIns="0" rtlCol="0" anchor="ctr"/>
          <a:lstStyle/>
          <a:p>
            <a:pPr algn="ctr" indent="0" marL="0">
              <a:buNone/>
            </a:pPr>
            <a:r>
              <a:rPr lang="en-US" sz="1600" b="1" dirty="0">
                <a:solidFill>
                  <a:srgbClr val="15803D"/>
                </a:solidFill>
                <a:latin typeface="Calibri" pitchFamily="34" charset="0"/>
                <a:ea typeface="Calibri" pitchFamily="34" charset="-122"/>
                <a:cs typeface="Calibri" pitchFamily="34" charset="-120"/>
              </a:rPr>
              <a:t>RUNNING</a:t>
            </a:r>
            <a:endParaRPr lang="en-US" sz="1600" dirty="0"/>
          </a:p>
        </p:txBody>
      </p:sp>
      <p:sp>
        <p:nvSpPr>
          <p:cNvPr id="6" name="Shape 4"/>
          <p:cNvSpPr/>
          <p:nvPr/>
        </p:nvSpPr>
        <p:spPr>
          <a:xfrm>
            <a:off x="3931920" y="1783080"/>
            <a:ext cx="1737360" cy="731520"/>
          </a:xfrm>
          <a:prstGeom prst="roundRect">
            <a:avLst>
              <a:gd name="adj" fmla="val 10000"/>
            </a:avLst>
          </a:prstGeom>
          <a:solidFill>
            <a:srgbClr val="FEE2E2"/>
          </a:solidFill>
          <a:ln w="12700">
            <a:solidFill>
              <a:srgbClr val="B91C1C"/>
            </a:solidFill>
            <a:prstDash val="solid"/>
          </a:ln>
        </p:spPr>
      </p:sp>
      <p:sp>
        <p:nvSpPr>
          <p:cNvPr id="7" name="Text 5"/>
          <p:cNvSpPr txBox="1"/>
          <p:nvPr/>
        </p:nvSpPr>
        <p:spPr>
          <a:xfrm>
            <a:off x="3931920" y="1783080"/>
            <a:ext cx="1737360" cy="731520"/>
          </a:xfrm>
          <a:prstGeom prst="rect">
            <a:avLst/>
          </a:prstGeom>
          <a:noFill/>
          <a:ln/>
        </p:spPr>
        <p:txBody>
          <a:bodyPr wrap="square" lIns="0" tIns="0" rIns="0" bIns="0" rtlCol="0" anchor="ctr"/>
          <a:lstStyle/>
          <a:p>
            <a:pPr algn="ctr" indent="0" marL="0">
              <a:buNone/>
            </a:pPr>
            <a:r>
              <a:rPr lang="en-US" sz="1600" b="1" dirty="0">
                <a:solidFill>
                  <a:srgbClr val="B91C1C"/>
                </a:solidFill>
                <a:latin typeface="Calibri" pitchFamily="34" charset="0"/>
                <a:ea typeface="Calibri" pitchFamily="34" charset="-122"/>
                <a:cs typeface="Calibri" pitchFamily="34" charset="-120"/>
              </a:rPr>
              <a:t>TRIPPED</a:t>
            </a:r>
            <a:endParaRPr lang="en-US" sz="1600" dirty="0"/>
          </a:p>
        </p:txBody>
      </p:sp>
      <p:sp>
        <p:nvSpPr>
          <p:cNvPr id="8" name="Shape 6"/>
          <p:cNvSpPr/>
          <p:nvPr/>
        </p:nvSpPr>
        <p:spPr>
          <a:xfrm>
            <a:off x="2514600" y="1965960"/>
            <a:ext cx="1371600" cy="0"/>
          </a:xfrm>
          <a:prstGeom prst="line">
            <a:avLst/>
          </a:prstGeom>
          <a:noFill/>
          <a:ln w="25400">
            <a:solidFill>
              <a:srgbClr val="B91C1C"/>
            </a:solidFill>
            <a:prstDash val="solid"/>
            <a:tailEnd type="triangle"/>
          </a:ln>
        </p:spPr>
      </p:sp>
      <p:sp>
        <p:nvSpPr>
          <p:cNvPr id="9" name="Text 7"/>
          <p:cNvSpPr txBox="1"/>
          <p:nvPr/>
        </p:nvSpPr>
        <p:spPr>
          <a:xfrm>
            <a:off x="2468880" y="1572768"/>
            <a:ext cx="1463040" cy="320040"/>
          </a:xfrm>
          <a:prstGeom prst="rect">
            <a:avLst/>
          </a:prstGeom>
          <a:noFill/>
          <a:ln/>
        </p:spPr>
        <p:txBody>
          <a:bodyPr wrap="square" lIns="0" tIns="0" rIns="0" bIns="0" rtlCol="0" anchor="t"/>
          <a:lstStyle/>
          <a:p>
            <a:pPr algn="ctr" indent="0" marL="0">
              <a:buNone/>
            </a:pPr>
            <a:r>
              <a:rPr lang="en-US" sz="1100" dirty="0">
                <a:solidFill>
                  <a:srgbClr val="B91C1C"/>
                </a:solidFill>
                <a:latin typeface="Calibri" pitchFamily="34" charset="0"/>
                <a:ea typeface="Calibri" pitchFamily="34" charset="-122"/>
                <a:cs typeface="Calibri" pitchFamily="34" charset="-120"/>
              </a:rPr>
              <a:t>3 CRITICAL in a row</a:t>
            </a:r>
            <a:endParaRPr lang="en-US" sz="1100" dirty="0"/>
          </a:p>
        </p:txBody>
      </p:sp>
      <p:sp>
        <p:nvSpPr>
          <p:cNvPr id="10" name="Shape 8"/>
          <p:cNvSpPr/>
          <p:nvPr/>
        </p:nvSpPr>
        <p:spPr>
          <a:xfrm flipH="1">
            <a:off x="2514600" y="2331720"/>
            <a:ext cx="1371600" cy="0"/>
          </a:xfrm>
          <a:prstGeom prst="line">
            <a:avLst/>
          </a:prstGeom>
          <a:noFill/>
          <a:ln w="25400">
            <a:solidFill>
              <a:srgbClr val="15803D"/>
            </a:solidFill>
            <a:prstDash val="solid"/>
            <a:tailEnd type="triangle"/>
          </a:ln>
        </p:spPr>
      </p:sp>
      <p:sp>
        <p:nvSpPr>
          <p:cNvPr id="11" name="Text 9"/>
          <p:cNvSpPr txBox="1"/>
          <p:nvPr/>
        </p:nvSpPr>
        <p:spPr>
          <a:xfrm>
            <a:off x="2468880" y="2377440"/>
            <a:ext cx="1463040" cy="457200"/>
          </a:xfrm>
          <a:prstGeom prst="rect">
            <a:avLst/>
          </a:prstGeom>
          <a:noFill/>
          <a:ln/>
        </p:spPr>
        <p:txBody>
          <a:bodyPr wrap="square" lIns="0" tIns="0" rIns="0" bIns="0" rtlCol="0" anchor="t"/>
          <a:lstStyle/>
          <a:p>
            <a:pPr algn="ctr" indent="0" marL="0">
              <a:buNone/>
            </a:pPr>
            <a:r>
              <a:rPr lang="en-US" sz="1100" dirty="0">
                <a:solidFill>
                  <a:srgbClr val="15803D"/>
                </a:solidFill>
                <a:latin typeface="Calibri" pitchFamily="34" charset="0"/>
                <a:ea typeface="Calibri" pitchFamily="34" charset="-122"/>
                <a:cs typeface="Calibri" pitchFamily="34" charset="-120"/>
              </a:rPr>
              <a:t>knob to zero, or dashboard restart</a:t>
            </a:r>
            <a:endParaRPr lang="en-US" sz="1100" dirty="0"/>
          </a:p>
        </p:txBody>
      </p:sp>
      <p:sp>
        <p:nvSpPr>
          <p:cNvPr id="12" name="Text 10"/>
          <p:cNvSpPr txBox="1"/>
          <p:nvPr/>
        </p:nvSpPr>
        <p:spPr>
          <a:xfrm>
            <a:off x="548640" y="3108960"/>
            <a:ext cx="5303520" cy="2560320"/>
          </a:xfrm>
          <a:prstGeom prst="rect">
            <a:avLst/>
          </a:prstGeom>
          <a:noFill/>
          <a:ln/>
        </p:spPr>
        <p:txBody>
          <a:bodyPr wrap="square" lIns="0" tIns="0" rIns="0" bIns="0" rtlCol="0" anchor="t"/>
          <a:lstStyle/>
          <a:p>
            <a:pPr marL="177800" indent="-177800">
              <a:spcAft>
                <a:spcPts val="700"/>
              </a:spcAft>
              <a:buSzPct val="100000"/>
              <a:buChar char="•"/>
            </a:pPr>
            <a:r>
              <a:rPr lang="en-US" sz="1500" dirty="0">
                <a:solidFill>
                  <a:srgbClr val="374151"/>
                </a:solidFill>
                <a:latin typeface="Calibri" pitchFamily="34" charset="0"/>
                <a:ea typeface="Calibri" pitchFamily="34" charset="-122"/>
                <a:cs typeface="Calibri" pitchFamily="34" charset="-120"/>
              </a:rPr>
              <a:t>Power is cut through the L298N enable pin; no extra hardware</a:t>
            </a:r>
            <a:endParaRPr lang="en-US" sz="1500" dirty="0"/>
          </a:p>
          <a:p>
            <a:pPr marL="177800" indent="-177800">
              <a:spcAft>
                <a:spcPts val="700"/>
              </a:spcAft>
              <a:buSzPct val="100000"/>
              <a:buChar char="•"/>
            </a:pPr>
            <a:r>
              <a:rPr lang="en-US" sz="1500" dirty="0">
                <a:solidFill>
                  <a:srgbClr val="374151"/>
                </a:solidFill>
                <a:latin typeface="Calibri" pitchFamily="34" charset="0"/>
                <a:ea typeface="Calibri" pitchFamily="34" charset="-122"/>
                <a:cs typeface="Calibri" pitchFamily="34" charset="-120"/>
              </a:rPr>
              <a:t>Buzzer beeps every second while the motor is tripped</a:t>
            </a:r>
            <a:endParaRPr lang="en-US" sz="1500" dirty="0"/>
          </a:p>
          <a:p>
            <a:pPr marL="177800" indent="-177800">
              <a:spcAft>
                <a:spcPts val="700"/>
              </a:spcAft>
              <a:buSzPct val="100000"/>
              <a:buChar char="•"/>
            </a:pPr>
            <a:r>
              <a:rPr lang="en-US" sz="1500" dirty="0">
                <a:solidFill>
                  <a:srgbClr val="374151"/>
                </a:solidFill>
                <a:latin typeface="Calibri" pitchFamily="34" charset="0"/>
                <a:ea typeface="Calibri" pitchFamily="34" charset="-122"/>
                <a:cs typeface="Calibri" pitchFamily="34" charset="-120"/>
              </a:rPr>
              <a:t>Dashboard shows TRIPPED with a Restart motor button</a:t>
            </a:r>
            <a:endParaRPr lang="en-US" sz="1500" dirty="0"/>
          </a:p>
          <a:p>
            <a:pPr marL="177800" indent="-177800">
              <a:spcAft>
                <a:spcPts val="700"/>
              </a:spcAft>
              <a:buSzPct val="100000"/>
              <a:buChar char="•"/>
            </a:pPr>
            <a:r>
              <a:rPr lang="en-US" sz="1500" dirty="0">
                <a:solidFill>
                  <a:srgbClr val="374151"/>
                </a:solidFill>
                <a:latin typeface="Calibri" pitchFamily="34" charset="0"/>
                <a:ea typeface="Calibri" pitchFamily="34" charset="-122"/>
                <a:cs typeface="Calibri" pitchFamily="34" charset="-120"/>
              </a:rPr>
              <a:t>The restart reaches the ESP32 in the reply to its next reading, within about 1 s</a:t>
            </a:r>
            <a:endParaRPr lang="en-US" sz="1500" dirty="0"/>
          </a:p>
        </p:txBody>
      </p:sp>
      <p:sp>
        <p:nvSpPr>
          <p:cNvPr id="13" name="Text 11"/>
          <p:cNvSpPr txBox="1"/>
          <p:nvPr/>
        </p:nvSpPr>
        <p:spPr>
          <a:xfrm>
            <a:off x="6355080" y="1234440"/>
            <a:ext cx="5285232" cy="320040"/>
          </a:xfrm>
          <a:prstGeom prst="rect">
            <a:avLst/>
          </a:prstGeom>
          <a:noFill/>
          <a:ln/>
        </p:spPr>
        <p:txBody>
          <a:bodyPr wrap="square" lIns="0" tIns="0" rIns="0" bIns="0" rtlCol="0" anchor="t"/>
          <a:lstStyle/>
          <a:p>
            <a:pPr indent="0" marL="0">
              <a:buNone/>
            </a:pPr>
            <a:r>
              <a:rPr lang="en-US" sz="1600" b="1" dirty="0">
                <a:solidFill>
                  <a:srgbClr val="13294B"/>
                </a:solidFill>
                <a:latin typeface="Calibri" pitchFamily="34" charset="0"/>
                <a:ea typeface="Calibri" pitchFamily="34" charset="-122"/>
                <a:cs typeface="Calibri" pitchFamily="34" charset="-120"/>
              </a:rPr>
              <a:t>Store-and-forward buffer</a:t>
            </a:r>
            <a:endParaRPr lang="en-US" sz="1600" dirty="0"/>
          </a:p>
        </p:txBody>
      </p:sp>
      <p:sp>
        <p:nvSpPr>
          <p:cNvPr id="14" name="Text 12"/>
          <p:cNvSpPr txBox="1"/>
          <p:nvPr/>
        </p:nvSpPr>
        <p:spPr>
          <a:xfrm>
            <a:off x="6355080" y="1645920"/>
            <a:ext cx="5285232" cy="4206240"/>
          </a:xfrm>
          <a:prstGeom prst="rect">
            <a:avLst/>
          </a:prstGeom>
          <a:noFill/>
          <a:ln/>
        </p:spPr>
        <p:txBody>
          <a:bodyPr wrap="square" lIns="0" tIns="0" rIns="0" bIns="0" rtlCol="0" anchor="t"/>
          <a:lstStyle/>
          <a:p>
            <a:pPr marL="177800" indent="-177800">
              <a:spcAft>
                <a:spcPts val="700"/>
              </a:spcAft>
              <a:buSzPct val="100000"/>
              <a:buChar char="•"/>
            </a:pPr>
            <a:r>
              <a:rPr lang="en-US" sz="1500" dirty="0">
                <a:solidFill>
                  <a:srgbClr val="374151"/>
                </a:solidFill>
                <a:latin typeface="Calibri" pitchFamily="34" charset="0"/>
                <a:ea typeface="Calibri" pitchFamily="34" charset="-122"/>
                <a:cs typeface="Calibri" pitchFamily="34" charset="-120"/>
              </a:rPr>
              <a:t>Ring buffer of 300 readings in ESP32 RAM: 5 minutes at one reading per second; the oldest is dropped if it fills</a:t>
            </a:r>
            <a:endParaRPr lang="en-US" sz="1500" dirty="0"/>
          </a:p>
          <a:p>
            <a:pPr marL="177800" indent="-177800">
              <a:spcAft>
                <a:spcPts val="700"/>
              </a:spcAft>
              <a:buSzPct val="100000"/>
              <a:buChar char="•"/>
            </a:pPr>
            <a:r>
              <a:rPr lang="en-US" sz="1500" dirty="0">
                <a:solidFill>
                  <a:srgbClr val="374151"/>
                </a:solidFill>
                <a:latin typeface="Calibri" pitchFamily="34" charset="0"/>
                <a:ea typeface="Calibri" pitchFamily="34" charset="-122"/>
                <a:cs typeface="Calibri" pitchFamily="34" charset="-120"/>
              </a:rPr>
              <a:t>Each entry keeps the vibration, motor PWM, state and the time it was taken</a:t>
            </a:r>
            <a:endParaRPr lang="en-US" sz="1500" dirty="0"/>
          </a:p>
          <a:p>
            <a:pPr marL="177800" indent="-177800">
              <a:spcAft>
                <a:spcPts val="700"/>
              </a:spcAft>
              <a:buSzPct val="100000"/>
              <a:buChar char="•"/>
            </a:pPr>
            <a:r>
              <a:rPr lang="en-US" sz="1500" dirty="0">
                <a:solidFill>
                  <a:srgbClr val="374151"/>
                </a:solidFill>
                <a:latin typeface="Calibri" pitchFamily="34" charset="0"/>
                <a:ea typeface="Calibri" pitchFamily="34" charset="-122"/>
                <a:cs typeface="Calibri" pitchFamily="34" charset="-120"/>
              </a:rPr>
              <a:t>When the fog is back, readings are uploaded 30 at a time to /data/batch with each reading's age</a:t>
            </a:r>
            <a:endParaRPr lang="en-US" sz="1500" dirty="0"/>
          </a:p>
          <a:p>
            <a:pPr marL="177800" indent="-177800">
              <a:spcAft>
                <a:spcPts val="700"/>
              </a:spcAft>
              <a:buSzPct val="100000"/>
              <a:buChar char="•"/>
            </a:pPr>
            <a:r>
              <a:rPr lang="en-US" sz="1500" dirty="0">
                <a:solidFill>
                  <a:srgbClr val="374151"/>
                </a:solidFill>
                <a:latin typeface="Calibri" pitchFamily="34" charset="0"/>
                <a:ea typeface="Calibri" pitchFamily="34" charset="-122"/>
                <a:cs typeface="Calibri" pitchFamily="34" charset="-120"/>
              </a:rPr>
              <a:t>The fog places them at their original time on the graph and logs "Buffered readings recovered"</a:t>
            </a:r>
            <a:endParaRPr lang="en-US" sz="1500" dirty="0"/>
          </a:p>
          <a:p>
            <a:pPr marL="177800" indent="-177800">
              <a:spcAft>
                <a:spcPts val="700"/>
              </a:spcAft>
              <a:buSzPct val="100000"/>
              <a:buChar char="•"/>
            </a:pPr>
            <a:r>
              <a:rPr lang="en-US" sz="1500" dirty="0">
                <a:solidFill>
                  <a:srgbClr val="374151"/>
                </a:solidFill>
                <a:latin typeface="Calibri" pitchFamily="34" charset="0"/>
                <a:ea typeface="Calibri" pitchFamily="34" charset="-122"/>
                <a:cs typeface="Calibri" pitchFamily="34" charset="-120"/>
              </a:rPr>
              <a:t>A critical reading during the outage is still reported</a:t>
            </a:r>
            <a:endParaRPr lang="en-US" sz="1500" dirty="0"/>
          </a:p>
          <a:p>
            <a:pPr marL="177800" indent="-177800">
              <a:spcAft>
                <a:spcPts val="700"/>
              </a:spcAft>
              <a:buSzPct val="100000"/>
              <a:buChar char="•"/>
            </a:pPr>
            <a:r>
              <a:rPr lang="en-US" sz="1500" dirty="0">
                <a:solidFill>
                  <a:srgbClr val="374151"/>
                </a:solidFill>
                <a:latin typeface="Calibri" pitchFamily="34" charset="0"/>
                <a:ea typeface="Calibri" pitchFamily="34" charset="-122"/>
                <a:cs typeface="Calibri" pitchFamily="34" charset="-120"/>
              </a:rPr>
              <a:t>The LCD shows B:&lt;count&gt; while readings are waiting</a:t>
            </a:r>
            <a:endParaRPr lang="en-US" sz="15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1"/>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685800"/>
          </a:xfrm>
          <a:prstGeom prst="rect">
            <a:avLst/>
          </a:prstGeom>
          <a:noFill/>
          <a:ln/>
        </p:spPr>
        <p:txBody>
          <a:bodyPr wrap="square" lIns="0" tIns="0" rIns="0" bIns="0" rtlCol="0" anchor="ctr"/>
          <a:lstStyle/>
          <a:p>
            <a:pPr algn="l" indent="0" marL="0">
              <a:buNone/>
            </a:pPr>
            <a:r>
              <a:rPr lang="en-US" sz="2800" b="1" dirty="0">
                <a:solidFill>
                  <a:srgbClr val="13294B"/>
                </a:solidFill>
                <a:latin typeface="Calibri" pitchFamily="34" charset="0"/>
                <a:ea typeface="Calibri" pitchFamily="34" charset="-122"/>
                <a:cs typeface="Calibri" pitchFamily="34" charset="-120"/>
              </a:rPr>
              <a:t>Fog Dashboard: Pump Network</a:t>
            </a:r>
            <a:endParaRPr lang="en-US" sz="2800" dirty="0"/>
          </a:p>
        </p:txBody>
      </p:sp>
      <p:pic>
        <p:nvPicPr>
          <p:cNvPr id="3" name="Image 0" descr="/private/tmp/claude-501/-Users-arushmishra-Desktop-resqfog-fog/64a41ab7-f2ab-4b99-9d18-1034707c4476/scratchpad/figs/fleet.png">    </p:cNvPr>
          <p:cNvPicPr>
            <a:picLocks noChangeAspect="1"/>
          </p:cNvPicPr>
          <p:nvPr/>
        </p:nvPicPr>
        <p:blipFill>
          <a:blip r:embed="rId1"/>
          <a:stretch>
            <a:fillRect/>
          </a:stretch>
        </p:blipFill>
        <p:spPr>
          <a:xfrm>
            <a:off x="548640" y="1234440"/>
            <a:ext cx="7589520" cy="3749040"/>
          </a:xfrm>
          <a:prstGeom prst="rect">
            <a:avLst/>
          </a:prstGeom>
        </p:spPr>
      </p:pic>
      <p:sp>
        <p:nvSpPr>
          <p:cNvPr id="4" name="Shape 1"/>
          <p:cNvSpPr/>
          <p:nvPr/>
        </p:nvSpPr>
        <p:spPr>
          <a:xfrm>
            <a:off x="548640" y="1234440"/>
            <a:ext cx="7589520" cy="3749040"/>
          </a:xfrm>
          <a:prstGeom prst="rect">
            <a:avLst/>
          </a:prstGeom>
          <a:ln w="9525">
            <a:solidFill>
              <a:srgbClr val="C9CED6"/>
            </a:solidFill>
            <a:prstDash val="solid"/>
          </a:ln>
        </p:spPr>
      </p:sp>
      <p:sp>
        <p:nvSpPr>
          <p:cNvPr id="5" name="Text 2"/>
          <p:cNvSpPr txBox="1"/>
          <p:nvPr/>
        </p:nvSpPr>
        <p:spPr>
          <a:xfrm>
            <a:off x="548640" y="5038344"/>
            <a:ext cx="7589520" cy="256032"/>
          </a:xfrm>
          <a:prstGeom prst="rect">
            <a:avLst/>
          </a:prstGeom>
          <a:noFill/>
          <a:ln/>
        </p:spPr>
        <p:txBody>
          <a:bodyPr wrap="square" lIns="0" tIns="0" rIns="0" bIns="0" rtlCol="0" anchor="t"/>
          <a:lstStyle/>
          <a:p>
            <a:pPr indent="0" marL="0">
              <a:buNone/>
            </a:pPr>
            <a:r>
              <a:rPr lang="en-US" sz="1100" i="1" dirty="0">
                <a:solidFill>
                  <a:srgbClr val="5B6472"/>
                </a:solidFill>
                <a:latin typeface="Calibri" pitchFamily="34" charset="0"/>
                <a:ea typeface="Calibri" pitchFamily="34" charset="-122"/>
                <a:cs typeface="Calibri" pitchFamily="34" charset="-120"/>
              </a:rPr>
              <a:t>Fig. 1: Dashboard with PUMP-01 tripped (demo run with four pumps)</a:t>
            </a:r>
            <a:endParaRPr lang="en-US" sz="1100" dirty="0"/>
          </a:p>
        </p:txBody>
      </p:sp>
      <p:sp>
        <p:nvSpPr>
          <p:cNvPr id="6" name="Text 3"/>
          <p:cNvSpPr txBox="1"/>
          <p:nvPr/>
        </p:nvSpPr>
        <p:spPr>
          <a:xfrm>
            <a:off x="8412480" y="1234440"/>
            <a:ext cx="320040" cy="731520"/>
          </a:xfrm>
          <a:prstGeom prst="rect">
            <a:avLst/>
          </a:prstGeom>
          <a:noFill/>
          <a:ln/>
        </p:spPr>
        <p:txBody>
          <a:bodyPr wrap="square" lIns="0" tIns="0" rIns="0" bIns="0" rtlCol="0" anchor="t"/>
          <a:lstStyle/>
          <a:p>
            <a:pPr indent="0" marL="0">
              <a:buNone/>
            </a:pPr>
            <a:r>
              <a:rPr lang="en-US" sz="1800" b="1" dirty="0">
                <a:solidFill>
                  <a:srgbClr val="C2410C"/>
                </a:solidFill>
                <a:latin typeface="Calibri" pitchFamily="34" charset="0"/>
                <a:ea typeface="Calibri" pitchFamily="34" charset="-122"/>
                <a:cs typeface="Calibri" pitchFamily="34" charset="-120"/>
              </a:rPr>
              <a:t>A</a:t>
            </a:r>
            <a:endParaRPr lang="en-US" sz="1800" dirty="0"/>
          </a:p>
        </p:txBody>
      </p:sp>
      <p:sp>
        <p:nvSpPr>
          <p:cNvPr id="7" name="Text 4"/>
          <p:cNvSpPr txBox="1"/>
          <p:nvPr/>
        </p:nvSpPr>
        <p:spPr>
          <a:xfrm>
            <a:off x="8778240" y="1234440"/>
            <a:ext cx="2862072" cy="77724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Pump network map</a:t>
            </a:r>
            <a:endParaRPr lang="en-US" sz="1500" dirty="0"/>
          </a:p>
          <a:p>
            <a:pPr indent="0" marL="0">
              <a:buNone/>
            </a:pPr>
            <a:r>
              <a:rPr lang="en-US" sz="1300" dirty="0">
                <a:solidFill>
                  <a:srgbClr val="374151"/>
                </a:solidFill>
                <a:latin typeface="Calibri" pitchFamily="34" charset="0"/>
                <a:ea typeface="Calibri" pitchFamily="34" charset="-122"/>
                <a:cs typeface="Calibri" pitchFamily="34" charset="-120"/>
              </a:rPr>
              <a:t>Every pump at its reported location, coloured by state</a:t>
            </a:r>
            <a:endParaRPr lang="en-US" sz="1500" dirty="0"/>
          </a:p>
        </p:txBody>
      </p:sp>
      <p:sp>
        <p:nvSpPr>
          <p:cNvPr id="8" name="Text 5"/>
          <p:cNvSpPr txBox="1"/>
          <p:nvPr/>
        </p:nvSpPr>
        <p:spPr>
          <a:xfrm>
            <a:off x="8412480" y="2057400"/>
            <a:ext cx="320040" cy="731520"/>
          </a:xfrm>
          <a:prstGeom prst="rect">
            <a:avLst/>
          </a:prstGeom>
          <a:noFill/>
          <a:ln/>
        </p:spPr>
        <p:txBody>
          <a:bodyPr wrap="square" lIns="0" tIns="0" rIns="0" bIns="0" rtlCol="0" anchor="t"/>
          <a:lstStyle/>
          <a:p>
            <a:pPr indent="0" marL="0">
              <a:buNone/>
            </a:pPr>
            <a:r>
              <a:rPr lang="en-US" sz="1800" b="1" dirty="0">
                <a:solidFill>
                  <a:srgbClr val="C2410C"/>
                </a:solidFill>
                <a:latin typeface="Calibri" pitchFamily="34" charset="0"/>
                <a:ea typeface="Calibri" pitchFamily="34" charset="-122"/>
                <a:cs typeface="Calibri" pitchFamily="34" charset="-120"/>
              </a:rPr>
              <a:t>B</a:t>
            </a:r>
            <a:endParaRPr lang="en-US" sz="1800" dirty="0"/>
          </a:p>
        </p:txBody>
      </p:sp>
      <p:sp>
        <p:nvSpPr>
          <p:cNvPr id="9" name="Text 6"/>
          <p:cNvSpPr txBox="1"/>
          <p:nvPr/>
        </p:nvSpPr>
        <p:spPr>
          <a:xfrm>
            <a:off x="8778240" y="2057400"/>
            <a:ext cx="2862072" cy="77724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Machine list</a:t>
            </a:r>
            <a:endParaRPr lang="en-US" sz="1500" dirty="0"/>
          </a:p>
          <a:p>
            <a:pPr indent="0" marL="0">
              <a:buNone/>
            </a:pPr>
            <a:r>
              <a:rPr lang="en-US" sz="1300" dirty="0">
                <a:solidFill>
                  <a:srgbClr val="374151"/>
                </a:solidFill>
                <a:latin typeface="Calibri" pitchFamily="34" charset="0"/>
                <a:ea typeface="Calibri" pitchFamily="34" charset="-122"/>
                <a:cs typeface="Calibri" pitchFamily="34" charset="-120"/>
              </a:rPr>
              <a:t>Reading and state of each pump; click one to open it</a:t>
            </a:r>
            <a:endParaRPr lang="en-US" sz="1500" dirty="0"/>
          </a:p>
        </p:txBody>
      </p:sp>
      <p:sp>
        <p:nvSpPr>
          <p:cNvPr id="10" name="Text 7"/>
          <p:cNvSpPr txBox="1"/>
          <p:nvPr/>
        </p:nvSpPr>
        <p:spPr>
          <a:xfrm>
            <a:off x="8412480" y="2880360"/>
            <a:ext cx="320040" cy="731520"/>
          </a:xfrm>
          <a:prstGeom prst="rect">
            <a:avLst/>
          </a:prstGeom>
          <a:noFill/>
          <a:ln/>
        </p:spPr>
        <p:txBody>
          <a:bodyPr wrap="square" lIns="0" tIns="0" rIns="0" bIns="0" rtlCol="0" anchor="t"/>
          <a:lstStyle/>
          <a:p>
            <a:pPr indent="0" marL="0">
              <a:buNone/>
            </a:pPr>
            <a:r>
              <a:rPr lang="en-US" sz="1800" b="1" dirty="0">
                <a:solidFill>
                  <a:srgbClr val="C2410C"/>
                </a:solidFill>
                <a:latin typeface="Calibri" pitchFamily="34" charset="0"/>
                <a:ea typeface="Calibri" pitchFamily="34" charset="-122"/>
                <a:cs typeface="Calibri" pitchFamily="34" charset="-120"/>
              </a:rPr>
              <a:t>C</a:t>
            </a:r>
            <a:endParaRPr lang="en-US" sz="1800" dirty="0"/>
          </a:p>
        </p:txBody>
      </p:sp>
      <p:sp>
        <p:nvSpPr>
          <p:cNvPr id="11" name="Text 8"/>
          <p:cNvSpPr txBox="1"/>
          <p:nvPr/>
        </p:nvSpPr>
        <p:spPr>
          <a:xfrm>
            <a:off x="8778240" y="2880360"/>
            <a:ext cx="2862072" cy="77724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Status panel</a:t>
            </a:r>
            <a:endParaRPr lang="en-US" sz="1500" dirty="0"/>
          </a:p>
          <a:p>
            <a:pPr indent="0" marL="0">
              <a:buNone/>
            </a:pPr>
            <a:r>
              <a:rPr lang="en-US" sz="1300" dirty="0">
                <a:solidFill>
                  <a:srgbClr val="374151"/>
                </a:solidFill>
                <a:latin typeface="Calibri" pitchFamily="34" charset="0"/>
                <a:ea typeface="Calibri" pitchFamily="34" charset="-122"/>
                <a:cs typeface="Calibri" pitchFamily="34" charset="-120"/>
              </a:rPr>
              <a:t>State, severity scale, headroom and recommended action</a:t>
            </a:r>
            <a:endParaRPr lang="en-US" sz="1500" dirty="0"/>
          </a:p>
        </p:txBody>
      </p:sp>
      <p:sp>
        <p:nvSpPr>
          <p:cNvPr id="12" name="Text 9"/>
          <p:cNvSpPr txBox="1"/>
          <p:nvPr/>
        </p:nvSpPr>
        <p:spPr>
          <a:xfrm>
            <a:off x="8412480" y="3703320"/>
            <a:ext cx="320040" cy="731520"/>
          </a:xfrm>
          <a:prstGeom prst="rect">
            <a:avLst/>
          </a:prstGeom>
          <a:noFill/>
          <a:ln/>
        </p:spPr>
        <p:txBody>
          <a:bodyPr wrap="square" lIns="0" tIns="0" rIns="0" bIns="0" rtlCol="0" anchor="t"/>
          <a:lstStyle/>
          <a:p>
            <a:pPr indent="0" marL="0">
              <a:buNone/>
            </a:pPr>
            <a:r>
              <a:rPr lang="en-US" sz="1800" b="1" dirty="0">
                <a:solidFill>
                  <a:srgbClr val="C2410C"/>
                </a:solidFill>
                <a:latin typeface="Calibri" pitchFamily="34" charset="0"/>
                <a:ea typeface="Calibri" pitchFamily="34" charset="-122"/>
                <a:cs typeface="Calibri" pitchFamily="34" charset="-120"/>
              </a:rPr>
              <a:t>D</a:t>
            </a:r>
            <a:endParaRPr lang="en-US" sz="1800" dirty="0"/>
          </a:p>
        </p:txBody>
      </p:sp>
      <p:sp>
        <p:nvSpPr>
          <p:cNvPr id="13" name="Text 10"/>
          <p:cNvSpPr txBox="1"/>
          <p:nvPr/>
        </p:nvSpPr>
        <p:spPr>
          <a:xfrm>
            <a:off x="8778240" y="3703320"/>
            <a:ext cx="2862072" cy="77724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Restart motor</a:t>
            </a:r>
            <a:endParaRPr lang="en-US" sz="1500" dirty="0"/>
          </a:p>
          <a:p>
            <a:pPr indent="0" marL="0">
              <a:buNone/>
            </a:pPr>
            <a:r>
              <a:rPr lang="en-US" sz="1300" dirty="0">
                <a:solidFill>
                  <a:srgbClr val="374151"/>
                </a:solidFill>
                <a:latin typeface="Calibri" pitchFamily="34" charset="0"/>
                <a:ea typeface="Calibri" pitchFamily="34" charset="-122"/>
                <a:cs typeface="Calibri" pitchFamily="34" charset="-120"/>
              </a:rPr>
              <a:t>Appears only after a trip; sends the restart command</a:t>
            </a:r>
            <a:endParaRPr lang="en-US" sz="1500" dirty="0"/>
          </a:p>
        </p:txBody>
      </p:sp>
      <p:sp>
        <p:nvSpPr>
          <p:cNvPr id="14" name="Text 11"/>
          <p:cNvSpPr txBox="1"/>
          <p:nvPr/>
        </p:nvSpPr>
        <p:spPr>
          <a:xfrm>
            <a:off x="8412480" y="4526280"/>
            <a:ext cx="320040" cy="731520"/>
          </a:xfrm>
          <a:prstGeom prst="rect">
            <a:avLst/>
          </a:prstGeom>
          <a:noFill/>
          <a:ln/>
        </p:spPr>
        <p:txBody>
          <a:bodyPr wrap="square" lIns="0" tIns="0" rIns="0" bIns="0" rtlCol="0" anchor="t"/>
          <a:lstStyle/>
          <a:p>
            <a:pPr indent="0" marL="0">
              <a:buNone/>
            </a:pPr>
            <a:r>
              <a:rPr lang="en-US" sz="1800" b="1" dirty="0">
                <a:solidFill>
                  <a:srgbClr val="C2410C"/>
                </a:solidFill>
                <a:latin typeface="Calibri" pitchFamily="34" charset="0"/>
                <a:ea typeface="Calibri" pitchFamily="34" charset="-122"/>
                <a:cs typeface="Calibri" pitchFamily="34" charset="-120"/>
              </a:rPr>
              <a:t>E</a:t>
            </a:r>
            <a:endParaRPr lang="en-US" sz="1800" dirty="0"/>
          </a:p>
        </p:txBody>
      </p:sp>
      <p:sp>
        <p:nvSpPr>
          <p:cNvPr id="15" name="Text 12"/>
          <p:cNvSpPr txBox="1"/>
          <p:nvPr/>
        </p:nvSpPr>
        <p:spPr>
          <a:xfrm>
            <a:off x="8778240" y="4526280"/>
            <a:ext cx="2862072" cy="77724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Data pipeline</a:t>
            </a:r>
            <a:endParaRPr lang="en-US" sz="1500" dirty="0"/>
          </a:p>
          <a:p>
            <a:pPr indent="0" marL="0">
              <a:buNone/>
            </a:pPr>
            <a:r>
              <a:rPr lang="en-US" sz="1300" dirty="0">
                <a:solidFill>
                  <a:srgbClr val="374151"/>
                </a:solidFill>
                <a:latin typeface="Calibri" pitchFamily="34" charset="0"/>
                <a:ea typeface="Calibri" pitchFamily="34" charset="-122"/>
                <a:cs typeface="Calibri" pitchFamily="34" charset="-120"/>
              </a:rPr>
              <a:t>Online status of edge node, fog server and SMS service</a:t>
            </a:r>
            <a:endParaRPr lang="en-US" sz="15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1"/>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685800"/>
          </a:xfrm>
          <a:prstGeom prst="rect">
            <a:avLst/>
          </a:prstGeom>
          <a:noFill/>
          <a:ln/>
        </p:spPr>
        <p:txBody>
          <a:bodyPr wrap="square" lIns="0" tIns="0" rIns="0" bIns="0" rtlCol="0" anchor="ctr"/>
          <a:lstStyle/>
          <a:p>
            <a:pPr algn="l" indent="0" marL="0">
              <a:buNone/>
            </a:pPr>
            <a:r>
              <a:rPr lang="en-US" sz="2800" b="1" dirty="0">
                <a:solidFill>
                  <a:srgbClr val="13294B"/>
                </a:solidFill>
                <a:latin typeface="Calibri" pitchFamily="34" charset="0"/>
                <a:ea typeface="Calibri" pitchFamily="34" charset="-122"/>
                <a:cs typeface="Calibri" pitchFamily="34" charset="-120"/>
              </a:rPr>
              <a:t>Monitoring States and Mobile Access</a:t>
            </a:r>
            <a:endParaRPr lang="en-US" sz="2800" dirty="0"/>
          </a:p>
        </p:txBody>
      </p:sp>
      <p:pic>
        <p:nvPicPr>
          <p:cNvPr id="3" name="Image 0" descr="/private/tmp/claude-501/-Users-arushmishra-Desktop-resqfog-fog/64a41ab7-f2ab-4b99-9d18-1034707c4476/scratchpad/figs/warning.png">    </p:cNvPr>
          <p:cNvPicPr>
            <a:picLocks noChangeAspect="1"/>
          </p:cNvPicPr>
          <p:nvPr/>
        </p:nvPicPr>
        <p:blipFill>
          <a:blip r:embed="rId1"/>
          <a:stretch>
            <a:fillRect/>
          </a:stretch>
        </p:blipFill>
        <p:spPr>
          <a:xfrm>
            <a:off x="548640" y="1234440"/>
            <a:ext cx="6766560" cy="1453896"/>
          </a:xfrm>
          <a:prstGeom prst="rect">
            <a:avLst/>
          </a:prstGeom>
        </p:spPr>
      </p:pic>
      <p:sp>
        <p:nvSpPr>
          <p:cNvPr id="4" name="Shape 1"/>
          <p:cNvSpPr/>
          <p:nvPr/>
        </p:nvSpPr>
        <p:spPr>
          <a:xfrm>
            <a:off x="548640" y="1234440"/>
            <a:ext cx="6766560" cy="1453896"/>
          </a:xfrm>
          <a:prstGeom prst="rect">
            <a:avLst/>
          </a:prstGeom>
          <a:ln w="9525">
            <a:solidFill>
              <a:srgbClr val="C9CED6"/>
            </a:solidFill>
            <a:prstDash val="solid"/>
          </a:ln>
        </p:spPr>
      </p:sp>
      <p:sp>
        <p:nvSpPr>
          <p:cNvPr id="5" name="Text 2"/>
          <p:cNvSpPr txBox="1"/>
          <p:nvPr/>
        </p:nvSpPr>
        <p:spPr>
          <a:xfrm>
            <a:off x="548640" y="2743200"/>
            <a:ext cx="6766560" cy="256032"/>
          </a:xfrm>
          <a:prstGeom prst="rect">
            <a:avLst/>
          </a:prstGeom>
          <a:noFill/>
          <a:ln/>
        </p:spPr>
        <p:txBody>
          <a:bodyPr wrap="square" lIns="0" tIns="0" rIns="0" bIns="0" rtlCol="0" anchor="t"/>
          <a:lstStyle/>
          <a:p>
            <a:pPr indent="0" marL="0">
              <a:buNone/>
            </a:pPr>
            <a:r>
              <a:rPr lang="en-US" sz="1100" i="1" dirty="0">
                <a:solidFill>
                  <a:srgbClr val="5B6472"/>
                </a:solidFill>
                <a:latin typeface="Calibri" pitchFamily="34" charset="0"/>
                <a:ea typeface="Calibri" pitchFamily="34" charset="-122"/>
                <a:cs typeface="Calibri" pitchFamily="34" charset="-120"/>
              </a:rPr>
              <a:t>Fig. 2: PUMP-01 in the WARNING state</a:t>
            </a:r>
            <a:endParaRPr lang="en-US" sz="1100" dirty="0"/>
          </a:p>
        </p:txBody>
      </p:sp>
      <p:pic>
        <p:nvPicPr>
          <p:cNvPr id="6" name="Image 1" descr="/private/tmp/claude-501/-Users-arushmishra-Desktop-resqfog-fog/64a41ab7-f2ab-4b99-9d18-1034707c4476/scratchpad/figs/graph.png">    </p:cNvPr>
          <p:cNvPicPr>
            <a:picLocks noChangeAspect="1"/>
          </p:cNvPicPr>
          <p:nvPr/>
        </p:nvPicPr>
        <p:blipFill>
          <a:blip r:embed="rId2"/>
          <a:stretch>
            <a:fillRect/>
          </a:stretch>
        </p:blipFill>
        <p:spPr>
          <a:xfrm>
            <a:off x="548640" y="3063240"/>
            <a:ext cx="5852160" cy="2523744"/>
          </a:xfrm>
          <a:prstGeom prst="rect">
            <a:avLst/>
          </a:prstGeom>
        </p:spPr>
      </p:pic>
      <p:sp>
        <p:nvSpPr>
          <p:cNvPr id="7" name="Shape 3"/>
          <p:cNvSpPr/>
          <p:nvPr/>
        </p:nvSpPr>
        <p:spPr>
          <a:xfrm>
            <a:off x="548640" y="3063240"/>
            <a:ext cx="5852160" cy="2523744"/>
          </a:xfrm>
          <a:prstGeom prst="rect">
            <a:avLst/>
          </a:prstGeom>
          <a:ln w="9525">
            <a:solidFill>
              <a:srgbClr val="C9CED6"/>
            </a:solidFill>
            <a:prstDash val="solid"/>
          </a:ln>
        </p:spPr>
      </p:sp>
      <p:sp>
        <p:nvSpPr>
          <p:cNvPr id="8" name="Text 4"/>
          <p:cNvSpPr txBox="1"/>
          <p:nvPr/>
        </p:nvSpPr>
        <p:spPr>
          <a:xfrm>
            <a:off x="548640" y="5641848"/>
            <a:ext cx="5852160" cy="256032"/>
          </a:xfrm>
          <a:prstGeom prst="rect">
            <a:avLst/>
          </a:prstGeom>
          <a:noFill/>
          <a:ln/>
        </p:spPr>
        <p:txBody>
          <a:bodyPr wrap="square" lIns="0" tIns="0" rIns="0" bIns="0" rtlCol="0" anchor="t"/>
          <a:lstStyle/>
          <a:p>
            <a:pPr indent="0" marL="0">
              <a:buNone/>
            </a:pPr>
            <a:r>
              <a:rPr lang="en-US" sz="1100" i="1" dirty="0">
                <a:solidFill>
                  <a:srgbClr val="5B6472"/>
                </a:solidFill>
                <a:latin typeface="Calibri" pitchFamily="34" charset="0"/>
                <a:ea typeface="Calibri" pitchFamily="34" charset="-122"/>
                <a:cs typeface="Calibri" pitchFamily="34" charset="-120"/>
              </a:rPr>
              <a:t>Fig. 3: Warning ramp, critical readings, trip to zero and restart</a:t>
            </a:r>
            <a:endParaRPr lang="en-US" sz="1100" dirty="0"/>
          </a:p>
        </p:txBody>
      </p:sp>
      <p:pic>
        <p:nvPicPr>
          <p:cNvPr id="9" name="Image 2" descr="/private/tmp/claude-501/-Users-arushmishra-Desktop-resqfog-fog/64a41ab7-f2ab-4b99-9d18-1034707c4476/scratchpad/figs/mobile.png">    </p:cNvPr>
          <p:cNvPicPr>
            <a:picLocks noChangeAspect="1"/>
          </p:cNvPicPr>
          <p:nvPr/>
        </p:nvPicPr>
        <p:blipFill>
          <a:blip r:embed="rId3"/>
          <a:stretch>
            <a:fillRect/>
          </a:stretch>
        </p:blipFill>
        <p:spPr>
          <a:xfrm>
            <a:off x="7589520" y="1234440"/>
            <a:ext cx="1517904" cy="4480560"/>
          </a:xfrm>
          <a:prstGeom prst="rect">
            <a:avLst/>
          </a:prstGeom>
        </p:spPr>
      </p:pic>
      <p:sp>
        <p:nvSpPr>
          <p:cNvPr id="10" name="Shape 5"/>
          <p:cNvSpPr/>
          <p:nvPr/>
        </p:nvSpPr>
        <p:spPr>
          <a:xfrm>
            <a:off x="7589520" y="1234440"/>
            <a:ext cx="1517904" cy="4480560"/>
          </a:xfrm>
          <a:prstGeom prst="rect">
            <a:avLst/>
          </a:prstGeom>
          <a:ln w="9525">
            <a:solidFill>
              <a:srgbClr val="C9CED6"/>
            </a:solidFill>
            <a:prstDash val="solid"/>
          </a:ln>
        </p:spPr>
      </p:sp>
      <p:sp>
        <p:nvSpPr>
          <p:cNvPr id="11" name="Text 6"/>
          <p:cNvSpPr txBox="1"/>
          <p:nvPr/>
        </p:nvSpPr>
        <p:spPr>
          <a:xfrm>
            <a:off x="7589520" y="5769864"/>
            <a:ext cx="1517904" cy="256032"/>
          </a:xfrm>
          <a:prstGeom prst="rect">
            <a:avLst/>
          </a:prstGeom>
          <a:noFill/>
          <a:ln/>
        </p:spPr>
        <p:txBody>
          <a:bodyPr wrap="square" lIns="0" tIns="0" rIns="0" bIns="0" rtlCol="0" anchor="t"/>
          <a:lstStyle/>
          <a:p>
            <a:pPr indent="0" marL="0">
              <a:buNone/>
            </a:pPr>
            <a:r>
              <a:rPr lang="en-US" sz="1100" i="1" dirty="0">
                <a:solidFill>
                  <a:srgbClr val="5B6472"/>
                </a:solidFill>
                <a:latin typeface="Calibri" pitchFamily="34" charset="0"/>
                <a:ea typeface="Calibri" pitchFamily="34" charset="-122"/>
                <a:cs typeface="Calibri" pitchFamily="34" charset="-120"/>
              </a:rPr>
              <a:t>Fig. 4: Phone</a:t>
            </a:r>
            <a:endParaRPr lang="en-US" sz="1100" dirty="0"/>
          </a:p>
        </p:txBody>
      </p:sp>
      <p:sp>
        <p:nvSpPr>
          <p:cNvPr id="12" name="Text 7"/>
          <p:cNvSpPr txBox="1"/>
          <p:nvPr/>
        </p:nvSpPr>
        <p:spPr>
          <a:xfrm>
            <a:off x="9418320" y="1234440"/>
            <a:ext cx="2194560" cy="320040"/>
          </a:xfrm>
          <a:prstGeom prst="rect">
            <a:avLst/>
          </a:prstGeom>
          <a:noFill/>
          <a:ln/>
        </p:spPr>
        <p:txBody>
          <a:bodyPr wrap="square" lIns="0" tIns="0" rIns="0" bIns="0" rtlCol="0" anchor="t"/>
          <a:lstStyle/>
          <a:p>
            <a:pPr indent="0" marL="0">
              <a:buNone/>
            </a:pPr>
            <a:r>
              <a:rPr lang="en-US" sz="1600" b="1" dirty="0">
                <a:solidFill>
                  <a:srgbClr val="13294B"/>
                </a:solidFill>
                <a:latin typeface="Calibri" pitchFamily="34" charset="0"/>
                <a:ea typeface="Calibri" pitchFamily="34" charset="-122"/>
                <a:cs typeface="Calibri" pitchFamily="34" charset="-120"/>
              </a:rPr>
              <a:t>Observations</a:t>
            </a:r>
            <a:endParaRPr lang="en-US" sz="1600" dirty="0"/>
          </a:p>
        </p:txBody>
      </p:sp>
      <p:sp>
        <p:nvSpPr>
          <p:cNvPr id="13" name="Text 8"/>
          <p:cNvSpPr txBox="1"/>
          <p:nvPr/>
        </p:nvSpPr>
        <p:spPr>
          <a:xfrm>
            <a:off x="9418320" y="1645920"/>
            <a:ext cx="2221992" cy="402336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rgbClr val="374151"/>
                </a:solidFill>
                <a:latin typeface="Calibri" pitchFamily="34" charset="0"/>
                <a:ea typeface="Calibri" pitchFamily="34" charset="-122"/>
                <a:cs typeface="Calibri" pitchFamily="34" charset="-120"/>
              </a:rPr>
              <a:t>Banner, colour and advice change with the state</a:t>
            </a:r>
            <a:endParaRPr lang="en-US" sz="1400" dirty="0"/>
          </a:p>
          <a:p>
            <a:pPr marL="177800" indent="-177800">
              <a:spcAft>
                <a:spcPts val="700"/>
              </a:spcAft>
              <a:buSzPct val="100000"/>
              <a:buChar char="•"/>
            </a:pPr>
            <a:r>
              <a:rPr lang="en-US" sz="1400" dirty="0">
                <a:solidFill>
                  <a:srgbClr val="374151"/>
                </a:solidFill>
                <a:latin typeface="Calibri" pitchFamily="34" charset="0"/>
                <a:ea typeface="Calibri" pitchFamily="34" charset="-122"/>
                <a:cs typeface="Calibri" pitchFamily="34" charset="-120"/>
              </a:rPr>
              <a:t>Graph turns amber at 1.0 g and red at 1.2 g</a:t>
            </a:r>
            <a:endParaRPr lang="en-US" sz="1400" dirty="0"/>
          </a:p>
          <a:p>
            <a:pPr marL="177800" indent="-177800">
              <a:spcAft>
                <a:spcPts val="700"/>
              </a:spcAft>
              <a:buSzPct val="100000"/>
              <a:buChar char="•"/>
            </a:pPr>
            <a:r>
              <a:rPr lang="en-US" sz="1400" dirty="0">
                <a:solidFill>
                  <a:srgbClr val="374151"/>
                </a:solidFill>
                <a:latin typeface="Calibri" pitchFamily="34" charset="0"/>
                <a:ea typeface="Calibri" pitchFamily="34" charset="-122"/>
                <a:cs typeface="Calibri" pitchFamily="34" charset="-120"/>
              </a:rPr>
              <a:t>Works on any phone on the same network</a:t>
            </a:r>
            <a:endParaRPr lang="en-US" sz="1400" dirty="0"/>
          </a:p>
          <a:p>
            <a:pPr marL="177800" indent="-177800">
              <a:spcAft>
                <a:spcPts val="700"/>
              </a:spcAft>
              <a:buSzPct val="100000"/>
              <a:buChar char="•"/>
            </a:pPr>
            <a:r>
              <a:rPr lang="en-US" sz="1400" dirty="0">
                <a:solidFill>
                  <a:srgbClr val="374151"/>
                </a:solidFill>
                <a:latin typeface="Calibri" pitchFamily="34" charset="0"/>
                <a:ea typeface="Calibri" pitchFamily="34" charset="-122"/>
                <a:cs typeface="Calibri" pitchFamily="34" charset="-120"/>
              </a:rPr>
              <a:t>No data for 5 s shows "Edge Node Offline"</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1"/>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685800"/>
          </a:xfrm>
          <a:prstGeom prst="rect">
            <a:avLst/>
          </a:prstGeom>
          <a:noFill/>
          <a:ln/>
        </p:spPr>
        <p:txBody>
          <a:bodyPr wrap="square" lIns="0" tIns="0" rIns="0" bIns="0" rtlCol="0" anchor="ctr"/>
          <a:lstStyle/>
          <a:p>
            <a:pPr algn="l" indent="0" marL="0">
              <a:buNone/>
            </a:pPr>
            <a:r>
              <a:rPr lang="en-US" sz="2800" b="1" dirty="0">
                <a:solidFill>
                  <a:srgbClr val="13294B"/>
                </a:solidFill>
                <a:latin typeface="Calibri" pitchFamily="34" charset="0"/>
                <a:ea typeface="Calibri" pitchFamily="34" charset="-122"/>
                <a:cs typeface="Calibri" pitchFamily="34" charset="-120"/>
              </a:rPr>
              <a:t>Fault Recording for Defect Analysis</a:t>
            </a:r>
            <a:endParaRPr lang="en-US" sz="2800" dirty="0"/>
          </a:p>
        </p:txBody>
      </p:sp>
      <p:pic>
        <p:nvPicPr>
          <p:cNvPr id="3" name="Image 0" descr="/private/tmp/claude-501/-Users-arushmishra-Desktop-resqfog-fog/64a41ab7-f2ab-4b99-9d18-1034707c4476/scratchpad/figs/faults.png">    </p:cNvPr>
          <p:cNvPicPr>
            <a:picLocks noChangeAspect="1"/>
          </p:cNvPicPr>
          <p:nvPr/>
        </p:nvPicPr>
        <p:blipFill>
          <a:blip r:embed="rId1"/>
          <a:stretch>
            <a:fillRect/>
          </a:stretch>
        </p:blipFill>
        <p:spPr>
          <a:xfrm>
            <a:off x="548640" y="1234440"/>
            <a:ext cx="11094415" cy="1152144"/>
          </a:xfrm>
          <a:prstGeom prst="rect">
            <a:avLst/>
          </a:prstGeom>
        </p:spPr>
      </p:pic>
      <p:sp>
        <p:nvSpPr>
          <p:cNvPr id="4" name="Shape 1"/>
          <p:cNvSpPr/>
          <p:nvPr/>
        </p:nvSpPr>
        <p:spPr>
          <a:xfrm>
            <a:off x="548640" y="1234440"/>
            <a:ext cx="11094415" cy="1152144"/>
          </a:xfrm>
          <a:prstGeom prst="rect">
            <a:avLst/>
          </a:prstGeom>
          <a:ln w="9525">
            <a:solidFill>
              <a:srgbClr val="C9CED6"/>
            </a:solidFill>
            <a:prstDash val="solid"/>
          </a:ln>
        </p:spPr>
      </p:sp>
      <p:sp>
        <p:nvSpPr>
          <p:cNvPr id="5" name="Text 2"/>
          <p:cNvSpPr txBox="1"/>
          <p:nvPr/>
        </p:nvSpPr>
        <p:spPr>
          <a:xfrm>
            <a:off x="548640" y="2441448"/>
            <a:ext cx="11094415" cy="256032"/>
          </a:xfrm>
          <a:prstGeom prst="rect">
            <a:avLst/>
          </a:prstGeom>
          <a:noFill/>
          <a:ln/>
        </p:spPr>
        <p:txBody>
          <a:bodyPr wrap="square" lIns="0" tIns="0" rIns="0" bIns="0" rtlCol="0" anchor="t"/>
          <a:lstStyle/>
          <a:p>
            <a:pPr indent="0" marL="0">
              <a:buNone/>
            </a:pPr>
            <a:r>
              <a:rPr lang="en-US" sz="1100" i="1" dirty="0">
                <a:solidFill>
                  <a:srgbClr val="5B6472"/>
                </a:solidFill>
                <a:latin typeface="Calibri" pitchFamily="34" charset="0"/>
                <a:ea typeface="Calibri" pitchFamily="34" charset="-122"/>
                <a:cs typeface="Calibri" pitchFamily="34" charset="-120"/>
              </a:rPr>
              <a:t>Fig. 5: Fault Recordings panel with a saved recording and CSV download</a:t>
            </a:r>
            <a:endParaRPr lang="en-US" sz="1100" dirty="0"/>
          </a:p>
        </p:txBody>
      </p:sp>
      <p:sp>
        <p:nvSpPr>
          <p:cNvPr id="6" name="Text 3"/>
          <p:cNvSpPr txBox="1"/>
          <p:nvPr/>
        </p:nvSpPr>
        <p:spPr>
          <a:xfrm>
            <a:off x="548640" y="3108960"/>
            <a:ext cx="5029200" cy="320040"/>
          </a:xfrm>
          <a:prstGeom prst="rect">
            <a:avLst/>
          </a:prstGeom>
          <a:noFill/>
          <a:ln/>
        </p:spPr>
        <p:txBody>
          <a:bodyPr wrap="square" lIns="0" tIns="0" rIns="0" bIns="0" rtlCol="0" anchor="t"/>
          <a:lstStyle/>
          <a:p>
            <a:pPr indent="0" marL="0">
              <a:buNone/>
            </a:pPr>
            <a:r>
              <a:rPr lang="en-US" sz="1600" b="1" dirty="0">
                <a:solidFill>
                  <a:srgbClr val="13294B"/>
                </a:solidFill>
                <a:latin typeface="Calibri" pitchFamily="34" charset="0"/>
                <a:ea typeface="Calibri" pitchFamily="34" charset="-122"/>
                <a:cs typeface="Calibri" pitchFamily="34" charset="-120"/>
              </a:rPr>
              <a:t>Procedure</a:t>
            </a:r>
            <a:endParaRPr lang="en-US" sz="1600" dirty="0"/>
          </a:p>
        </p:txBody>
      </p:sp>
      <p:sp>
        <p:nvSpPr>
          <p:cNvPr id="7" name="Text 4"/>
          <p:cNvSpPr txBox="1"/>
          <p:nvPr/>
        </p:nvSpPr>
        <p:spPr>
          <a:xfrm>
            <a:off x="548640" y="3474720"/>
            <a:ext cx="365760" cy="685800"/>
          </a:xfrm>
          <a:prstGeom prst="rect">
            <a:avLst/>
          </a:prstGeom>
          <a:noFill/>
          <a:ln/>
        </p:spPr>
        <p:txBody>
          <a:bodyPr wrap="square" lIns="0" tIns="0" rIns="0" bIns="0" rtlCol="0" anchor="ctr"/>
          <a:lstStyle/>
          <a:p>
            <a:pPr indent="0" marL="0">
              <a:buNone/>
            </a:pPr>
            <a:r>
              <a:rPr lang="en-US" sz="1600" b="1" dirty="0">
                <a:solidFill>
                  <a:srgbClr val="C2410C"/>
                </a:solidFill>
                <a:latin typeface="Calibri" pitchFamily="34" charset="0"/>
                <a:ea typeface="Calibri" pitchFamily="34" charset="-122"/>
                <a:cs typeface="Calibri" pitchFamily="34" charset="-120"/>
              </a:rPr>
              <a:t>1</a:t>
            </a:r>
            <a:endParaRPr lang="en-US" sz="1600" dirty="0"/>
          </a:p>
        </p:txBody>
      </p:sp>
      <p:sp>
        <p:nvSpPr>
          <p:cNvPr id="8" name="Text 5"/>
          <p:cNvSpPr txBox="1"/>
          <p:nvPr/>
        </p:nvSpPr>
        <p:spPr>
          <a:xfrm>
            <a:off x="1005840" y="3474720"/>
            <a:ext cx="4663440" cy="685800"/>
          </a:xfrm>
          <a:prstGeom prst="rect">
            <a:avLst/>
          </a:prstGeom>
          <a:noFill/>
          <a:ln/>
        </p:spPr>
        <p:txBody>
          <a:bodyPr wrap="square" lIns="0" tIns="0" rIns="0" bIns="0" rtlCol="0" anchor="ctr"/>
          <a:lstStyle/>
          <a:p>
            <a:pPr indent="0" marL="0">
              <a:buNone/>
            </a:pPr>
            <a:r>
              <a:rPr lang="en-US" sz="1400" dirty="0">
                <a:solidFill>
                  <a:srgbClr val="374151"/>
                </a:solidFill>
                <a:latin typeface="Calibri" pitchFamily="34" charset="0"/>
                <a:ea typeface="Calibri" pitchFamily="34" charset="-122"/>
                <a:cs typeface="Calibri" pitchFamily="34" charset="-120"/>
              </a:rPr>
              <a:t>The fog keeps the latest 50 readings of each pump in a rolling buffer.</a:t>
            </a:r>
            <a:endParaRPr lang="en-US" sz="1400" dirty="0"/>
          </a:p>
        </p:txBody>
      </p:sp>
      <p:sp>
        <p:nvSpPr>
          <p:cNvPr id="9" name="Shape 6"/>
          <p:cNvSpPr/>
          <p:nvPr/>
        </p:nvSpPr>
        <p:spPr>
          <a:xfrm>
            <a:off x="548640" y="4160520"/>
            <a:ext cx="5120640" cy="0"/>
          </a:xfrm>
          <a:prstGeom prst="line">
            <a:avLst/>
          </a:prstGeom>
          <a:noFill/>
          <a:ln w="9525">
            <a:solidFill>
              <a:srgbClr val="E5E7EB"/>
            </a:solidFill>
            <a:prstDash val="solid"/>
          </a:ln>
        </p:spPr>
      </p:sp>
      <p:sp>
        <p:nvSpPr>
          <p:cNvPr id="10" name="Text 7"/>
          <p:cNvSpPr txBox="1"/>
          <p:nvPr/>
        </p:nvSpPr>
        <p:spPr>
          <a:xfrm>
            <a:off x="548640" y="4160520"/>
            <a:ext cx="365760" cy="685800"/>
          </a:xfrm>
          <a:prstGeom prst="rect">
            <a:avLst/>
          </a:prstGeom>
          <a:noFill/>
          <a:ln/>
        </p:spPr>
        <p:txBody>
          <a:bodyPr wrap="square" lIns="0" tIns="0" rIns="0" bIns="0" rtlCol="0" anchor="ctr"/>
          <a:lstStyle/>
          <a:p>
            <a:pPr indent="0" marL="0">
              <a:buNone/>
            </a:pPr>
            <a:r>
              <a:rPr lang="en-US" sz="1600" b="1" dirty="0">
                <a:solidFill>
                  <a:srgbClr val="C2410C"/>
                </a:solidFill>
                <a:latin typeface="Calibri" pitchFamily="34" charset="0"/>
                <a:ea typeface="Calibri" pitchFamily="34" charset="-122"/>
                <a:cs typeface="Calibri" pitchFamily="34" charset="-120"/>
              </a:rPr>
              <a:t>2</a:t>
            </a:r>
            <a:endParaRPr lang="en-US" sz="1600" dirty="0"/>
          </a:p>
        </p:txBody>
      </p:sp>
      <p:sp>
        <p:nvSpPr>
          <p:cNvPr id="11" name="Text 8"/>
          <p:cNvSpPr txBox="1"/>
          <p:nvPr/>
        </p:nvSpPr>
        <p:spPr>
          <a:xfrm>
            <a:off x="1005840" y="4160520"/>
            <a:ext cx="4663440" cy="685800"/>
          </a:xfrm>
          <a:prstGeom prst="rect">
            <a:avLst/>
          </a:prstGeom>
          <a:noFill/>
          <a:ln/>
        </p:spPr>
        <p:txBody>
          <a:bodyPr wrap="square" lIns="0" tIns="0" rIns="0" bIns="0" rtlCol="0" anchor="ctr"/>
          <a:lstStyle/>
          <a:p>
            <a:pPr indent="0" marL="0">
              <a:buNone/>
            </a:pPr>
            <a:r>
              <a:rPr lang="en-US" sz="1400" dirty="0">
                <a:solidFill>
                  <a:srgbClr val="374151"/>
                </a:solidFill>
                <a:latin typeface="Calibri" pitchFamily="34" charset="0"/>
                <a:ea typeface="Calibri" pitchFamily="34" charset="-122"/>
                <a:cs typeface="Calibri" pitchFamily="34" charset="-120"/>
              </a:rPr>
              <a:t>A new CRITICAL event freezes that buffer and collects 50 more readings.</a:t>
            </a:r>
            <a:endParaRPr lang="en-US" sz="1400" dirty="0"/>
          </a:p>
        </p:txBody>
      </p:sp>
      <p:sp>
        <p:nvSpPr>
          <p:cNvPr id="12" name="Shape 9"/>
          <p:cNvSpPr/>
          <p:nvPr/>
        </p:nvSpPr>
        <p:spPr>
          <a:xfrm>
            <a:off x="548640" y="4846320"/>
            <a:ext cx="5120640" cy="0"/>
          </a:xfrm>
          <a:prstGeom prst="line">
            <a:avLst/>
          </a:prstGeom>
          <a:noFill/>
          <a:ln w="9525">
            <a:solidFill>
              <a:srgbClr val="E5E7EB"/>
            </a:solidFill>
            <a:prstDash val="solid"/>
          </a:ln>
        </p:spPr>
      </p:sp>
      <p:sp>
        <p:nvSpPr>
          <p:cNvPr id="13" name="Text 10"/>
          <p:cNvSpPr txBox="1"/>
          <p:nvPr/>
        </p:nvSpPr>
        <p:spPr>
          <a:xfrm>
            <a:off x="548640" y="4846320"/>
            <a:ext cx="365760" cy="685800"/>
          </a:xfrm>
          <a:prstGeom prst="rect">
            <a:avLst/>
          </a:prstGeom>
          <a:noFill/>
          <a:ln/>
        </p:spPr>
        <p:txBody>
          <a:bodyPr wrap="square" lIns="0" tIns="0" rIns="0" bIns="0" rtlCol="0" anchor="ctr"/>
          <a:lstStyle/>
          <a:p>
            <a:pPr indent="0" marL="0">
              <a:buNone/>
            </a:pPr>
            <a:r>
              <a:rPr lang="en-US" sz="1600" b="1" dirty="0">
                <a:solidFill>
                  <a:srgbClr val="C2410C"/>
                </a:solidFill>
                <a:latin typeface="Calibri" pitchFamily="34" charset="0"/>
                <a:ea typeface="Calibri" pitchFamily="34" charset="-122"/>
                <a:cs typeface="Calibri" pitchFamily="34" charset="-120"/>
              </a:rPr>
              <a:t>3</a:t>
            </a:r>
            <a:endParaRPr lang="en-US" sz="1600" dirty="0"/>
          </a:p>
        </p:txBody>
      </p:sp>
      <p:sp>
        <p:nvSpPr>
          <p:cNvPr id="14" name="Text 11"/>
          <p:cNvSpPr txBox="1"/>
          <p:nvPr/>
        </p:nvSpPr>
        <p:spPr>
          <a:xfrm>
            <a:off x="1005840" y="4846320"/>
            <a:ext cx="4663440" cy="685800"/>
          </a:xfrm>
          <a:prstGeom prst="rect">
            <a:avLst/>
          </a:prstGeom>
          <a:noFill/>
          <a:ln/>
        </p:spPr>
        <p:txBody>
          <a:bodyPr wrap="square" lIns="0" tIns="0" rIns="0" bIns="0" rtlCol="0" anchor="ctr"/>
          <a:lstStyle/>
          <a:p>
            <a:pPr indent="0" marL="0">
              <a:buNone/>
            </a:pPr>
            <a:r>
              <a:rPr lang="en-US" sz="1400" dirty="0">
                <a:solidFill>
                  <a:srgbClr val="374151"/>
                </a:solidFill>
                <a:latin typeface="Calibri" pitchFamily="34" charset="0"/>
                <a:ea typeface="Calibri" pitchFamily="34" charset="-122"/>
                <a:cs typeface="Calibri" pitchFamily="34" charset="-120"/>
              </a:rPr>
              <a:t>The 101 rows are saved as fault_&lt;pump&gt;_&lt;date&gt;_&lt;time&gt;.csv and listed on the dashboard.</a:t>
            </a:r>
            <a:endParaRPr lang="en-US" sz="1400" dirty="0"/>
          </a:p>
        </p:txBody>
      </p:sp>
      <p:sp>
        <p:nvSpPr>
          <p:cNvPr id="15" name="Text 12"/>
          <p:cNvSpPr txBox="1"/>
          <p:nvPr/>
        </p:nvSpPr>
        <p:spPr>
          <a:xfrm>
            <a:off x="6080760" y="3108960"/>
            <a:ext cx="5486400" cy="320040"/>
          </a:xfrm>
          <a:prstGeom prst="rect">
            <a:avLst/>
          </a:prstGeom>
          <a:noFill/>
          <a:ln/>
        </p:spPr>
        <p:txBody>
          <a:bodyPr wrap="square" lIns="0" tIns="0" rIns="0" bIns="0" rtlCol="0" anchor="t"/>
          <a:lstStyle/>
          <a:p>
            <a:pPr indent="0" marL="0">
              <a:buNone/>
            </a:pPr>
            <a:r>
              <a:rPr lang="en-US" sz="1600" b="1" dirty="0">
                <a:solidFill>
                  <a:srgbClr val="13294B"/>
                </a:solidFill>
                <a:latin typeface="Calibri" pitchFamily="34" charset="0"/>
                <a:ea typeface="Calibri" pitchFamily="34" charset="-122"/>
                <a:cs typeface="Calibri" pitchFamily="34" charset="-120"/>
              </a:rPr>
              <a:t>CSV columns</a:t>
            </a:r>
            <a:endParaRPr lang="en-US" sz="16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080760" y="3474720"/>
          <a:ext cx="5559552" cy="914400"/>
        </p:xfrm>
        <a:graphic>
          <a:graphicData uri="http://schemas.openxmlformats.org/drawingml/2006/table">
            <a:tbl>
              <a:tblPr/>
              <a:tblGrid>
                <a:gridCol w="1325880"/>
                <a:gridCol w="1463040"/>
                <a:gridCol w="1536192"/>
                <a:gridCol w="1234440"/>
              </a:tblGrid>
              <a:tr h="0">
                <a:tc>
                  <a:txBody>
                    <a:bodyPr/>
                    <a:lstStyle/>
                    <a:p>
                      <a:pPr indent="0" marL="0">
                        <a:buNone/>
                      </a:pPr>
                      <a:r>
                        <a:rPr lang="en-US" sz="1300" b="1" dirty="0">
                          <a:solidFill>
                            <a:srgbClr val="13294B"/>
                          </a:solidFill>
                          <a:latin typeface="Calibri" pitchFamily="34" charset="0"/>
                          <a:ea typeface="Calibri" pitchFamily="34" charset="-122"/>
                          <a:cs typeface="Calibri" pitchFamily="34" charset="-120"/>
                        </a:rPr>
                        <a:t>Column</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E7EBF1"/>
                    </a:solidFill>
                  </a:tcPr>
                </a:tc>
                <a:tc>
                  <a:txBody>
                    <a:bodyPr/>
                    <a:lstStyle/>
                    <a:p>
                      <a:pPr indent="0" marL="0">
                        <a:buNone/>
                      </a:pPr>
                      <a:r>
                        <a:rPr lang="en-US" sz="1300" b="1" dirty="0">
                          <a:solidFill>
                            <a:srgbClr val="13294B"/>
                          </a:solidFill>
                          <a:latin typeface="Calibri" pitchFamily="34" charset="0"/>
                          <a:ea typeface="Calibri" pitchFamily="34" charset="-122"/>
                          <a:cs typeface="Calibri" pitchFamily="34" charset="-120"/>
                        </a:rPr>
                        <a:t>Meaning</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E7EBF1"/>
                    </a:solidFill>
                  </a:tcPr>
                </a:tc>
                <a:tc>
                  <a:txBody>
                    <a:bodyPr/>
                    <a:lstStyle/>
                    <a:p>
                      <a:pPr indent="0" marL="0">
                        <a:buNone/>
                      </a:pPr>
                      <a:r>
                        <a:rPr lang="en-US" sz="1300" b="1" dirty="0">
                          <a:solidFill>
                            <a:srgbClr val="13294B"/>
                          </a:solidFill>
                          <a:latin typeface="Calibri" pitchFamily="34" charset="0"/>
                          <a:ea typeface="Calibri" pitchFamily="34" charset="-122"/>
                          <a:cs typeface="Calibri" pitchFamily="34" charset="-120"/>
                        </a:rPr>
                        <a:t>Column</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E7EBF1"/>
                    </a:solidFill>
                  </a:tcPr>
                </a:tc>
                <a:tc>
                  <a:txBody>
                    <a:bodyPr/>
                    <a:lstStyle/>
                    <a:p>
                      <a:pPr indent="0" marL="0">
                        <a:buNone/>
                      </a:pPr>
                      <a:r>
                        <a:rPr lang="en-US" sz="1300" b="1" dirty="0">
                          <a:solidFill>
                            <a:srgbClr val="13294B"/>
                          </a:solidFill>
                          <a:latin typeface="Calibri" pitchFamily="34" charset="0"/>
                          <a:ea typeface="Calibri" pitchFamily="34" charset="-122"/>
                          <a:cs typeface="Calibri" pitchFamily="34" charset="-120"/>
                        </a:rPr>
                        <a:t>Meaning</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E7EBF1"/>
                    </a:solidFill>
                  </a:tcPr>
                </a:tc>
              </a:tr>
              <a:tr h="0">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machine_id</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pump ID</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vibration_g</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v in g</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sample</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−50 to +50</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motor_pwm</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0 to 255</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phase</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PRE, FAULT, POST</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motor_speed_pct</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0 to 100 %</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timestamp</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to the millisecond</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status</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state</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offset_s</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time from the fault</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1"/>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685800"/>
          </a:xfrm>
          <a:prstGeom prst="rect">
            <a:avLst/>
          </a:prstGeom>
          <a:noFill/>
          <a:ln/>
        </p:spPr>
        <p:txBody>
          <a:bodyPr wrap="square" lIns="0" tIns="0" rIns="0" bIns="0" rtlCol="0" anchor="ctr"/>
          <a:lstStyle/>
          <a:p>
            <a:pPr algn="l" indent="0" marL="0">
              <a:buNone/>
            </a:pPr>
            <a:r>
              <a:rPr lang="en-US" sz="2800" b="1" dirty="0">
                <a:solidFill>
                  <a:srgbClr val="13294B"/>
                </a:solidFill>
                <a:latin typeface="Calibri" pitchFamily="34" charset="0"/>
                <a:ea typeface="Calibri" pitchFamily="34" charset="-122"/>
                <a:cs typeface="Calibri" pitchFamily="34" charset="-120"/>
              </a:rPr>
              <a:t>Testing and Results</a:t>
            </a:r>
            <a:endParaRPr lang="en-US" sz="28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94415" cy="914400"/>
        </p:xfrm>
        <a:graphic>
          <a:graphicData uri="http://schemas.openxmlformats.org/drawingml/2006/table">
            <a:tbl>
              <a:tblPr/>
              <a:tblGrid>
                <a:gridCol w="548640"/>
                <a:gridCol w="2468880"/>
                <a:gridCol w="4663440"/>
                <a:gridCol w="3410712"/>
              </a:tblGrid>
              <a:tr h="347472">
                <a:tc>
                  <a:txBody>
                    <a:bodyPr/>
                    <a:lstStyle/>
                    <a:p>
                      <a:pPr indent="0" marL="0">
                        <a:buNone/>
                      </a:pPr>
                      <a:r>
                        <a:rPr lang="en-US" sz="1300" b="1" dirty="0">
                          <a:solidFill>
                            <a:srgbClr val="13294B"/>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E7EBF1"/>
                    </a:solidFill>
                  </a:tcPr>
                </a:tc>
                <a:tc>
                  <a:txBody>
                    <a:bodyPr/>
                    <a:lstStyle/>
                    <a:p>
                      <a:pPr indent="0" marL="0">
                        <a:buNone/>
                      </a:pPr>
                      <a:r>
                        <a:rPr lang="en-US" sz="1300" b="1" dirty="0">
                          <a:solidFill>
                            <a:srgbClr val="13294B"/>
                          </a:solidFill>
                          <a:latin typeface="Calibri" pitchFamily="34" charset="0"/>
                          <a:ea typeface="Calibri" pitchFamily="34" charset="-122"/>
                          <a:cs typeface="Calibri" pitchFamily="34" charset="-120"/>
                        </a:rPr>
                        <a:t>Test case</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E7EBF1"/>
                    </a:solidFill>
                  </a:tcPr>
                </a:tc>
                <a:tc>
                  <a:txBody>
                    <a:bodyPr/>
                    <a:lstStyle/>
                    <a:p>
                      <a:pPr indent="0" marL="0">
                        <a:buNone/>
                      </a:pPr>
                      <a:r>
                        <a:rPr lang="en-US" sz="1300" b="1" dirty="0">
                          <a:solidFill>
                            <a:srgbClr val="13294B"/>
                          </a:solidFill>
                          <a:latin typeface="Calibri" pitchFamily="34" charset="0"/>
                          <a:ea typeface="Calibri" pitchFamily="34" charset="-122"/>
                          <a:cs typeface="Calibri" pitchFamily="34" charset="-120"/>
                        </a:rPr>
                        <a:t>Expected result</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E7EBF1"/>
                    </a:solidFill>
                  </a:tcPr>
                </a:tc>
                <a:tc>
                  <a:txBody>
                    <a:bodyPr/>
                    <a:lstStyle/>
                    <a:p>
                      <a:pPr indent="0" marL="0">
                        <a:buNone/>
                      </a:pPr>
                      <a:r>
                        <a:rPr lang="en-US" sz="1300" b="1" dirty="0">
                          <a:solidFill>
                            <a:srgbClr val="13294B"/>
                          </a:solidFill>
                          <a:latin typeface="Calibri" pitchFamily="34" charset="0"/>
                          <a:ea typeface="Calibri" pitchFamily="34" charset="-122"/>
                          <a:cs typeface="Calibri" pitchFamily="34" charset="-120"/>
                        </a:rPr>
                        <a:t>Observed</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E7EBF1"/>
                    </a:solidFill>
                  </a:tcPr>
                </a:tc>
              </a:tr>
              <a:tr h="347472">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Edge → Fog telemetry</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HTTP 200, one reading per second</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Pass, 1.0 msg/s</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r h="347472">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State classification</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Correct state at 1.00 g and 1.20 g</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Pass</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r h="347472">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Local alarm</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Buzzer at 1.20 g and above</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Pass</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r h="347472">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SMS alert</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Manager receives an SMS</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Pass</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r h="347472">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Fault recording</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CSV with 50 + 1 + 50 rows</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Pass, 101 rows</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r h="347472">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6</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Edge offline</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Flagged within 5 seconds</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Pass</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r h="347472">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7</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SMS rate limit</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At most one SMS per 60 s per pump</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Pass</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r h="347472">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8</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CEFE7"/>
                    </a:solidFill>
                  </a:tcPr>
                </a:tc>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Motor trip</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CEFE7"/>
                    </a:solidFill>
                  </a:tcPr>
                </a:tc>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Motor stops after 3 critical readings</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CEFE7"/>
                    </a:solidFill>
                  </a:tcPr>
                </a:tc>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Pass (simulated edge)</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CEFE7"/>
                    </a:solidFill>
                  </a:tcPr>
                </a:tc>
              </a:tr>
              <a:tr h="347472">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9</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CEFE7"/>
                    </a:solidFill>
                  </a:tcPr>
                </a:tc>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Remote restart</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CEFE7"/>
                    </a:solidFill>
                  </a:tcPr>
                </a:tc>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Command reaches the edge in the next reply</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CEFE7"/>
                    </a:solidFill>
                  </a:tcPr>
                </a:tc>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Pass (simulated edge)</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CEFE7"/>
                    </a:solidFill>
                  </a:tcPr>
                </a:tc>
              </a:tr>
              <a:tr h="347472">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10</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CEFE7"/>
                    </a:solidFill>
                  </a:tcPr>
                </a:tc>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Offline buffer</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CEFE7"/>
                    </a:solidFill>
                  </a:tcPr>
                </a:tc>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Readings from the outage appear on the graph</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CEFE7"/>
                    </a:solidFill>
                  </a:tcPr>
                </a:tc>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Pass (simulated edge)</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CEFE7"/>
                    </a:solidFill>
                  </a:tcPr>
                </a:tc>
              </a:tr>
              <a:tr h="347472">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11</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CEFE7"/>
                    </a:solidFill>
                  </a:tcPr>
                </a:tc>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Location</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CEFE7"/>
                    </a:solidFill>
                  </a:tcPr>
                </a:tc>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Pump shown on map; map link in the SMS text</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CEFE7"/>
                    </a:solidFill>
                  </a:tcPr>
                </a:tc>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Pass, fixed location</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CEFE7"/>
                    </a:solidFill>
                  </a:tcPr>
                </a:tc>
              </a:tr>
            </a:tbl>
          </a:graphicData>
        </a:graphic>
      </p:graphicFrame>
      <p:sp>
        <p:nvSpPr>
          <p:cNvPr id="4" name="Text 1"/>
          <p:cNvSpPr txBox="1"/>
          <p:nvPr/>
        </p:nvSpPr>
        <p:spPr>
          <a:xfrm>
            <a:off x="548640" y="5532120"/>
            <a:ext cx="11094415" cy="731520"/>
          </a:xfrm>
          <a:prstGeom prst="rect">
            <a:avLst/>
          </a:prstGeom>
          <a:noFill/>
          <a:ln/>
        </p:spPr>
        <p:txBody>
          <a:bodyPr wrap="square" lIns="0" tIns="0" rIns="0" bIns="0" rtlCol="0" anchor="t"/>
          <a:lstStyle/>
          <a:p>
            <a:pPr indent="0" marL="0">
              <a:buNone/>
            </a:pPr>
            <a:r>
              <a:rPr lang="en-US" sz="1300" dirty="0">
                <a:solidFill>
                  <a:srgbClr val="5B6472"/>
                </a:solidFill>
                <a:latin typeface="Calibri" pitchFamily="34" charset="0"/>
                <a:ea typeface="Calibri" pitchFamily="34" charset="-122"/>
                <a:cs typeface="Calibri" pitchFamily="34" charset="-120"/>
              </a:rPr>
              <a:t>Tests 1 to 7 were run on the hardware rig. Tests 8 to 11 cover the new features and were run against the fog server with a simulated edge node sending the same JSON as the firmware. GPS was tested with the fixed fallback location, since the rig is indoors.</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1"/>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685800"/>
          </a:xfrm>
          <a:prstGeom prst="rect">
            <a:avLst/>
          </a:prstGeom>
          <a:noFill/>
          <a:ln/>
        </p:spPr>
        <p:txBody>
          <a:bodyPr wrap="square" lIns="0" tIns="0" rIns="0" bIns="0" rtlCol="0" anchor="ctr"/>
          <a:lstStyle/>
          <a:p>
            <a:pPr algn="l" indent="0" marL="0">
              <a:buNone/>
            </a:pPr>
            <a:r>
              <a:rPr lang="en-US" sz="2800" b="1" dirty="0">
                <a:solidFill>
                  <a:srgbClr val="13294B"/>
                </a:solidFill>
                <a:latin typeface="Calibri" pitchFamily="34" charset="0"/>
                <a:ea typeface="Calibri" pitchFamily="34" charset="-122"/>
                <a:cs typeface="Calibri" pitchFamily="34" charset="-120"/>
              </a:rPr>
              <a:t>Hardware Extensions for a Field Deployment</a:t>
            </a:r>
            <a:endParaRPr lang="en-US" sz="28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94415" cy="914400"/>
        </p:xfrm>
        <a:graphic>
          <a:graphicData uri="http://schemas.openxmlformats.org/drawingml/2006/table">
            <a:tbl>
              <a:tblPr/>
              <a:tblGrid>
                <a:gridCol w="2834640"/>
                <a:gridCol w="2743200"/>
                <a:gridCol w="5513832"/>
              </a:tblGrid>
              <a:tr h="475488">
                <a:tc>
                  <a:txBody>
                    <a:bodyPr/>
                    <a:lstStyle/>
                    <a:p>
                      <a:pPr indent="0" marL="0">
                        <a:buNone/>
                      </a:pPr>
                      <a:r>
                        <a:rPr lang="en-US" sz="1400" b="1" dirty="0">
                          <a:solidFill>
                            <a:srgbClr val="13294B"/>
                          </a:solidFill>
                          <a:latin typeface="Calibri" pitchFamily="34" charset="0"/>
                          <a:ea typeface="Calibri" pitchFamily="34" charset="-122"/>
                          <a:cs typeface="Calibri" pitchFamily="34" charset="-120"/>
                        </a:rPr>
                        <a:t>Module</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E7EBF1"/>
                    </a:solidFill>
                  </a:tcPr>
                </a:tc>
                <a:tc>
                  <a:txBody>
                    <a:bodyPr/>
                    <a:lstStyle/>
                    <a:p>
                      <a:pPr indent="0" marL="0">
                        <a:buNone/>
                      </a:pPr>
                      <a:r>
                        <a:rPr lang="en-US" sz="1400" b="1" dirty="0">
                          <a:solidFill>
                            <a:srgbClr val="13294B"/>
                          </a:solidFill>
                          <a:latin typeface="Calibri" pitchFamily="34" charset="0"/>
                          <a:ea typeface="Calibri" pitchFamily="34" charset="-122"/>
                          <a:cs typeface="Calibri" pitchFamily="34" charset="-120"/>
                        </a:rPr>
                        <a:t>What it adds</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E7EBF1"/>
                    </a:solidFill>
                  </a:tcPr>
                </a:tc>
                <a:tc>
                  <a:txBody>
                    <a:bodyPr/>
                    <a:lstStyle/>
                    <a:p>
                      <a:pPr indent="0" marL="0">
                        <a:buNone/>
                      </a:pPr>
                      <a:r>
                        <a:rPr lang="en-US" sz="1400" b="1" dirty="0">
                          <a:solidFill>
                            <a:srgbClr val="13294B"/>
                          </a:solidFill>
                          <a:latin typeface="Calibri" pitchFamily="34" charset="0"/>
                          <a:ea typeface="Calibri" pitchFamily="34" charset="-122"/>
                          <a:cs typeface="Calibri" pitchFamily="34" charset="-120"/>
                        </a:rPr>
                        <a:t>Why it matters for pumps</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E7EBF1"/>
                    </a:solidFill>
                  </a:tcPr>
                </a:tc>
              </a:tr>
              <a:tr h="475488">
                <a:tc>
                  <a:txBody>
                    <a:bodyPr/>
                    <a:lstStyle/>
                    <a:p>
                      <a:pPr indent="0" marL="0">
                        <a:buNone/>
                      </a:pPr>
                      <a:r>
                        <a:rPr lang="en-US" sz="1400" b="1" dirty="0">
                          <a:solidFill>
                            <a:srgbClr val="374151"/>
                          </a:solidFill>
                          <a:latin typeface="Calibri" pitchFamily="34" charset="0"/>
                          <a:ea typeface="Calibri" pitchFamily="34" charset="-122"/>
                          <a:cs typeface="Calibri" pitchFamily="34" charset="-120"/>
                        </a:rPr>
                        <a:t>ACS712 / SCT-013 current sensor</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CEFE7"/>
                    </a:solidFill>
                  </a:tcPr>
                </a:tc>
                <a:tc>
                  <a:txBody>
                    <a:bodyPr/>
                    <a:lstStyle/>
                    <a:p>
                      <a:pPr indent="0" marL="0">
                        <a:buNone/>
                      </a:pPr>
                      <a:r>
                        <a:rPr lang="en-US" sz="1400" dirty="0">
                          <a:solidFill>
                            <a:srgbClr val="374151"/>
                          </a:solidFill>
                          <a:latin typeface="Calibri" pitchFamily="34" charset="0"/>
                          <a:ea typeface="Calibri" pitchFamily="34" charset="-122"/>
                          <a:cs typeface="Calibri" pitchFamily="34" charset="-120"/>
                        </a:rPr>
                        <a:t>Motor current</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CEFE7"/>
                    </a:solidFill>
                  </a:tcPr>
                </a:tc>
                <a:tc>
                  <a:txBody>
                    <a:bodyPr/>
                    <a:lstStyle/>
                    <a:p>
                      <a:pPr indent="0" marL="0">
                        <a:buNone/>
                      </a:pPr>
                      <a:r>
                        <a:rPr lang="en-US" sz="1400" dirty="0">
                          <a:solidFill>
                            <a:srgbClr val="374151"/>
                          </a:solidFill>
                          <a:latin typeface="Calibri" pitchFamily="34" charset="0"/>
                          <a:ea typeface="Calibri" pitchFamily="34" charset="-122"/>
                          <a:cs typeface="Calibri" pitchFamily="34" charset="-120"/>
                        </a:rPr>
                        <a:t>Detects dry running, overload and a locked rotor, which vibration alone can miss</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CEFE7"/>
                    </a:solidFill>
                  </a:tcPr>
                </a:tc>
              </a:tr>
              <a:tr h="475488">
                <a:tc>
                  <a:txBody>
                    <a:bodyPr/>
                    <a:lstStyle/>
                    <a:p>
                      <a:pPr indent="0" marL="0">
                        <a:buNone/>
                      </a:pPr>
                      <a:r>
                        <a:rPr lang="en-US" sz="1400" b="1" dirty="0">
                          <a:solidFill>
                            <a:srgbClr val="374151"/>
                          </a:solidFill>
                          <a:latin typeface="Calibri" pitchFamily="34" charset="0"/>
                          <a:ea typeface="Calibri" pitchFamily="34" charset="-122"/>
                          <a:cs typeface="Calibri" pitchFamily="34" charset="-120"/>
                        </a:rPr>
                        <a:t>DS18B20 on the motor body</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400" dirty="0">
                          <a:solidFill>
                            <a:srgbClr val="374151"/>
                          </a:solidFill>
                          <a:latin typeface="Calibri" pitchFamily="34" charset="0"/>
                          <a:ea typeface="Calibri" pitchFamily="34" charset="-122"/>
                          <a:cs typeface="Calibri" pitchFamily="34" charset="-120"/>
                        </a:rPr>
                        <a:t>Temperature</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400" dirty="0">
                          <a:solidFill>
                            <a:srgbClr val="374151"/>
                          </a:solidFill>
                          <a:latin typeface="Calibri" pitchFamily="34" charset="0"/>
                          <a:ea typeface="Calibri" pitchFamily="34" charset="-122"/>
                          <a:cs typeface="Calibri" pitchFamily="34" charset="-120"/>
                        </a:rPr>
                        <a:t>Bearing wear and overloading show up as heat</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r h="475488">
                <a:tc>
                  <a:txBody>
                    <a:bodyPr/>
                    <a:lstStyle/>
                    <a:p>
                      <a:pPr indent="0" marL="0">
                        <a:buNone/>
                      </a:pPr>
                      <a:r>
                        <a:rPr lang="en-US" sz="1400" b="1" dirty="0">
                          <a:solidFill>
                            <a:srgbClr val="374151"/>
                          </a:solidFill>
                          <a:latin typeface="Calibri" pitchFamily="34" charset="0"/>
                          <a:ea typeface="Calibri" pitchFamily="34" charset="-122"/>
                          <a:cs typeface="Calibri" pitchFamily="34" charset="-120"/>
                        </a:rPr>
                        <a:t>Flow or pressure sensor</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400" dirty="0">
                          <a:solidFill>
                            <a:srgbClr val="374151"/>
                          </a:solidFill>
                          <a:latin typeface="Calibri" pitchFamily="34" charset="0"/>
                          <a:ea typeface="Calibri" pitchFamily="34" charset="-122"/>
                          <a:cs typeface="Calibri" pitchFamily="34" charset="-120"/>
                        </a:rPr>
                        <a:t>Water actually delivered</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400" dirty="0">
                          <a:solidFill>
                            <a:srgbClr val="374151"/>
                          </a:solidFill>
                          <a:latin typeface="Calibri" pitchFamily="34" charset="0"/>
                          <a:ea typeface="Calibri" pitchFamily="34" charset="-122"/>
                          <a:cs typeface="Calibri" pitchFamily="34" charset="-120"/>
                        </a:rPr>
                        <a:t>Pump running but no water means dry running or impeller damage</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r h="475488">
                <a:tc>
                  <a:txBody>
                    <a:bodyPr/>
                    <a:lstStyle/>
                    <a:p>
                      <a:pPr indent="0" marL="0">
                        <a:buNone/>
                      </a:pPr>
                      <a:r>
                        <a:rPr lang="en-US" sz="1400" b="1" dirty="0">
                          <a:solidFill>
                            <a:srgbClr val="374151"/>
                          </a:solidFill>
                          <a:latin typeface="Calibri" pitchFamily="34" charset="0"/>
                          <a:ea typeface="Calibri" pitchFamily="34" charset="-122"/>
                          <a:cs typeface="Calibri" pitchFamily="34" charset="-120"/>
                        </a:rPr>
                        <a:t>SIM800L / A7670C GSM-4G module</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CEFE7"/>
                    </a:solidFill>
                  </a:tcPr>
                </a:tc>
                <a:tc>
                  <a:txBody>
                    <a:bodyPr/>
                    <a:lstStyle/>
                    <a:p>
                      <a:pPr indent="0" marL="0">
                        <a:buNone/>
                      </a:pPr>
                      <a:r>
                        <a:rPr lang="en-US" sz="1400" dirty="0">
                          <a:solidFill>
                            <a:srgbClr val="374151"/>
                          </a:solidFill>
                          <a:latin typeface="Calibri" pitchFamily="34" charset="0"/>
                          <a:ea typeface="Calibri" pitchFamily="34" charset="-122"/>
                          <a:cs typeface="Calibri" pitchFamily="34" charset="-120"/>
                        </a:rPr>
                        <a:t>SMS and data over the mobile network</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CEFE7"/>
                    </a:solidFill>
                  </a:tcPr>
                </a:tc>
                <a:tc>
                  <a:txBody>
                    <a:bodyPr/>
                    <a:lstStyle/>
                    <a:p>
                      <a:pPr indent="0" marL="0">
                        <a:buNone/>
                      </a:pPr>
                      <a:r>
                        <a:rPr lang="en-US" sz="1400" dirty="0">
                          <a:solidFill>
                            <a:srgbClr val="374151"/>
                          </a:solidFill>
                          <a:latin typeface="Calibri" pitchFamily="34" charset="0"/>
                          <a:ea typeface="Calibri" pitchFamily="34" charset="-122"/>
                          <a:cs typeface="Calibri" pitchFamily="34" charset="-120"/>
                        </a:rPr>
                        <a:t>Remote borewells have no Wi-Fi; the edge could send the SMS itself if the fog is down</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CEFE7"/>
                    </a:solidFill>
                  </a:tcPr>
                </a:tc>
              </a:tr>
              <a:tr h="475488">
                <a:tc>
                  <a:txBody>
                    <a:bodyPr/>
                    <a:lstStyle/>
                    <a:p>
                      <a:pPr indent="0" marL="0">
                        <a:buNone/>
                      </a:pPr>
                      <a:r>
                        <a:rPr lang="en-US" sz="1400" b="1" dirty="0">
                          <a:solidFill>
                            <a:srgbClr val="374151"/>
                          </a:solidFill>
                          <a:latin typeface="Calibri" pitchFamily="34" charset="0"/>
                          <a:ea typeface="Calibri" pitchFamily="34" charset="-122"/>
                          <a:cs typeface="Calibri" pitchFamily="34" charset="-120"/>
                        </a:rPr>
                        <a:t>LoRa SX1278</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400" dirty="0">
                          <a:solidFill>
                            <a:srgbClr val="374151"/>
                          </a:solidFill>
                          <a:latin typeface="Calibri" pitchFamily="34" charset="0"/>
                          <a:ea typeface="Calibri" pitchFamily="34" charset="-122"/>
                          <a:cs typeface="Calibri" pitchFamily="34" charset="-120"/>
                        </a:rPr>
                        <a:t>Long-range, low-power radio</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400" dirty="0">
                          <a:solidFill>
                            <a:srgbClr val="374151"/>
                          </a:solidFill>
                          <a:latin typeface="Calibri" pitchFamily="34" charset="0"/>
                          <a:ea typeface="Calibri" pitchFamily="34" charset="-122"/>
                          <a:cs typeface="Calibri" pitchFamily="34" charset="-120"/>
                        </a:rPr>
                        <a:t>Many pumps a few km apart can reach one fog gateway without internet</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r h="475488">
                <a:tc>
                  <a:txBody>
                    <a:bodyPr/>
                    <a:lstStyle/>
                    <a:p>
                      <a:pPr indent="0" marL="0">
                        <a:buNone/>
                      </a:pPr>
                      <a:r>
                        <a:rPr lang="en-US" sz="1400" b="1" dirty="0">
                          <a:solidFill>
                            <a:srgbClr val="374151"/>
                          </a:solidFill>
                          <a:latin typeface="Calibri" pitchFamily="34" charset="0"/>
                          <a:ea typeface="Calibri" pitchFamily="34" charset="-122"/>
                          <a:cs typeface="Calibri" pitchFamily="34" charset="-120"/>
                        </a:rPr>
                        <a:t>RC522 RFID reader</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400" dirty="0">
                          <a:solidFill>
                            <a:srgbClr val="374151"/>
                          </a:solidFill>
                          <a:latin typeface="Calibri" pitchFamily="34" charset="0"/>
                          <a:ea typeface="Calibri" pitchFamily="34" charset="-122"/>
                          <a:cs typeface="Calibri" pitchFamily="34" charset="-120"/>
                        </a:rPr>
                        <a:t>Technician tag-in at the pump</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400" dirty="0">
                          <a:solidFill>
                            <a:srgbClr val="374151"/>
                          </a:solidFill>
                          <a:latin typeface="Calibri" pitchFamily="34" charset="0"/>
                          <a:ea typeface="Calibri" pitchFamily="34" charset="-122"/>
                          <a:cs typeface="Calibri" pitchFamily="34" charset="-120"/>
                        </a:rPr>
                        <a:t>Proof of the site visit; closes the fault in the event log</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r h="475488">
                <a:tc>
                  <a:txBody>
                    <a:bodyPr/>
                    <a:lstStyle/>
                    <a:p>
                      <a:pPr indent="0" marL="0">
                        <a:buNone/>
                      </a:pPr>
                      <a:r>
                        <a:rPr lang="en-US" sz="1400" b="1" dirty="0">
                          <a:solidFill>
                            <a:srgbClr val="374151"/>
                          </a:solidFill>
                          <a:latin typeface="Calibri" pitchFamily="34" charset="0"/>
                          <a:ea typeface="Calibri" pitchFamily="34" charset="-122"/>
                          <a:cs typeface="Calibri" pitchFamily="34" charset="-120"/>
                        </a:rPr>
                        <a:t>Relay and contactor</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400" dirty="0">
                          <a:solidFill>
                            <a:srgbClr val="374151"/>
                          </a:solidFill>
                          <a:latin typeface="Calibri" pitchFamily="34" charset="0"/>
                          <a:ea typeface="Calibri" pitchFamily="34" charset="-122"/>
                          <a:cs typeface="Calibri" pitchFamily="34" charset="-120"/>
                        </a:rPr>
                        <a:t>Switching a real 230 V pump</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400" dirty="0">
                          <a:solidFill>
                            <a:srgbClr val="374151"/>
                          </a:solidFill>
                          <a:latin typeface="Calibri" pitchFamily="34" charset="0"/>
                          <a:ea typeface="Calibri" pitchFamily="34" charset="-122"/>
                          <a:cs typeface="Calibri" pitchFamily="34" charset="-120"/>
                        </a:rPr>
                        <a:t>Lets the same trip logic protect an actual pump motor</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5577840"/>
            <a:ext cx="11094415" cy="548640"/>
          </a:xfrm>
          <a:prstGeom prst="rect">
            <a:avLst/>
          </a:prstGeom>
          <a:noFill/>
          <a:ln/>
        </p:spPr>
        <p:txBody>
          <a:bodyPr wrap="square" lIns="0" tIns="0" rIns="0" bIns="0" rtlCol="0" anchor="t"/>
          <a:lstStyle/>
          <a:p>
            <a:pPr indent="0" marL="0">
              <a:buNone/>
            </a:pPr>
            <a:r>
              <a:rPr lang="en-US" sz="1400" b="1" dirty="0">
                <a:solidFill>
                  <a:srgbClr val="13294B"/>
                </a:solidFill>
                <a:latin typeface="Calibri" pitchFamily="34" charset="0"/>
                <a:ea typeface="Calibri" pitchFamily="34" charset="-122"/>
                <a:cs typeface="Calibri" pitchFamily="34" charset="-120"/>
              </a:rPr>
              <a:t>Recommended next: the current sensor (cheap, and it catches dry running, the most common pump failure) and the GSM module (makes alerts independent of Wi-Fi).</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1"/>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685800"/>
          </a:xfrm>
          <a:prstGeom prst="rect">
            <a:avLst/>
          </a:prstGeom>
          <a:noFill/>
          <a:ln/>
        </p:spPr>
        <p:txBody>
          <a:bodyPr wrap="square" lIns="0" tIns="0" rIns="0" bIns="0" rtlCol="0" anchor="ctr"/>
          <a:lstStyle/>
          <a:p>
            <a:pPr algn="l" indent="0" marL="0">
              <a:buNone/>
            </a:pPr>
            <a:r>
              <a:rPr lang="en-US" sz="2800" b="1" dirty="0">
                <a:solidFill>
                  <a:srgbClr val="13294B"/>
                </a:solidFill>
                <a:latin typeface="Calibri" pitchFamily="34" charset="0"/>
                <a:ea typeface="Calibri" pitchFamily="34" charset="-122"/>
                <a:cs typeface="Calibri" pitchFamily="34" charset="-120"/>
              </a:rPr>
              <a:t>Phase 2: From Fixed Thresholds to Learned Detection</a:t>
            </a:r>
            <a:endParaRPr lang="en-US" sz="2800" dirty="0"/>
          </a:p>
        </p:txBody>
      </p:sp>
      <p:sp>
        <p:nvSpPr>
          <p:cNvPr id="3" name="Text 1"/>
          <p:cNvSpPr txBox="1"/>
          <p:nvPr/>
        </p:nvSpPr>
        <p:spPr>
          <a:xfrm>
            <a:off x="548640" y="1234440"/>
            <a:ext cx="4937760" cy="320040"/>
          </a:xfrm>
          <a:prstGeom prst="rect">
            <a:avLst/>
          </a:prstGeom>
          <a:noFill/>
          <a:ln/>
        </p:spPr>
        <p:txBody>
          <a:bodyPr wrap="square" lIns="0" tIns="0" rIns="0" bIns="0" rtlCol="0" anchor="t"/>
          <a:lstStyle/>
          <a:p>
            <a:pPr indent="0" marL="0">
              <a:buNone/>
            </a:pPr>
            <a:r>
              <a:rPr lang="en-US" sz="1600" b="1" dirty="0">
                <a:solidFill>
                  <a:srgbClr val="13294B"/>
                </a:solidFill>
                <a:latin typeface="Calibri" pitchFamily="34" charset="0"/>
                <a:ea typeface="Calibri" pitchFamily="34" charset="-122"/>
                <a:cs typeface="Calibri" pitchFamily="34" charset="-120"/>
              </a:rPr>
              <a:t>Limitations of the threshold method</a:t>
            </a:r>
            <a:endParaRPr lang="en-US" sz="1600" dirty="0"/>
          </a:p>
        </p:txBody>
      </p:sp>
      <p:sp>
        <p:nvSpPr>
          <p:cNvPr id="4" name="Text 2"/>
          <p:cNvSpPr txBox="1"/>
          <p:nvPr/>
        </p:nvSpPr>
        <p:spPr>
          <a:xfrm>
            <a:off x="548640" y="1645920"/>
            <a:ext cx="4937760" cy="3200400"/>
          </a:xfrm>
          <a:prstGeom prst="rect">
            <a:avLst/>
          </a:prstGeom>
          <a:noFill/>
          <a:ln/>
        </p:spPr>
        <p:txBody>
          <a:bodyPr wrap="square" lIns="0" tIns="0" rIns="0" bIns="0" rtlCol="0" anchor="t"/>
          <a:lstStyle/>
          <a:p>
            <a:pPr marL="177800" indent="-177800">
              <a:spcAft>
                <a:spcPts val="700"/>
              </a:spcAft>
              <a:buSzPct val="100000"/>
              <a:buChar char="•"/>
            </a:pPr>
            <a:r>
              <a:rPr lang="en-US" sz="1500" dirty="0">
                <a:solidFill>
                  <a:srgbClr val="374151"/>
                </a:solidFill>
                <a:latin typeface="Calibri" pitchFamily="34" charset="0"/>
                <a:ea typeface="Calibri" pitchFamily="34" charset="-122"/>
                <a:cs typeface="Calibri" pitchFamily="34" charset="-120"/>
              </a:rPr>
              <a:t>One reading per second captures the level of vibration, not its frequency content</a:t>
            </a:r>
            <a:endParaRPr lang="en-US" sz="1500" dirty="0"/>
          </a:p>
          <a:p>
            <a:pPr marL="177800" indent="-177800">
              <a:spcAft>
                <a:spcPts val="700"/>
              </a:spcAft>
              <a:buSzPct val="100000"/>
              <a:buChar char="•"/>
            </a:pPr>
            <a:r>
              <a:rPr lang="en-US" sz="1500" dirty="0">
                <a:solidFill>
                  <a:srgbClr val="374151"/>
                </a:solidFill>
                <a:latin typeface="Calibri" pitchFamily="34" charset="0"/>
                <a:ea typeface="Calibri" pitchFamily="34" charset="-122"/>
                <a:cs typeface="Calibri" pitchFamily="34" charset="-120"/>
              </a:rPr>
              <a:t>A threshold cannot separate imbalance, misalignment, looseness, cavitation or bearing wear</a:t>
            </a:r>
            <a:endParaRPr lang="en-US" sz="1500" dirty="0"/>
          </a:p>
          <a:p>
            <a:pPr marL="177800" indent="-177800">
              <a:spcAft>
                <a:spcPts val="700"/>
              </a:spcAft>
              <a:buSzPct val="100000"/>
              <a:buChar char="•"/>
            </a:pPr>
            <a:r>
              <a:rPr lang="en-US" sz="1500" dirty="0">
                <a:solidFill>
                  <a:srgbClr val="374151"/>
                </a:solidFill>
                <a:latin typeface="Calibri" pitchFamily="34" charset="0"/>
                <a:ea typeface="Calibri" pitchFamily="34" charset="-122"/>
                <a:cs typeface="Calibri" pitchFamily="34" charset="-120"/>
              </a:rPr>
              <a:t>Thresholds must be re-tuned for each pump and mounting</a:t>
            </a:r>
            <a:endParaRPr lang="en-US" sz="1500" dirty="0"/>
          </a:p>
          <a:p>
            <a:pPr marL="177800" indent="-177800">
              <a:spcAft>
                <a:spcPts val="700"/>
              </a:spcAft>
              <a:buSzPct val="100000"/>
              <a:buChar char="•"/>
            </a:pPr>
            <a:r>
              <a:rPr lang="en-US" sz="1500" dirty="0">
                <a:solidFill>
                  <a:srgbClr val="374151"/>
                </a:solidFill>
                <a:latin typeface="Calibri" pitchFamily="34" charset="0"/>
                <a:ea typeface="Calibri" pitchFamily="34" charset="-122"/>
                <a:cs typeface="Calibri" pitchFamily="34" charset="-120"/>
              </a:rPr>
              <a:t>Slow drift below the threshold goes unnoticed</a:t>
            </a:r>
            <a:endParaRPr lang="en-US" sz="1500" dirty="0"/>
          </a:p>
        </p:txBody>
      </p:sp>
      <p:sp>
        <p:nvSpPr>
          <p:cNvPr id="5" name="Text 3"/>
          <p:cNvSpPr txBox="1"/>
          <p:nvPr/>
        </p:nvSpPr>
        <p:spPr>
          <a:xfrm>
            <a:off x="5852160" y="1234440"/>
            <a:ext cx="5760720" cy="320040"/>
          </a:xfrm>
          <a:prstGeom prst="rect">
            <a:avLst/>
          </a:prstGeom>
          <a:noFill/>
          <a:ln/>
        </p:spPr>
        <p:txBody>
          <a:bodyPr wrap="square" lIns="0" tIns="0" rIns="0" bIns="0" rtlCol="0" anchor="t"/>
          <a:lstStyle/>
          <a:p>
            <a:pPr indent="0" marL="0">
              <a:buNone/>
            </a:pPr>
            <a:r>
              <a:rPr lang="en-US" sz="1600" b="1" dirty="0">
                <a:solidFill>
                  <a:srgbClr val="13294B"/>
                </a:solidFill>
                <a:latin typeface="Calibri" pitchFamily="34" charset="0"/>
                <a:ea typeface="Calibri" pitchFamily="34" charset="-122"/>
                <a:cs typeface="Calibri" pitchFamily="34" charset="-120"/>
              </a:rPr>
              <a:t>Upgrades required before training a model</a:t>
            </a:r>
            <a:endParaRPr lang="en-US" sz="16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852160" y="1645920"/>
          <a:ext cx="5788152" cy="914400"/>
        </p:xfrm>
        <a:graphic>
          <a:graphicData uri="http://schemas.openxmlformats.org/drawingml/2006/table">
            <a:tbl>
              <a:tblPr/>
              <a:tblGrid>
                <a:gridCol w="1371600"/>
                <a:gridCol w="4416552"/>
              </a:tblGrid>
              <a:tr h="0">
                <a:tc>
                  <a:txBody>
                    <a:bodyPr/>
                    <a:lstStyle/>
                    <a:p>
                      <a:pPr indent="0" marL="0">
                        <a:buNone/>
                      </a:pPr>
                      <a:r>
                        <a:rPr lang="en-US" sz="1300" b="1" dirty="0">
                          <a:solidFill>
                            <a:srgbClr val="13294B"/>
                          </a:solidFill>
                          <a:latin typeface="Calibri" pitchFamily="34" charset="0"/>
                          <a:ea typeface="Calibri" pitchFamily="34" charset="-122"/>
                          <a:cs typeface="Calibri" pitchFamily="34" charset="-120"/>
                        </a:rPr>
                        <a:t>Area</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E7EBF1"/>
                    </a:solidFill>
                  </a:tcPr>
                </a:tc>
                <a:tc>
                  <a:txBody>
                    <a:bodyPr/>
                    <a:lstStyle/>
                    <a:p>
                      <a:pPr indent="0" marL="0">
                        <a:buNone/>
                      </a:pPr>
                      <a:r>
                        <a:rPr lang="en-US" sz="1300" b="1" dirty="0">
                          <a:solidFill>
                            <a:srgbClr val="13294B"/>
                          </a:solidFill>
                          <a:latin typeface="Calibri" pitchFamily="34" charset="0"/>
                          <a:ea typeface="Calibri" pitchFamily="34" charset="-122"/>
                          <a:cs typeface="Calibri" pitchFamily="34" charset="-120"/>
                        </a:rPr>
                        <a:t>Change</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E7EBF1"/>
                    </a:solidFill>
                  </a:tcPr>
                </a:tc>
              </a:tr>
              <a:tr h="0">
                <a:tc>
                  <a:txBody>
                    <a:bodyPr/>
                    <a:lstStyle/>
                    <a:p>
                      <a:pPr indent="0" marL="0">
                        <a:buNone/>
                      </a:pPr>
                      <a:r>
                        <a:rPr lang="en-US" sz="1300" b="1" dirty="0">
                          <a:solidFill>
                            <a:srgbClr val="374151"/>
                          </a:solidFill>
                          <a:latin typeface="Calibri" pitchFamily="34" charset="0"/>
                          <a:ea typeface="Calibri" pitchFamily="34" charset="-122"/>
                          <a:cs typeface="Calibri" pitchFamily="34" charset="-120"/>
                        </a:rPr>
                        <a:t>Sampling</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Read the MPU6050 at up to 1 kHz (its maximum accelerometer rate) in 1-second windows</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374151"/>
                          </a:solidFill>
                          <a:latin typeface="Calibri" pitchFamily="34" charset="0"/>
                          <a:ea typeface="Calibri" pitchFamily="34" charset="-122"/>
                          <a:cs typeface="Calibri" pitchFamily="34" charset="-120"/>
                        </a:rPr>
                        <a:t>Features</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RMS, peak, crest factor, kurtosis and FFT band energies on the ESP32 (ESP-DSP)</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374151"/>
                          </a:solidFill>
                          <a:latin typeface="Calibri" pitchFamily="34" charset="0"/>
                          <a:ea typeface="Calibri" pitchFamily="34" charset="-122"/>
                          <a:cs typeface="Calibri" pitchFamily="34" charset="-120"/>
                        </a:rPr>
                        <a:t>Extra inputs</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Motor current and temperature from the extension sensors</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374151"/>
                          </a:solidFill>
                          <a:latin typeface="Calibri" pitchFamily="34" charset="0"/>
                          <a:ea typeface="Calibri" pitchFamily="34" charset="-122"/>
                          <a:cs typeface="Calibri" pitchFamily="34" charset="-120"/>
                        </a:rPr>
                        <a:t>Dataset</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Normal runs at several speeds, induced faults on the rig, plus the public CWRU bearing dataset</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374151"/>
                          </a:solidFill>
                          <a:latin typeface="Calibri" pitchFamily="34" charset="0"/>
                          <a:ea typeface="Calibri" pitchFamily="34" charset="-122"/>
                          <a:cs typeface="Calibri" pitchFamily="34" charset="-120"/>
                        </a:rPr>
                        <a:t>Labels</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300" dirty="0">
                          <a:solidFill>
                            <a:srgbClr val="374151"/>
                          </a:solidFill>
                          <a:latin typeface="Calibri" pitchFamily="34" charset="0"/>
                          <a:ea typeface="Calibri" pitchFamily="34" charset="-122"/>
                          <a:cs typeface="Calibri" pitchFamily="34" charset="-120"/>
                        </a:rPr>
                        <a:t>Fault recordings tagged with the fault that was induced</a:t>
                      </a:r>
                      <a:endParaRPr lang="en-US" sz="13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1"/>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685800"/>
          </a:xfrm>
          <a:prstGeom prst="rect">
            <a:avLst/>
          </a:prstGeom>
          <a:noFill/>
          <a:ln/>
        </p:spPr>
        <p:txBody>
          <a:bodyPr wrap="square" lIns="0" tIns="0" rIns="0" bIns="0" rtlCol="0" anchor="ctr"/>
          <a:lstStyle/>
          <a:p>
            <a:pPr algn="l" indent="0" marL="0">
              <a:buNone/>
            </a:pPr>
            <a:r>
              <a:rPr lang="en-US" sz="2800" b="1" dirty="0">
                <a:solidFill>
                  <a:srgbClr val="13294B"/>
                </a:solidFill>
                <a:latin typeface="Calibri" pitchFamily="34" charset="0"/>
                <a:ea typeface="Calibri" pitchFamily="34" charset="-122"/>
                <a:cs typeface="Calibri" pitchFamily="34" charset="-120"/>
              </a:rPr>
              <a:t>Comparison of Candidate AI Models</a:t>
            </a:r>
            <a:endParaRPr lang="en-US" sz="28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94415" cy="914400"/>
        </p:xfrm>
        <a:graphic>
          <a:graphicData uri="http://schemas.openxmlformats.org/drawingml/2006/table">
            <a:tbl>
              <a:tblPr/>
              <a:tblGrid>
                <a:gridCol w="2651760"/>
                <a:gridCol w="1783080"/>
                <a:gridCol w="1783080"/>
                <a:gridCol w="1737360"/>
                <a:gridCol w="1463040"/>
                <a:gridCol w="1673352"/>
              </a:tblGrid>
              <a:tr h="457200">
                <a:tc>
                  <a:txBody>
                    <a:bodyPr/>
                    <a:lstStyle/>
                    <a:p>
                      <a:pPr indent="0" marL="0">
                        <a:buNone/>
                      </a:pPr>
                      <a:r>
                        <a:rPr lang="en-US" sz="1400" b="1" dirty="0">
                          <a:solidFill>
                            <a:srgbClr val="13294B"/>
                          </a:solidFill>
                          <a:latin typeface="Calibri" pitchFamily="34" charset="0"/>
                          <a:ea typeface="Calibri" pitchFamily="34" charset="-122"/>
                          <a:cs typeface="Calibri" pitchFamily="34" charset="-120"/>
                        </a:rPr>
                        <a:t>Model</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E7EBF1"/>
                    </a:solidFill>
                  </a:tcPr>
                </a:tc>
                <a:tc>
                  <a:txBody>
                    <a:bodyPr/>
                    <a:lstStyle/>
                    <a:p>
                      <a:pPr indent="0" marL="0">
                        <a:buNone/>
                      </a:pPr>
                      <a:r>
                        <a:rPr lang="en-US" sz="1400" b="1" dirty="0">
                          <a:solidFill>
                            <a:srgbClr val="13294B"/>
                          </a:solidFill>
                          <a:latin typeface="Calibri" pitchFamily="34" charset="0"/>
                          <a:ea typeface="Calibri" pitchFamily="34" charset="-122"/>
                          <a:cs typeface="Calibri" pitchFamily="34" charset="-120"/>
                        </a:rPr>
                        <a:t>Needs labelled faults</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E7EBF1"/>
                    </a:solidFill>
                  </a:tcPr>
                </a:tc>
                <a:tc>
                  <a:txBody>
                    <a:bodyPr/>
                    <a:lstStyle/>
                    <a:p>
                      <a:pPr indent="0" marL="0">
                        <a:buNone/>
                      </a:pPr>
                      <a:r>
                        <a:rPr lang="en-US" sz="1400" b="1" dirty="0">
                          <a:solidFill>
                            <a:srgbClr val="13294B"/>
                          </a:solidFill>
                          <a:latin typeface="Calibri" pitchFamily="34" charset="0"/>
                          <a:ea typeface="Calibri" pitchFamily="34" charset="-122"/>
                          <a:cs typeface="Calibri" pitchFamily="34" charset="-120"/>
                        </a:rPr>
                        <a:t>Runs on ESP32</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E7EBF1"/>
                    </a:solidFill>
                  </a:tcPr>
                </a:tc>
                <a:tc>
                  <a:txBody>
                    <a:bodyPr/>
                    <a:lstStyle/>
                    <a:p>
                      <a:pPr indent="0" marL="0">
                        <a:buNone/>
                      </a:pPr>
                      <a:r>
                        <a:rPr lang="en-US" sz="1400" b="1" dirty="0">
                          <a:solidFill>
                            <a:srgbClr val="13294B"/>
                          </a:solidFill>
                          <a:latin typeface="Calibri" pitchFamily="34" charset="0"/>
                          <a:ea typeface="Calibri" pitchFamily="34" charset="-122"/>
                          <a:cs typeface="Calibri" pitchFamily="34" charset="-120"/>
                        </a:rPr>
                        <a:t>Detects unseen faults</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E7EBF1"/>
                    </a:solidFill>
                  </a:tcPr>
                </a:tc>
                <a:tc>
                  <a:txBody>
                    <a:bodyPr/>
                    <a:lstStyle/>
                    <a:p>
                      <a:pPr indent="0" marL="0">
                        <a:buNone/>
                      </a:pPr>
                      <a:r>
                        <a:rPr lang="en-US" sz="1400" b="1" dirty="0">
                          <a:solidFill>
                            <a:srgbClr val="13294B"/>
                          </a:solidFill>
                          <a:latin typeface="Calibri" pitchFamily="34" charset="0"/>
                          <a:ea typeface="Calibri" pitchFamily="34" charset="-122"/>
                          <a:cs typeface="Calibri" pitchFamily="34" charset="-120"/>
                        </a:rPr>
                        <a:t>Names fault type</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E7EBF1"/>
                    </a:solidFill>
                  </a:tcPr>
                </a:tc>
                <a:tc>
                  <a:txBody>
                    <a:bodyPr/>
                    <a:lstStyle/>
                    <a:p>
                      <a:pPr indent="0" marL="0">
                        <a:buNone/>
                      </a:pPr>
                      <a:r>
                        <a:rPr lang="en-US" sz="1400" b="1" dirty="0">
                          <a:solidFill>
                            <a:srgbClr val="13294B"/>
                          </a:solidFill>
                          <a:latin typeface="Calibri" pitchFamily="34" charset="0"/>
                          <a:ea typeface="Calibri" pitchFamily="34" charset="-122"/>
                          <a:cs typeface="Calibri" pitchFamily="34" charset="-120"/>
                        </a:rPr>
                        <a:t>Fit for ResQFog</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E7EBF1"/>
                    </a:solidFill>
                  </a:tcPr>
                </a:tc>
              </a:tr>
              <a:tr h="457200">
                <a:tc>
                  <a:txBody>
                    <a:bodyPr/>
                    <a:lstStyle/>
                    <a:p>
                      <a:pPr indent="0" marL="0">
                        <a:buNone/>
                      </a:pPr>
                      <a:r>
                        <a:rPr lang="en-US" sz="1400" b="1" dirty="0">
                          <a:solidFill>
                            <a:srgbClr val="374151"/>
                          </a:solidFill>
                          <a:latin typeface="Calibri" pitchFamily="34" charset="0"/>
                          <a:ea typeface="Calibri" pitchFamily="34" charset="-122"/>
                          <a:cs typeface="Calibri" pitchFamily="34" charset="-120"/>
                        </a:rPr>
                        <a:t>Fixed threshold (current)</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400" dirty="0">
                          <a:solidFill>
                            <a:srgbClr val="374151"/>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400" dirty="0">
                          <a:solidFill>
                            <a:srgbClr val="374151"/>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400" dirty="0">
                          <a:solidFill>
                            <a:srgbClr val="374151"/>
                          </a:solidFill>
                          <a:latin typeface="Calibri" pitchFamily="34" charset="0"/>
                          <a:ea typeface="Calibri" pitchFamily="34" charset="-122"/>
                          <a:cs typeface="Calibri" pitchFamily="34" charset="-120"/>
                        </a:rPr>
                        <a:t>Severe only</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400" dirty="0">
                          <a:solidFill>
                            <a:srgbClr val="374151"/>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400" dirty="0">
                          <a:solidFill>
                            <a:srgbClr val="374151"/>
                          </a:solidFill>
                          <a:latin typeface="Calibri" pitchFamily="34" charset="0"/>
                          <a:ea typeface="Calibri" pitchFamily="34" charset="-122"/>
                          <a:cs typeface="Calibri" pitchFamily="34" charset="-120"/>
                        </a:rPr>
                        <a:t>Baseline</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rgbClr val="374151"/>
                          </a:solidFill>
                          <a:latin typeface="Calibri" pitchFamily="34" charset="0"/>
                          <a:ea typeface="Calibri" pitchFamily="34" charset="-122"/>
                          <a:cs typeface="Calibri" pitchFamily="34" charset="-120"/>
                        </a:rPr>
                        <a:t>Isolation Forest</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400" dirty="0">
                          <a:solidFill>
                            <a:srgbClr val="374151"/>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400" dirty="0">
                          <a:solidFill>
                            <a:srgbClr val="374151"/>
                          </a:solidFill>
                          <a:latin typeface="Calibri" pitchFamily="34" charset="0"/>
                          <a:ea typeface="Calibri" pitchFamily="34" charset="-122"/>
                          <a:cs typeface="Calibri" pitchFamily="34" charset="-120"/>
                        </a:rPr>
                        <a:t>No, fog only</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400" dirty="0">
                          <a:solidFill>
                            <a:srgbClr val="374151"/>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400" dirty="0">
                          <a:solidFill>
                            <a:srgbClr val="374151"/>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400" dirty="0">
                          <a:solidFill>
                            <a:srgbClr val="374151"/>
                          </a:solidFill>
                          <a:latin typeface="Calibri" pitchFamily="34" charset="0"/>
                          <a:ea typeface="Calibri" pitchFamily="34" charset="-122"/>
                          <a:cs typeface="Calibri" pitchFamily="34" charset="-120"/>
                        </a:rPr>
                        <a:t>Good at the fog</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rgbClr val="374151"/>
                          </a:solidFill>
                          <a:latin typeface="Calibri" pitchFamily="34" charset="0"/>
                          <a:ea typeface="Calibri" pitchFamily="34" charset="-122"/>
                          <a:cs typeface="Calibri" pitchFamily="34" charset="-120"/>
                        </a:rPr>
                        <a:t>One-Class SVM</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400" dirty="0">
                          <a:solidFill>
                            <a:srgbClr val="374151"/>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400" dirty="0">
                          <a:solidFill>
                            <a:srgbClr val="374151"/>
                          </a:solidFill>
                          <a:latin typeface="Calibri" pitchFamily="34" charset="0"/>
                          <a:ea typeface="Calibri" pitchFamily="34" charset="-122"/>
                          <a:cs typeface="Calibri" pitchFamily="34" charset="-120"/>
                        </a:rPr>
                        <a:t>No, fog only</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400" dirty="0">
                          <a:solidFill>
                            <a:srgbClr val="374151"/>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400" dirty="0">
                          <a:solidFill>
                            <a:srgbClr val="374151"/>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400" dirty="0">
                          <a:solidFill>
                            <a:srgbClr val="374151"/>
                          </a:solidFill>
                          <a:latin typeface="Calibri" pitchFamily="34" charset="0"/>
                          <a:ea typeface="Calibri" pitchFamily="34" charset="-122"/>
                          <a:cs typeface="Calibri" pitchFamily="34" charset="-120"/>
                        </a:rPr>
                        <a:t>Moderate</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rgbClr val="374151"/>
                          </a:solidFill>
                          <a:latin typeface="Calibri" pitchFamily="34" charset="0"/>
                          <a:ea typeface="Calibri" pitchFamily="34" charset="-122"/>
                          <a:cs typeface="Calibri" pitchFamily="34" charset="-120"/>
                        </a:rPr>
                        <a:t>Random Forest on features</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CEFE7"/>
                    </a:solidFill>
                  </a:tcPr>
                </a:tc>
                <a:tc>
                  <a:txBody>
                    <a:bodyPr/>
                    <a:lstStyle/>
                    <a:p>
                      <a:pPr indent="0" marL="0">
                        <a:buNone/>
                      </a:pPr>
                      <a:r>
                        <a:rPr lang="en-US" sz="1400" dirty="0">
                          <a:solidFill>
                            <a:srgbClr val="374151"/>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CEFE7"/>
                    </a:solidFill>
                  </a:tcPr>
                </a:tc>
                <a:tc>
                  <a:txBody>
                    <a:bodyPr/>
                    <a:lstStyle/>
                    <a:p>
                      <a:pPr indent="0" marL="0">
                        <a:buNone/>
                      </a:pPr>
                      <a:r>
                        <a:rPr lang="en-US" sz="1400" dirty="0">
                          <a:solidFill>
                            <a:srgbClr val="374151"/>
                          </a:solidFill>
                          <a:latin typeface="Calibri" pitchFamily="34" charset="0"/>
                          <a:ea typeface="Calibri" pitchFamily="34" charset="-122"/>
                          <a:cs typeface="Calibri" pitchFamily="34" charset="-120"/>
                        </a:rPr>
                        <a:t>Small models</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CEFE7"/>
                    </a:solidFill>
                  </a:tcPr>
                </a:tc>
                <a:tc>
                  <a:txBody>
                    <a:bodyPr/>
                    <a:lstStyle/>
                    <a:p>
                      <a:pPr indent="0" marL="0">
                        <a:buNone/>
                      </a:pPr>
                      <a:r>
                        <a:rPr lang="en-US" sz="1400" dirty="0">
                          <a:solidFill>
                            <a:srgbClr val="374151"/>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CEFE7"/>
                    </a:solidFill>
                  </a:tcPr>
                </a:tc>
                <a:tc>
                  <a:txBody>
                    <a:bodyPr/>
                    <a:lstStyle/>
                    <a:p>
                      <a:pPr indent="0" marL="0">
                        <a:buNone/>
                      </a:pPr>
                      <a:r>
                        <a:rPr lang="en-US" sz="1400" dirty="0">
                          <a:solidFill>
                            <a:srgbClr val="374151"/>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CEFE7"/>
                    </a:solidFill>
                  </a:tcPr>
                </a:tc>
                <a:tc>
                  <a:txBody>
                    <a:bodyPr/>
                    <a:lstStyle/>
                    <a:p>
                      <a:pPr indent="0" marL="0">
                        <a:buNone/>
                      </a:pPr>
                      <a:r>
                        <a:rPr lang="en-US" sz="1400" dirty="0">
                          <a:solidFill>
                            <a:srgbClr val="374151"/>
                          </a:solidFill>
                          <a:latin typeface="Calibri" pitchFamily="34" charset="0"/>
                          <a:ea typeface="Calibri" pitchFamily="34" charset="-122"/>
                          <a:cs typeface="Calibri" pitchFamily="34" charset="-120"/>
                        </a:rPr>
                        <a:t>Selected, stage 2</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CEFE7"/>
                    </a:solidFill>
                  </a:tcPr>
                </a:tc>
              </a:tr>
              <a:tr h="457200">
                <a:tc>
                  <a:txBody>
                    <a:bodyPr/>
                    <a:lstStyle/>
                    <a:p>
                      <a:pPr indent="0" marL="0">
                        <a:buNone/>
                      </a:pPr>
                      <a:r>
                        <a:rPr lang="en-US" sz="1400" b="1" dirty="0">
                          <a:solidFill>
                            <a:srgbClr val="374151"/>
                          </a:solidFill>
                          <a:latin typeface="Calibri" pitchFamily="34" charset="0"/>
                          <a:ea typeface="Calibri" pitchFamily="34" charset="-122"/>
                          <a:cs typeface="Calibri" pitchFamily="34" charset="-120"/>
                        </a:rPr>
                        <a:t>1D-CNN on raw signal</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400" dirty="0">
                          <a:solidFill>
                            <a:srgbClr val="374151"/>
                          </a:solidFill>
                          <a:latin typeface="Calibri" pitchFamily="34" charset="0"/>
                          <a:ea typeface="Calibri" pitchFamily="34" charset="-122"/>
                          <a:cs typeface="Calibri" pitchFamily="34" charset="-120"/>
                        </a:rPr>
                        <a:t>Yes, many</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400" dirty="0">
                          <a:solidFill>
                            <a:srgbClr val="374151"/>
                          </a:solidFill>
                          <a:latin typeface="Calibri" pitchFamily="34" charset="0"/>
                          <a:ea typeface="Calibri" pitchFamily="34" charset="-122"/>
                          <a:cs typeface="Calibri" pitchFamily="34" charset="-120"/>
                        </a:rPr>
                        <a:t>With TFLite Micro</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400" dirty="0">
                          <a:solidFill>
                            <a:srgbClr val="374151"/>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400" dirty="0">
                          <a:solidFill>
                            <a:srgbClr val="374151"/>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400" dirty="0">
                          <a:solidFill>
                            <a:srgbClr val="374151"/>
                          </a:solidFill>
                          <a:latin typeface="Calibri" pitchFamily="34" charset="0"/>
                          <a:ea typeface="Calibri" pitchFamily="34" charset="-122"/>
                          <a:cs typeface="Calibri" pitchFamily="34" charset="-120"/>
                        </a:rPr>
                        <a:t>Later, needs more data</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rgbClr val="374151"/>
                          </a:solidFill>
                          <a:latin typeface="Calibri" pitchFamily="34" charset="0"/>
                          <a:ea typeface="Calibri" pitchFamily="34" charset="-122"/>
                          <a:cs typeface="Calibri" pitchFamily="34" charset="-120"/>
                        </a:rPr>
                        <a:t>Autoencoder</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CEFE7"/>
                    </a:solidFill>
                  </a:tcPr>
                </a:tc>
                <a:tc>
                  <a:txBody>
                    <a:bodyPr/>
                    <a:lstStyle/>
                    <a:p>
                      <a:pPr indent="0" marL="0">
                        <a:buNone/>
                      </a:pPr>
                      <a:r>
                        <a:rPr lang="en-US" sz="1400" dirty="0">
                          <a:solidFill>
                            <a:srgbClr val="374151"/>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CEFE7"/>
                    </a:solidFill>
                  </a:tcPr>
                </a:tc>
                <a:tc>
                  <a:txBody>
                    <a:bodyPr/>
                    <a:lstStyle/>
                    <a:p>
                      <a:pPr indent="0" marL="0">
                        <a:buNone/>
                      </a:pPr>
                      <a:r>
                        <a:rPr lang="en-US" sz="1400" dirty="0">
                          <a:solidFill>
                            <a:srgbClr val="374151"/>
                          </a:solidFill>
                          <a:latin typeface="Calibri" pitchFamily="34" charset="0"/>
                          <a:ea typeface="Calibri" pitchFamily="34" charset="-122"/>
                          <a:cs typeface="Calibri" pitchFamily="34" charset="-120"/>
                        </a:rPr>
                        <a:t>Yes, TFLite Micro</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CEFE7"/>
                    </a:solidFill>
                  </a:tcPr>
                </a:tc>
                <a:tc>
                  <a:txBody>
                    <a:bodyPr/>
                    <a:lstStyle/>
                    <a:p>
                      <a:pPr indent="0" marL="0">
                        <a:buNone/>
                      </a:pPr>
                      <a:r>
                        <a:rPr lang="en-US" sz="1400" dirty="0">
                          <a:solidFill>
                            <a:srgbClr val="374151"/>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CEFE7"/>
                    </a:solidFill>
                  </a:tcPr>
                </a:tc>
                <a:tc>
                  <a:txBody>
                    <a:bodyPr/>
                    <a:lstStyle/>
                    <a:p>
                      <a:pPr indent="0" marL="0">
                        <a:buNone/>
                      </a:pPr>
                      <a:r>
                        <a:rPr lang="en-US" sz="1400" dirty="0">
                          <a:solidFill>
                            <a:srgbClr val="374151"/>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CEFE7"/>
                    </a:solidFill>
                  </a:tcPr>
                </a:tc>
                <a:tc>
                  <a:txBody>
                    <a:bodyPr/>
                    <a:lstStyle/>
                    <a:p>
                      <a:pPr indent="0" marL="0">
                        <a:buNone/>
                      </a:pPr>
                      <a:r>
                        <a:rPr lang="en-US" sz="1400" dirty="0">
                          <a:solidFill>
                            <a:srgbClr val="374151"/>
                          </a:solidFill>
                          <a:latin typeface="Calibri" pitchFamily="34" charset="0"/>
                          <a:ea typeface="Calibri" pitchFamily="34" charset="-122"/>
                          <a:cs typeface="Calibri" pitchFamily="34" charset="-120"/>
                        </a:rPr>
                        <a:t>Selected, stage 1</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CEFE7"/>
                    </a:solidFill>
                  </a:tcPr>
                </a:tc>
              </a:tr>
              <a:tr h="457200">
                <a:tc>
                  <a:txBody>
                    <a:bodyPr/>
                    <a:lstStyle/>
                    <a:p>
                      <a:pPr indent="0" marL="0">
                        <a:buNone/>
                      </a:pPr>
                      <a:r>
                        <a:rPr lang="en-US" sz="1400" b="1" dirty="0">
                          <a:solidFill>
                            <a:srgbClr val="374151"/>
                          </a:solidFill>
                          <a:latin typeface="Calibri" pitchFamily="34" charset="0"/>
                          <a:ea typeface="Calibri" pitchFamily="34" charset="-122"/>
                          <a:cs typeface="Calibri" pitchFamily="34" charset="-120"/>
                        </a:rPr>
                        <a:t>LSTM sequence model</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400" dirty="0">
                          <a:solidFill>
                            <a:srgbClr val="374151"/>
                          </a:solidFill>
                          <a:latin typeface="Calibri" pitchFamily="34" charset="0"/>
                          <a:ea typeface="Calibri" pitchFamily="34" charset="-122"/>
                          <a:cs typeface="Calibri" pitchFamily="34" charset="-120"/>
                        </a:rPr>
                        <a:t>Run-to-failure data</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400" dirty="0">
                          <a:solidFill>
                            <a:srgbClr val="374151"/>
                          </a:solidFill>
                          <a:latin typeface="Calibri" pitchFamily="34" charset="0"/>
                          <a:ea typeface="Calibri" pitchFamily="34" charset="-122"/>
                          <a:cs typeface="Calibri" pitchFamily="34" charset="-120"/>
                        </a:rPr>
                        <a:t>Difficult</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400" dirty="0">
                          <a:solidFill>
                            <a:srgbClr val="374151"/>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400" dirty="0">
                          <a:solidFill>
                            <a:srgbClr val="374151"/>
                          </a:solidFill>
                          <a:latin typeface="Calibri" pitchFamily="34" charset="0"/>
                          <a:ea typeface="Calibri" pitchFamily="34" charset="-122"/>
                          <a:cs typeface="Calibri" pitchFamily="34" charset="-120"/>
                        </a:rPr>
                        <a:t>Partly</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400" dirty="0">
                          <a:solidFill>
                            <a:srgbClr val="374151"/>
                          </a:solidFill>
                          <a:latin typeface="Calibri" pitchFamily="34" charset="0"/>
                          <a:ea typeface="Calibri" pitchFamily="34" charset="-122"/>
                          <a:cs typeface="Calibri" pitchFamily="34" charset="-120"/>
                        </a:rPr>
                        <a:t>Trend and RUL, later</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5120640"/>
            <a:ext cx="11094415" cy="640080"/>
          </a:xfrm>
          <a:prstGeom prst="rect">
            <a:avLst/>
          </a:prstGeom>
          <a:noFill/>
          <a:ln/>
        </p:spPr>
        <p:txBody>
          <a:bodyPr wrap="square" lIns="0" tIns="0" rIns="0" bIns="0" rtlCol="0" anchor="t"/>
          <a:lstStyle/>
          <a:p>
            <a:pPr indent="0" marL="0">
              <a:buNone/>
            </a:pPr>
            <a:r>
              <a:rPr lang="en-US" sz="1300" dirty="0">
                <a:solidFill>
                  <a:srgbClr val="5B6472"/>
                </a:solidFill>
                <a:latin typeface="Calibri" pitchFamily="34" charset="0"/>
                <a:ea typeface="Calibri" pitchFamily="34" charset="-122"/>
                <a:cs typeface="Calibri" pitchFamily="34" charset="-120"/>
              </a:rPr>
              <a:t>Ratings reflect each model's fit with our constraints: few labelled faults, a microcontroller at the edge and a laptop at the fog. Accuracy will be measured on our own dataset in Phase 2. RUL: remaining useful life.</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1"/>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685800"/>
          </a:xfrm>
          <a:prstGeom prst="rect">
            <a:avLst/>
          </a:prstGeom>
          <a:noFill/>
          <a:ln/>
        </p:spPr>
        <p:txBody>
          <a:bodyPr wrap="square" lIns="0" tIns="0" rIns="0" bIns="0" rtlCol="0" anchor="ctr"/>
          <a:lstStyle/>
          <a:p>
            <a:pPr algn="l" indent="0" marL="0">
              <a:buNone/>
            </a:pPr>
            <a:r>
              <a:rPr lang="en-US" sz="2800" b="1" dirty="0">
                <a:solidFill>
                  <a:srgbClr val="13294B"/>
                </a:solidFill>
                <a:latin typeface="Calibri" pitchFamily="34" charset="0"/>
                <a:ea typeface="Calibri" pitchFamily="34" charset="-122"/>
                <a:cs typeface="Calibri" pitchFamily="34" charset="-120"/>
              </a:rPr>
              <a:t>Selected Approach: Two-Stage Hybrid Model</a:t>
            </a:r>
            <a:endParaRPr lang="en-US" sz="2800" dirty="0"/>
          </a:p>
        </p:txBody>
      </p:sp>
      <p:sp>
        <p:nvSpPr>
          <p:cNvPr id="3" name="Text 1"/>
          <p:cNvSpPr txBox="1"/>
          <p:nvPr/>
        </p:nvSpPr>
        <p:spPr>
          <a:xfrm>
            <a:off x="548640" y="1234440"/>
            <a:ext cx="5486400" cy="274320"/>
          </a:xfrm>
          <a:prstGeom prst="rect">
            <a:avLst/>
          </a:prstGeom>
          <a:noFill/>
          <a:ln/>
        </p:spPr>
        <p:txBody>
          <a:bodyPr wrap="square" lIns="0" tIns="0" rIns="0" bIns="0" rtlCol="0" anchor="t"/>
          <a:lstStyle/>
          <a:p>
            <a:pPr indent="0" marL="0">
              <a:buNone/>
            </a:pPr>
            <a:r>
              <a:rPr lang="en-US" sz="1200" b="1" spc="100" kern="0" dirty="0">
                <a:solidFill>
                  <a:srgbClr val="13294B"/>
                </a:solidFill>
                <a:latin typeface="Calibri" pitchFamily="34" charset="0"/>
                <a:ea typeface="Calibri" pitchFamily="34" charset="-122"/>
                <a:cs typeface="Calibri" pitchFamily="34" charset="-120"/>
              </a:rPr>
              <a:t>STAGE 1: EDGE (ESP32)</a:t>
            </a:r>
            <a:endParaRPr lang="en-US" sz="1200" dirty="0"/>
          </a:p>
        </p:txBody>
      </p:sp>
      <p:sp>
        <p:nvSpPr>
          <p:cNvPr id="4" name="Text 2"/>
          <p:cNvSpPr txBox="1"/>
          <p:nvPr/>
        </p:nvSpPr>
        <p:spPr>
          <a:xfrm>
            <a:off x="9646920" y="1234440"/>
            <a:ext cx="2011680" cy="274320"/>
          </a:xfrm>
          <a:prstGeom prst="rect">
            <a:avLst/>
          </a:prstGeom>
          <a:noFill/>
          <a:ln/>
        </p:spPr>
        <p:txBody>
          <a:bodyPr wrap="square" lIns="0" tIns="0" rIns="0" bIns="0" rtlCol="0" anchor="t"/>
          <a:lstStyle/>
          <a:p>
            <a:pPr indent="0" marL="0">
              <a:buNone/>
            </a:pPr>
            <a:r>
              <a:rPr lang="en-US" sz="1200" b="1" spc="100" kern="0" dirty="0">
                <a:solidFill>
                  <a:srgbClr val="C2410C"/>
                </a:solidFill>
                <a:latin typeface="Calibri" pitchFamily="34" charset="0"/>
                <a:ea typeface="Calibri" pitchFamily="34" charset="-122"/>
                <a:cs typeface="Calibri" pitchFamily="34" charset="-120"/>
              </a:rPr>
              <a:t>STAGE 2: FOG</a:t>
            </a:r>
            <a:endParaRPr lang="en-US" sz="1200" dirty="0"/>
          </a:p>
        </p:txBody>
      </p:sp>
      <p:sp>
        <p:nvSpPr>
          <p:cNvPr id="5" name="Shape 3"/>
          <p:cNvSpPr/>
          <p:nvPr/>
        </p:nvSpPr>
        <p:spPr>
          <a:xfrm>
            <a:off x="548640" y="1600200"/>
            <a:ext cx="1965960" cy="868680"/>
          </a:xfrm>
          <a:prstGeom prst="rect">
            <a:avLst/>
          </a:prstGeom>
          <a:solidFill>
            <a:srgbClr val="FFFFFF"/>
          </a:solidFill>
          <a:ln w="12700">
            <a:solidFill>
              <a:srgbClr val="6B7280"/>
            </a:solidFill>
            <a:prstDash val="solid"/>
          </a:ln>
        </p:spPr>
      </p:sp>
      <p:sp>
        <p:nvSpPr>
          <p:cNvPr id="6" name="Text 4"/>
          <p:cNvSpPr txBox="1"/>
          <p:nvPr/>
        </p:nvSpPr>
        <p:spPr>
          <a:xfrm>
            <a:off x="621792" y="1600200"/>
            <a:ext cx="1819656" cy="868680"/>
          </a:xfrm>
          <a:prstGeom prst="rect">
            <a:avLst/>
          </a:prstGeom>
          <a:noFill/>
          <a:ln/>
        </p:spPr>
        <p:txBody>
          <a:bodyPr wrap="square" lIns="0" tIns="0" rIns="0" bIns="0" rtlCol="0" anchor="ctr"/>
          <a:lstStyle/>
          <a:p>
            <a:pPr algn="ctr" indent="0" marL="0">
              <a:buNone/>
            </a:pPr>
            <a:r>
              <a:rPr lang="en-US" sz="1300" dirty="0">
                <a:solidFill>
                  <a:srgbClr val="1F2937"/>
                </a:solidFill>
                <a:latin typeface="Calibri" pitchFamily="34" charset="0"/>
                <a:ea typeface="Calibri" pitchFamily="34" charset="-122"/>
                <a:cs typeface="Calibri" pitchFamily="34" charset="-120"/>
              </a:rPr>
              <a:t>1 kHz window from the MPU6050</a:t>
            </a:r>
            <a:endParaRPr lang="en-US" sz="1300" dirty="0"/>
          </a:p>
        </p:txBody>
      </p:sp>
      <p:sp>
        <p:nvSpPr>
          <p:cNvPr id="7" name="Shape 5"/>
          <p:cNvSpPr/>
          <p:nvPr/>
        </p:nvSpPr>
        <p:spPr>
          <a:xfrm>
            <a:off x="2551176" y="2029968"/>
            <a:ext cx="310896" cy="0"/>
          </a:xfrm>
          <a:prstGeom prst="line">
            <a:avLst/>
          </a:prstGeom>
          <a:noFill/>
          <a:ln w="25400">
            <a:solidFill>
              <a:srgbClr val="13294B"/>
            </a:solidFill>
            <a:prstDash val="solid"/>
            <a:tailEnd type="triangle"/>
          </a:ln>
        </p:spPr>
      </p:sp>
      <p:sp>
        <p:nvSpPr>
          <p:cNvPr id="8" name="Shape 6"/>
          <p:cNvSpPr/>
          <p:nvPr/>
        </p:nvSpPr>
        <p:spPr>
          <a:xfrm>
            <a:off x="2898648" y="1600200"/>
            <a:ext cx="1965960" cy="868680"/>
          </a:xfrm>
          <a:prstGeom prst="rect">
            <a:avLst/>
          </a:prstGeom>
          <a:solidFill>
            <a:srgbClr val="FFFFFF"/>
          </a:solidFill>
          <a:ln w="12700">
            <a:solidFill>
              <a:srgbClr val="6B7280"/>
            </a:solidFill>
            <a:prstDash val="solid"/>
          </a:ln>
        </p:spPr>
      </p:sp>
      <p:sp>
        <p:nvSpPr>
          <p:cNvPr id="9" name="Text 7"/>
          <p:cNvSpPr txBox="1"/>
          <p:nvPr/>
        </p:nvSpPr>
        <p:spPr>
          <a:xfrm>
            <a:off x="2971800" y="1600200"/>
            <a:ext cx="1819656" cy="868680"/>
          </a:xfrm>
          <a:prstGeom prst="rect">
            <a:avLst/>
          </a:prstGeom>
          <a:noFill/>
          <a:ln/>
        </p:spPr>
        <p:txBody>
          <a:bodyPr wrap="square" lIns="0" tIns="0" rIns="0" bIns="0" rtlCol="0" anchor="ctr"/>
          <a:lstStyle/>
          <a:p>
            <a:pPr algn="ctr" indent="0" marL="0">
              <a:buNone/>
            </a:pPr>
            <a:r>
              <a:rPr lang="en-US" sz="1300" dirty="0">
                <a:solidFill>
                  <a:srgbClr val="1F2937"/>
                </a:solidFill>
                <a:latin typeface="Calibri" pitchFamily="34" charset="0"/>
                <a:ea typeface="Calibri" pitchFamily="34" charset="-122"/>
                <a:cs typeface="Calibri" pitchFamily="34" charset="-120"/>
              </a:rPr>
              <a:t>Features: RMS, kurtosis, crest factor, FFT bands</a:t>
            </a:r>
            <a:endParaRPr lang="en-US" sz="1300" dirty="0"/>
          </a:p>
        </p:txBody>
      </p:sp>
      <p:sp>
        <p:nvSpPr>
          <p:cNvPr id="10" name="Shape 8"/>
          <p:cNvSpPr/>
          <p:nvPr/>
        </p:nvSpPr>
        <p:spPr>
          <a:xfrm>
            <a:off x="4901184" y="2029968"/>
            <a:ext cx="310896" cy="0"/>
          </a:xfrm>
          <a:prstGeom prst="line">
            <a:avLst/>
          </a:prstGeom>
          <a:noFill/>
          <a:ln w="25400">
            <a:solidFill>
              <a:srgbClr val="13294B"/>
            </a:solidFill>
            <a:prstDash val="solid"/>
            <a:tailEnd type="triangle"/>
          </a:ln>
        </p:spPr>
      </p:sp>
      <p:sp>
        <p:nvSpPr>
          <p:cNvPr id="11" name="Shape 9"/>
          <p:cNvSpPr/>
          <p:nvPr/>
        </p:nvSpPr>
        <p:spPr>
          <a:xfrm>
            <a:off x="5248656" y="1600200"/>
            <a:ext cx="1965960" cy="868680"/>
          </a:xfrm>
          <a:prstGeom prst="rect">
            <a:avLst/>
          </a:prstGeom>
          <a:solidFill>
            <a:srgbClr val="FFFFFF"/>
          </a:solidFill>
          <a:ln w="12700">
            <a:solidFill>
              <a:srgbClr val="6B7280"/>
            </a:solidFill>
            <a:prstDash val="solid"/>
          </a:ln>
        </p:spPr>
      </p:sp>
      <p:sp>
        <p:nvSpPr>
          <p:cNvPr id="12" name="Text 10"/>
          <p:cNvSpPr txBox="1"/>
          <p:nvPr/>
        </p:nvSpPr>
        <p:spPr>
          <a:xfrm>
            <a:off x="5321808" y="1600200"/>
            <a:ext cx="1819656" cy="868680"/>
          </a:xfrm>
          <a:prstGeom prst="rect">
            <a:avLst/>
          </a:prstGeom>
          <a:noFill/>
          <a:ln/>
        </p:spPr>
        <p:txBody>
          <a:bodyPr wrap="square" lIns="0" tIns="0" rIns="0" bIns="0" rtlCol="0" anchor="ctr"/>
          <a:lstStyle/>
          <a:p>
            <a:pPr algn="ctr" indent="0" marL="0">
              <a:buNone/>
            </a:pPr>
            <a:r>
              <a:rPr lang="en-US" sz="1300" dirty="0">
                <a:solidFill>
                  <a:srgbClr val="1F2937"/>
                </a:solidFill>
                <a:latin typeface="Calibri" pitchFamily="34" charset="0"/>
                <a:ea typeface="Calibri" pitchFamily="34" charset="-122"/>
                <a:cs typeface="Calibri" pitchFamily="34" charset="-120"/>
              </a:rPr>
              <a:t>Autoencoder, int8, on TFLite Micro</a:t>
            </a:r>
            <a:endParaRPr lang="en-US" sz="1300" dirty="0"/>
          </a:p>
        </p:txBody>
      </p:sp>
      <p:sp>
        <p:nvSpPr>
          <p:cNvPr id="13" name="Shape 11"/>
          <p:cNvSpPr/>
          <p:nvPr/>
        </p:nvSpPr>
        <p:spPr>
          <a:xfrm>
            <a:off x="7251192" y="2029968"/>
            <a:ext cx="310896" cy="0"/>
          </a:xfrm>
          <a:prstGeom prst="line">
            <a:avLst/>
          </a:prstGeom>
          <a:noFill/>
          <a:ln w="25400">
            <a:solidFill>
              <a:srgbClr val="13294B"/>
            </a:solidFill>
            <a:prstDash val="solid"/>
            <a:tailEnd type="triangle"/>
          </a:ln>
        </p:spPr>
      </p:sp>
      <p:sp>
        <p:nvSpPr>
          <p:cNvPr id="14" name="Shape 12"/>
          <p:cNvSpPr/>
          <p:nvPr/>
        </p:nvSpPr>
        <p:spPr>
          <a:xfrm>
            <a:off x="7598664" y="1600200"/>
            <a:ext cx="1965960" cy="868680"/>
          </a:xfrm>
          <a:prstGeom prst="rect">
            <a:avLst/>
          </a:prstGeom>
          <a:solidFill>
            <a:srgbClr val="FFFFFF"/>
          </a:solidFill>
          <a:ln w="12700">
            <a:solidFill>
              <a:srgbClr val="6B7280"/>
            </a:solidFill>
            <a:prstDash val="solid"/>
          </a:ln>
        </p:spPr>
      </p:sp>
      <p:sp>
        <p:nvSpPr>
          <p:cNvPr id="15" name="Text 13"/>
          <p:cNvSpPr txBox="1"/>
          <p:nvPr/>
        </p:nvSpPr>
        <p:spPr>
          <a:xfrm>
            <a:off x="7671816" y="1600200"/>
            <a:ext cx="1819656" cy="868680"/>
          </a:xfrm>
          <a:prstGeom prst="rect">
            <a:avLst/>
          </a:prstGeom>
          <a:noFill/>
          <a:ln/>
        </p:spPr>
        <p:txBody>
          <a:bodyPr wrap="square" lIns="0" tIns="0" rIns="0" bIns="0" rtlCol="0" anchor="ctr"/>
          <a:lstStyle/>
          <a:p>
            <a:pPr algn="ctr" indent="0" marL="0">
              <a:buNone/>
            </a:pPr>
            <a:r>
              <a:rPr lang="en-US" sz="1300" dirty="0">
                <a:solidFill>
                  <a:srgbClr val="1F2937"/>
                </a:solidFill>
                <a:latin typeface="Calibri" pitchFamily="34" charset="0"/>
                <a:ea typeface="Calibri" pitchFamily="34" charset="-122"/>
                <a:cs typeface="Calibri" pitchFamily="34" charset="-120"/>
              </a:rPr>
              <a:t>Anomaly score above learned limit: alarm and trip</a:t>
            </a:r>
            <a:endParaRPr lang="en-US" sz="1300" dirty="0"/>
          </a:p>
        </p:txBody>
      </p:sp>
      <p:sp>
        <p:nvSpPr>
          <p:cNvPr id="16" name="Shape 14"/>
          <p:cNvSpPr/>
          <p:nvPr/>
        </p:nvSpPr>
        <p:spPr>
          <a:xfrm>
            <a:off x="9601200" y="2029968"/>
            <a:ext cx="310896" cy="0"/>
          </a:xfrm>
          <a:prstGeom prst="line">
            <a:avLst/>
          </a:prstGeom>
          <a:noFill/>
          <a:ln w="25400">
            <a:solidFill>
              <a:srgbClr val="C2410C"/>
            </a:solidFill>
            <a:prstDash val="solid"/>
            <a:tailEnd type="triangle"/>
          </a:ln>
        </p:spPr>
      </p:sp>
      <p:sp>
        <p:nvSpPr>
          <p:cNvPr id="17" name="Shape 15"/>
          <p:cNvSpPr/>
          <p:nvPr/>
        </p:nvSpPr>
        <p:spPr>
          <a:xfrm>
            <a:off x="9646920" y="1600200"/>
            <a:ext cx="1993392" cy="868680"/>
          </a:xfrm>
          <a:prstGeom prst="rect">
            <a:avLst/>
          </a:prstGeom>
          <a:solidFill>
            <a:srgbClr val="FFFFFF"/>
          </a:solidFill>
          <a:ln w="12700">
            <a:solidFill>
              <a:srgbClr val="C2410C"/>
            </a:solidFill>
            <a:prstDash val="solid"/>
          </a:ln>
        </p:spPr>
      </p:sp>
      <p:sp>
        <p:nvSpPr>
          <p:cNvPr id="18" name="Text 16"/>
          <p:cNvSpPr txBox="1"/>
          <p:nvPr/>
        </p:nvSpPr>
        <p:spPr>
          <a:xfrm>
            <a:off x="9720072" y="1600200"/>
            <a:ext cx="1847088" cy="868680"/>
          </a:xfrm>
          <a:prstGeom prst="rect">
            <a:avLst/>
          </a:prstGeom>
          <a:noFill/>
          <a:ln/>
        </p:spPr>
        <p:txBody>
          <a:bodyPr wrap="square" lIns="0" tIns="0" rIns="0" bIns="0" rtlCol="0" anchor="ctr"/>
          <a:lstStyle/>
          <a:p>
            <a:pPr algn="ctr" indent="0" marL="0">
              <a:buNone/>
            </a:pPr>
            <a:r>
              <a:rPr lang="en-US" sz="1300" dirty="0">
                <a:solidFill>
                  <a:srgbClr val="1F2937"/>
                </a:solidFill>
                <a:latin typeface="Calibri" pitchFamily="34" charset="0"/>
                <a:ea typeface="Calibri" pitchFamily="34" charset="-122"/>
                <a:cs typeface="Calibri" pitchFamily="34" charset="-120"/>
              </a:rPr>
              <a:t>Random Forest names the fault type</a:t>
            </a:r>
            <a:endParaRPr lang="en-US" sz="1300" dirty="0"/>
          </a:p>
        </p:txBody>
      </p:sp>
      <p:sp>
        <p:nvSpPr>
          <p:cNvPr id="19" name="Text 17"/>
          <p:cNvSpPr txBox="1"/>
          <p:nvPr/>
        </p:nvSpPr>
        <p:spPr>
          <a:xfrm>
            <a:off x="548640" y="2834640"/>
            <a:ext cx="5486400" cy="320040"/>
          </a:xfrm>
          <a:prstGeom prst="rect">
            <a:avLst/>
          </a:prstGeom>
          <a:noFill/>
          <a:ln/>
        </p:spPr>
        <p:txBody>
          <a:bodyPr wrap="square" lIns="0" tIns="0" rIns="0" bIns="0" rtlCol="0" anchor="t"/>
          <a:lstStyle/>
          <a:p>
            <a:pPr indent="0" marL="0">
              <a:buNone/>
            </a:pPr>
            <a:r>
              <a:rPr lang="en-US" sz="1600" b="1" dirty="0">
                <a:solidFill>
                  <a:srgbClr val="13294B"/>
                </a:solidFill>
                <a:latin typeface="Calibri" pitchFamily="34" charset="0"/>
                <a:ea typeface="Calibri" pitchFamily="34" charset="-122"/>
                <a:cs typeface="Calibri" pitchFamily="34" charset="-120"/>
              </a:rPr>
              <a:t>Why an autoencoder at the edge</a:t>
            </a:r>
            <a:endParaRPr lang="en-US" sz="1600" dirty="0"/>
          </a:p>
        </p:txBody>
      </p:sp>
      <p:sp>
        <p:nvSpPr>
          <p:cNvPr id="20" name="Text 18"/>
          <p:cNvSpPr txBox="1"/>
          <p:nvPr/>
        </p:nvSpPr>
        <p:spPr>
          <a:xfrm>
            <a:off x="548640" y="3246120"/>
            <a:ext cx="5303520" cy="2377440"/>
          </a:xfrm>
          <a:prstGeom prst="rect">
            <a:avLst/>
          </a:prstGeom>
          <a:noFill/>
          <a:ln/>
        </p:spPr>
        <p:txBody>
          <a:bodyPr wrap="square" lIns="0" tIns="0" rIns="0" bIns="0" rtlCol="0" anchor="t"/>
          <a:lstStyle/>
          <a:p>
            <a:pPr marL="177800" indent="-177800">
              <a:spcAft>
                <a:spcPts val="700"/>
              </a:spcAft>
              <a:buSzPct val="100000"/>
              <a:buChar char="•"/>
            </a:pPr>
            <a:r>
              <a:rPr lang="en-US" sz="1500" dirty="0">
                <a:solidFill>
                  <a:srgbClr val="374151"/>
                </a:solidFill>
                <a:latin typeface="Calibri" pitchFamily="34" charset="0"/>
                <a:ea typeface="Calibri" pitchFamily="34" charset="-122"/>
                <a:cs typeface="Calibri" pitchFamily="34" charset="-120"/>
              </a:rPr>
              <a:t>Trained on normal data only; real faults are rare</a:t>
            </a:r>
            <a:endParaRPr lang="en-US" sz="1500" dirty="0"/>
          </a:p>
          <a:p>
            <a:pPr marL="177800" indent="-177800">
              <a:spcAft>
                <a:spcPts val="700"/>
              </a:spcAft>
              <a:buSzPct val="100000"/>
              <a:buChar char="•"/>
            </a:pPr>
            <a:r>
              <a:rPr lang="en-US" sz="1500" dirty="0">
                <a:solidFill>
                  <a:srgbClr val="374151"/>
                </a:solidFill>
                <a:latin typeface="Calibri" pitchFamily="34" charset="0"/>
                <a:ea typeface="Calibri" pitchFamily="34" charset="-122"/>
                <a:cs typeface="Calibri" pitchFamily="34" charset="-120"/>
              </a:rPr>
              <a:t>Flags any deviation, including faults never seen before</a:t>
            </a:r>
            <a:endParaRPr lang="en-US" sz="1500" dirty="0"/>
          </a:p>
          <a:p>
            <a:pPr marL="177800" indent="-177800">
              <a:spcAft>
                <a:spcPts val="700"/>
              </a:spcAft>
              <a:buSzPct val="100000"/>
              <a:buChar char="•"/>
            </a:pPr>
            <a:r>
              <a:rPr lang="en-US" sz="1500" dirty="0">
                <a:solidFill>
                  <a:srgbClr val="374151"/>
                </a:solidFill>
                <a:latin typeface="Calibri" pitchFamily="34" charset="0"/>
                <a:ea typeface="Calibri" pitchFamily="34" charset="-122"/>
                <a:cs typeface="Calibri" pitchFamily="34" charset="-120"/>
              </a:rPr>
              <a:t>Learns each pump's own normal, replacing manual thresholds</a:t>
            </a:r>
            <a:endParaRPr lang="en-US" sz="1500" dirty="0"/>
          </a:p>
          <a:p>
            <a:pPr marL="177800" indent="-177800">
              <a:spcAft>
                <a:spcPts val="700"/>
              </a:spcAft>
              <a:buSzPct val="100000"/>
              <a:buChar char="•"/>
            </a:pPr>
            <a:r>
              <a:rPr lang="en-US" sz="1500" dirty="0">
                <a:solidFill>
                  <a:srgbClr val="374151"/>
                </a:solidFill>
                <a:latin typeface="Calibri" pitchFamily="34" charset="0"/>
                <a:ea typeface="Calibri" pitchFamily="34" charset="-122"/>
                <a:cs typeface="Calibri" pitchFamily="34" charset="-120"/>
              </a:rPr>
              <a:t>A small dense network fits in ESP32 memory after int8 quantisation</a:t>
            </a:r>
            <a:endParaRPr lang="en-US" sz="1500" dirty="0"/>
          </a:p>
        </p:txBody>
      </p:sp>
      <p:sp>
        <p:nvSpPr>
          <p:cNvPr id="21" name="Text 19"/>
          <p:cNvSpPr txBox="1"/>
          <p:nvPr/>
        </p:nvSpPr>
        <p:spPr>
          <a:xfrm>
            <a:off x="6263640" y="2834640"/>
            <a:ext cx="5394960" cy="320040"/>
          </a:xfrm>
          <a:prstGeom prst="rect">
            <a:avLst/>
          </a:prstGeom>
          <a:noFill/>
          <a:ln/>
        </p:spPr>
        <p:txBody>
          <a:bodyPr wrap="square" lIns="0" tIns="0" rIns="0" bIns="0" rtlCol="0" anchor="t"/>
          <a:lstStyle/>
          <a:p>
            <a:pPr indent="0" marL="0">
              <a:buNone/>
            </a:pPr>
            <a:r>
              <a:rPr lang="en-US" sz="1600" b="1" dirty="0">
                <a:solidFill>
                  <a:srgbClr val="C2410C"/>
                </a:solidFill>
                <a:latin typeface="Calibri" pitchFamily="34" charset="0"/>
                <a:ea typeface="Calibri" pitchFamily="34" charset="-122"/>
                <a:cs typeface="Calibri" pitchFamily="34" charset="-120"/>
              </a:rPr>
              <a:t>Why a Random Forest at the fog</a:t>
            </a:r>
            <a:endParaRPr lang="en-US" sz="1600" dirty="0"/>
          </a:p>
        </p:txBody>
      </p:sp>
      <p:sp>
        <p:nvSpPr>
          <p:cNvPr id="22" name="Text 20"/>
          <p:cNvSpPr txBox="1"/>
          <p:nvPr/>
        </p:nvSpPr>
        <p:spPr>
          <a:xfrm>
            <a:off x="6263640" y="3246120"/>
            <a:ext cx="5376672" cy="2377440"/>
          </a:xfrm>
          <a:prstGeom prst="rect">
            <a:avLst/>
          </a:prstGeom>
          <a:noFill/>
          <a:ln/>
        </p:spPr>
        <p:txBody>
          <a:bodyPr wrap="square" lIns="0" tIns="0" rIns="0" bIns="0" rtlCol="0" anchor="t"/>
          <a:lstStyle/>
          <a:p>
            <a:pPr marL="177800" indent="-177800">
              <a:spcAft>
                <a:spcPts val="700"/>
              </a:spcAft>
              <a:buSzPct val="100000"/>
              <a:buChar char="•"/>
            </a:pPr>
            <a:r>
              <a:rPr lang="en-US" sz="1500" dirty="0">
                <a:solidFill>
                  <a:srgbClr val="374151"/>
                </a:solidFill>
                <a:latin typeface="Calibri" pitchFamily="34" charset="0"/>
                <a:ea typeface="Calibri" pitchFamily="34" charset="-122"/>
                <a:cs typeface="Calibri" pitchFamily="34" charset="-120"/>
              </a:rPr>
              <a:t>Names the fault type once labelled recordings exist</a:t>
            </a:r>
            <a:endParaRPr lang="en-US" sz="1500" dirty="0"/>
          </a:p>
          <a:p>
            <a:pPr marL="177800" indent="-177800">
              <a:spcAft>
                <a:spcPts val="700"/>
              </a:spcAft>
              <a:buSzPct val="100000"/>
              <a:buChar char="•"/>
            </a:pPr>
            <a:r>
              <a:rPr lang="en-US" sz="1500" dirty="0">
                <a:solidFill>
                  <a:srgbClr val="374151"/>
                </a:solidFill>
                <a:latin typeface="Calibri" pitchFamily="34" charset="0"/>
                <a:ea typeface="Calibri" pitchFamily="34" charset="-122"/>
                <a:cs typeface="Calibri" pitchFamily="34" charset="-120"/>
              </a:rPr>
              <a:t>Works well on small, tabular feature sets</a:t>
            </a:r>
            <a:endParaRPr lang="en-US" sz="1500" dirty="0"/>
          </a:p>
          <a:p>
            <a:pPr marL="177800" indent="-177800">
              <a:spcAft>
                <a:spcPts val="700"/>
              </a:spcAft>
              <a:buSzPct val="100000"/>
              <a:buChar char="•"/>
            </a:pPr>
            <a:r>
              <a:rPr lang="en-US" sz="1500" dirty="0">
                <a:solidFill>
                  <a:srgbClr val="374151"/>
                </a:solidFill>
                <a:latin typeface="Calibri" pitchFamily="34" charset="0"/>
                <a:ea typeface="Calibri" pitchFamily="34" charset="-122"/>
                <a:cs typeface="Calibri" pitchFamily="34" charset="-120"/>
              </a:rPr>
              <a:t>Feature importance explains each decision to engineers</a:t>
            </a:r>
            <a:endParaRPr lang="en-US" sz="1500" dirty="0"/>
          </a:p>
          <a:p>
            <a:pPr marL="177800" indent="-177800">
              <a:spcAft>
                <a:spcPts val="700"/>
              </a:spcAft>
              <a:buSzPct val="100000"/>
              <a:buChar char="•"/>
            </a:pPr>
            <a:r>
              <a:rPr lang="en-US" sz="1500" dirty="0">
                <a:solidFill>
                  <a:srgbClr val="374151"/>
                </a:solidFill>
                <a:latin typeface="Calibri" pitchFamily="34" charset="0"/>
                <a:ea typeface="Calibri" pitchFamily="34" charset="-122"/>
                <a:cs typeface="Calibri" pitchFamily="34" charset="-120"/>
              </a:rPr>
              <a:t>Retrained on the fog as new fault recordings arrive</a:t>
            </a:r>
            <a:endParaRPr lang="en-US" sz="15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1"/>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685800"/>
          </a:xfrm>
          <a:prstGeom prst="rect">
            <a:avLst/>
          </a:prstGeom>
          <a:noFill/>
          <a:ln/>
        </p:spPr>
        <p:txBody>
          <a:bodyPr wrap="square" lIns="0" tIns="0" rIns="0" bIns="0" rtlCol="0" anchor="ctr"/>
          <a:lstStyle/>
          <a:p>
            <a:pPr algn="l" indent="0" marL="0">
              <a:buNone/>
            </a:pPr>
            <a:r>
              <a:rPr lang="en-US" sz="2800" b="1" dirty="0">
                <a:solidFill>
                  <a:srgbClr val="13294B"/>
                </a:solidFill>
                <a:latin typeface="Calibri" pitchFamily="34" charset="0"/>
                <a:ea typeface="Calibri" pitchFamily="34" charset="-122"/>
                <a:cs typeface="Calibri" pitchFamily="34" charset="-120"/>
              </a:rPr>
              <a:t>Phase 2 Work Plan and Evaluation</a:t>
            </a:r>
            <a:endParaRPr lang="en-US" sz="2800" dirty="0"/>
          </a:p>
        </p:txBody>
      </p:sp>
      <p:sp>
        <p:nvSpPr>
          <p:cNvPr id="3" name="Text 1"/>
          <p:cNvSpPr txBox="1"/>
          <p:nvPr/>
        </p:nvSpPr>
        <p:spPr>
          <a:xfrm>
            <a:off x="548640" y="1234440"/>
            <a:ext cx="6400800" cy="320040"/>
          </a:xfrm>
          <a:prstGeom prst="rect">
            <a:avLst/>
          </a:prstGeom>
          <a:noFill/>
          <a:ln/>
        </p:spPr>
        <p:txBody>
          <a:bodyPr wrap="square" lIns="0" tIns="0" rIns="0" bIns="0" rtlCol="0" anchor="t"/>
          <a:lstStyle/>
          <a:p>
            <a:pPr indent="0" marL="0">
              <a:buNone/>
            </a:pPr>
            <a:r>
              <a:rPr lang="en-US" sz="1600" b="1" dirty="0">
                <a:solidFill>
                  <a:srgbClr val="13294B"/>
                </a:solidFill>
                <a:latin typeface="Calibri" pitchFamily="34" charset="0"/>
                <a:ea typeface="Calibri" pitchFamily="34" charset="-122"/>
                <a:cs typeface="Calibri" pitchFamily="34" charset="-120"/>
              </a:rPr>
              <a:t>Proposed work packages</a:t>
            </a:r>
            <a:endParaRPr lang="en-US" sz="16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6583680" cy="914400"/>
        </p:xfrm>
        <a:graphic>
          <a:graphicData uri="http://schemas.openxmlformats.org/drawingml/2006/table">
            <a:tbl>
              <a:tblPr/>
              <a:tblGrid>
                <a:gridCol w="1920240"/>
                <a:gridCol w="3840480"/>
                <a:gridCol w="822960"/>
              </a:tblGrid>
              <a:tr h="457200">
                <a:tc>
                  <a:txBody>
                    <a:bodyPr/>
                    <a:lstStyle/>
                    <a:p>
                      <a:pPr indent="0" marL="0">
                        <a:buNone/>
                      </a:pPr>
                      <a:r>
                        <a:rPr lang="en-US" sz="1400" b="1" dirty="0">
                          <a:solidFill>
                            <a:srgbClr val="13294B"/>
                          </a:solidFill>
                          <a:latin typeface="Calibri" pitchFamily="34" charset="0"/>
                          <a:ea typeface="Calibri" pitchFamily="34" charset="-122"/>
                          <a:cs typeface="Calibri" pitchFamily="34" charset="-120"/>
                        </a:rPr>
                        <a:t>Work package</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E7EBF1"/>
                    </a:solidFill>
                  </a:tcPr>
                </a:tc>
                <a:tc>
                  <a:txBody>
                    <a:bodyPr/>
                    <a:lstStyle/>
                    <a:p>
                      <a:pPr indent="0" marL="0">
                        <a:buNone/>
                      </a:pPr>
                      <a:r>
                        <a:rPr lang="en-US" sz="1400" b="1" dirty="0">
                          <a:solidFill>
                            <a:srgbClr val="13294B"/>
                          </a:solidFill>
                          <a:latin typeface="Calibri" pitchFamily="34" charset="0"/>
                          <a:ea typeface="Calibri" pitchFamily="34" charset="-122"/>
                          <a:cs typeface="Calibri" pitchFamily="34" charset="-120"/>
                        </a:rPr>
                        <a:t>Activities</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E7EBF1"/>
                    </a:solidFill>
                  </a:tcPr>
                </a:tc>
                <a:tc>
                  <a:txBody>
                    <a:bodyPr/>
                    <a:lstStyle/>
                    <a:p>
                      <a:pPr indent="0" marL="0">
                        <a:buNone/>
                      </a:pPr>
                      <a:r>
                        <a:rPr lang="en-US" sz="1400" b="1" dirty="0">
                          <a:solidFill>
                            <a:srgbClr val="13294B"/>
                          </a:solidFill>
                          <a:latin typeface="Calibri" pitchFamily="34" charset="0"/>
                          <a:ea typeface="Calibri" pitchFamily="34" charset="-122"/>
                          <a:cs typeface="Calibri" pitchFamily="34" charset="-120"/>
                        </a:rPr>
                        <a:t>Weeks</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E7EBF1"/>
                    </a:solidFill>
                  </a:tcPr>
                </a:tc>
              </a:tr>
              <a:tr h="457200">
                <a:tc>
                  <a:txBody>
                    <a:bodyPr/>
                    <a:lstStyle/>
                    <a:p>
                      <a:pPr indent="0" marL="0">
                        <a:buNone/>
                      </a:pPr>
                      <a:r>
                        <a:rPr lang="en-US" sz="1400" b="1" dirty="0">
                          <a:solidFill>
                            <a:srgbClr val="374151"/>
                          </a:solidFill>
                          <a:latin typeface="Calibri" pitchFamily="34" charset="0"/>
                          <a:ea typeface="Calibri" pitchFamily="34" charset="-122"/>
                          <a:cs typeface="Calibri" pitchFamily="34" charset="-120"/>
                        </a:rPr>
                        <a:t>1. Data acquisition</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400" dirty="0">
                          <a:solidFill>
                            <a:srgbClr val="374151"/>
                          </a:solidFill>
                          <a:latin typeface="Calibri" pitchFamily="34" charset="0"/>
                          <a:ea typeface="Calibri" pitchFamily="34" charset="-122"/>
                          <a:cs typeface="Calibri" pitchFamily="34" charset="-120"/>
                        </a:rPr>
                        <a:t>1 kHz sampling and feature extraction on the ESP32</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400" dirty="0">
                          <a:solidFill>
                            <a:srgbClr val="374151"/>
                          </a:solidFill>
                          <a:latin typeface="Calibri" pitchFamily="34" charset="0"/>
                          <a:ea typeface="Calibri" pitchFamily="34" charset="-122"/>
                          <a:cs typeface="Calibri" pitchFamily="34" charset="-120"/>
                        </a:rPr>
                        <a:t>1–2</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rgbClr val="374151"/>
                          </a:solidFill>
                          <a:latin typeface="Calibri" pitchFamily="34" charset="0"/>
                          <a:ea typeface="Calibri" pitchFamily="34" charset="-122"/>
                          <a:cs typeface="Calibri" pitchFamily="34" charset="-120"/>
                        </a:rPr>
                        <a:t>2. Dataset</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400" dirty="0">
                          <a:solidFill>
                            <a:srgbClr val="374151"/>
                          </a:solidFill>
                          <a:latin typeface="Calibri" pitchFamily="34" charset="0"/>
                          <a:ea typeface="Calibri" pitchFamily="34" charset="-122"/>
                          <a:cs typeface="Calibri" pitchFamily="34" charset="-120"/>
                        </a:rPr>
                        <a:t>Normal and induced-fault runs; add CWRU data</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400" dirty="0">
                          <a:solidFill>
                            <a:srgbClr val="374151"/>
                          </a:solidFill>
                          <a:latin typeface="Calibri" pitchFamily="34" charset="0"/>
                          <a:ea typeface="Calibri" pitchFamily="34" charset="-122"/>
                          <a:cs typeface="Calibri" pitchFamily="34" charset="-120"/>
                        </a:rPr>
                        <a:t>3–5</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rgbClr val="374151"/>
                          </a:solidFill>
                          <a:latin typeface="Calibri" pitchFamily="34" charset="0"/>
                          <a:ea typeface="Calibri" pitchFamily="34" charset="-122"/>
                          <a:cs typeface="Calibri" pitchFamily="34" charset="-120"/>
                        </a:rPr>
                        <a:t>3. Model training</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400" dirty="0">
                          <a:solidFill>
                            <a:srgbClr val="374151"/>
                          </a:solidFill>
                          <a:latin typeface="Calibri" pitchFamily="34" charset="0"/>
                          <a:ea typeface="Calibri" pitchFamily="34" charset="-122"/>
                          <a:cs typeface="Calibri" pitchFamily="34" charset="-120"/>
                        </a:rPr>
                        <a:t>Train and compare the candidate models in Python</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400" dirty="0">
                          <a:solidFill>
                            <a:srgbClr val="374151"/>
                          </a:solidFill>
                          <a:latin typeface="Calibri" pitchFamily="34" charset="0"/>
                          <a:ea typeface="Calibri" pitchFamily="34" charset="-122"/>
                          <a:cs typeface="Calibri" pitchFamily="34" charset="-120"/>
                        </a:rPr>
                        <a:t>6–8</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rgbClr val="374151"/>
                          </a:solidFill>
                          <a:latin typeface="Calibri" pitchFamily="34" charset="0"/>
                          <a:ea typeface="Calibri" pitchFamily="34" charset="-122"/>
                          <a:cs typeface="Calibri" pitchFamily="34" charset="-120"/>
                        </a:rPr>
                        <a:t>4. Edge deployment</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400" dirty="0">
                          <a:solidFill>
                            <a:srgbClr val="374151"/>
                          </a:solidFill>
                          <a:latin typeface="Calibri" pitchFamily="34" charset="0"/>
                          <a:ea typeface="Calibri" pitchFamily="34" charset="-122"/>
                          <a:cs typeface="Calibri" pitchFamily="34" charset="-120"/>
                        </a:rPr>
                        <a:t>int8 autoencoder on the ESP32 with TFLite Micro</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400" dirty="0">
                          <a:solidFill>
                            <a:srgbClr val="374151"/>
                          </a:solidFill>
                          <a:latin typeface="Calibri" pitchFamily="34" charset="0"/>
                          <a:ea typeface="Calibri" pitchFamily="34" charset="-122"/>
                          <a:cs typeface="Calibri" pitchFamily="34" charset="-120"/>
                        </a:rPr>
                        <a:t>9–10</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rgbClr val="374151"/>
                          </a:solidFill>
                          <a:latin typeface="Calibri" pitchFamily="34" charset="0"/>
                          <a:ea typeface="Calibri" pitchFamily="34" charset="-122"/>
                          <a:cs typeface="Calibri" pitchFamily="34" charset="-120"/>
                        </a:rPr>
                        <a:t>5. Fog integration</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400" dirty="0">
                          <a:solidFill>
                            <a:srgbClr val="374151"/>
                          </a:solidFill>
                          <a:latin typeface="Calibri" pitchFamily="34" charset="0"/>
                          <a:ea typeface="Calibri" pitchFamily="34" charset="-122"/>
                          <a:cs typeface="Calibri" pitchFamily="34" charset="-120"/>
                        </a:rPr>
                        <a:t>Random Forest service; fault type on the dashboard</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400" dirty="0">
                          <a:solidFill>
                            <a:srgbClr val="374151"/>
                          </a:solidFill>
                          <a:latin typeface="Calibri" pitchFamily="34" charset="0"/>
                          <a:ea typeface="Calibri" pitchFamily="34" charset="-122"/>
                          <a:cs typeface="Calibri" pitchFamily="34" charset="-120"/>
                        </a:rPr>
                        <a:t>11</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rgbClr val="374151"/>
                          </a:solidFill>
                          <a:latin typeface="Calibri" pitchFamily="34" charset="0"/>
                          <a:ea typeface="Calibri" pitchFamily="34" charset="-122"/>
                          <a:cs typeface="Calibri" pitchFamily="34" charset="-120"/>
                        </a:rPr>
                        <a:t>6. Validation</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400" dirty="0">
                          <a:solidFill>
                            <a:srgbClr val="374151"/>
                          </a:solidFill>
                          <a:latin typeface="Calibri" pitchFamily="34" charset="0"/>
                          <a:ea typeface="Calibri" pitchFamily="34" charset="-122"/>
                          <a:cs typeface="Calibri" pitchFamily="34" charset="-120"/>
                        </a:rPr>
                        <a:t>Test on the rig, tune, document results</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400" dirty="0">
                          <a:solidFill>
                            <a:srgbClr val="374151"/>
                          </a:solidFill>
                          <a:latin typeface="Calibri" pitchFamily="34" charset="0"/>
                          <a:ea typeface="Calibri" pitchFamily="34" charset="-122"/>
                          <a:cs typeface="Calibri" pitchFamily="34" charset="-120"/>
                        </a:rPr>
                        <a:t>12</a:t>
                      </a:r>
                      <a:endParaRPr lang="en-US" sz="1400" dirty="0">
                        <a:latin typeface="Calibri" charset="0"/>
                        <a:ea typeface="Calibri" charset="0"/>
                        <a:cs typeface="Calibri" charset="0"/>
                      </a:endParaRPr>
                    </a:p>
                  </a:txBody>
                  <a:tcPr marL="76200" marR="76200" marT="38100" marB="38100" anchor="ctr">
                    <a:lnL w="9525" cap="flat" cmpd="sng" algn="ctr">
                      <a:solidFill>
                        <a:srgbClr val="D5DAE2"/>
                      </a:solidFill>
                      <a:prstDash val="solid"/>
                      <a:round/>
                      <a:headEnd type="none" w="med" len="med"/>
                      <a:tailEnd type="none" w="med" len="med"/>
                    </a:lnL>
                    <a:lnR w="9525" cap="flat" cmpd="sng" algn="ctr">
                      <a:solidFill>
                        <a:srgbClr val="D5DAE2"/>
                      </a:solidFill>
                      <a:prstDash val="solid"/>
                      <a:round/>
                      <a:headEnd type="none" w="med" len="med"/>
                      <a:tailEnd type="none" w="med" len="med"/>
                    </a:lnR>
                    <a:lnT w="9525" cap="flat" cmpd="sng" algn="ctr">
                      <a:solidFill>
                        <a:srgbClr val="D5DAE2"/>
                      </a:solidFill>
                      <a:prstDash val="solid"/>
                      <a:round/>
                      <a:headEnd type="none" w="med" len="med"/>
                      <a:tailEnd type="none" w="med" len="med"/>
                    </a:lnT>
                    <a:lnB w="9525" cap="flat" cmpd="sng" algn="ctr">
                      <a:solidFill>
                        <a:srgbClr val="D5DAE2"/>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7589520" y="1234440"/>
            <a:ext cx="4023360" cy="320040"/>
          </a:xfrm>
          <a:prstGeom prst="rect">
            <a:avLst/>
          </a:prstGeom>
          <a:noFill/>
          <a:ln/>
        </p:spPr>
        <p:txBody>
          <a:bodyPr wrap="square" lIns="0" tIns="0" rIns="0" bIns="0" rtlCol="0" anchor="t"/>
          <a:lstStyle/>
          <a:p>
            <a:pPr indent="0" marL="0">
              <a:buNone/>
            </a:pPr>
            <a:r>
              <a:rPr lang="en-US" sz="1600" b="1" dirty="0">
                <a:solidFill>
                  <a:srgbClr val="13294B"/>
                </a:solidFill>
                <a:latin typeface="Calibri" pitchFamily="34" charset="0"/>
                <a:ea typeface="Calibri" pitchFamily="34" charset="-122"/>
                <a:cs typeface="Calibri" pitchFamily="34" charset="-120"/>
              </a:rPr>
              <a:t>Evaluation metrics</a:t>
            </a:r>
            <a:endParaRPr lang="en-US" sz="1600" dirty="0"/>
          </a:p>
        </p:txBody>
      </p:sp>
      <p:sp>
        <p:nvSpPr>
          <p:cNvPr id="6" name="Text 3"/>
          <p:cNvSpPr txBox="1"/>
          <p:nvPr/>
        </p:nvSpPr>
        <p:spPr>
          <a:xfrm>
            <a:off x="7589520" y="1645920"/>
            <a:ext cx="4050792" cy="2377440"/>
          </a:xfrm>
          <a:prstGeom prst="rect">
            <a:avLst/>
          </a:prstGeom>
          <a:noFill/>
          <a:ln/>
        </p:spPr>
        <p:txBody>
          <a:bodyPr wrap="square" lIns="0" tIns="0" rIns="0" bIns="0" rtlCol="0" anchor="t"/>
          <a:lstStyle/>
          <a:p>
            <a:pPr marL="177800" indent="-177800">
              <a:spcAft>
                <a:spcPts val="700"/>
              </a:spcAft>
              <a:buSzPct val="100000"/>
              <a:buChar char="•"/>
            </a:pPr>
            <a:r>
              <a:rPr lang="en-US" sz="1500" dirty="0">
                <a:solidFill>
                  <a:srgbClr val="374151"/>
                </a:solidFill>
                <a:latin typeface="Calibri" pitchFamily="34" charset="0"/>
                <a:ea typeface="Calibri" pitchFamily="34" charset="-122"/>
                <a:cs typeface="Calibri" pitchFamily="34" charset="-120"/>
              </a:rPr>
              <a:t>Precision, recall and F1-score on held-out faults</a:t>
            </a:r>
            <a:endParaRPr lang="en-US" sz="1500" dirty="0"/>
          </a:p>
          <a:p>
            <a:pPr marL="177800" indent="-177800">
              <a:spcAft>
                <a:spcPts val="700"/>
              </a:spcAft>
              <a:buSzPct val="100000"/>
              <a:buChar char="•"/>
            </a:pPr>
            <a:r>
              <a:rPr lang="en-US" sz="1500" dirty="0">
                <a:solidFill>
                  <a:srgbClr val="374151"/>
                </a:solidFill>
                <a:latin typeface="Calibri" pitchFamily="34" charset="0"/>
                <a:ea typeface="Calibri" pitchFamily="34" charset="-122"/>
                <a:cs typeface="Calibri" pitchFamily="34" charset="-120"/>
              </a:rPr>
              <a:t>False alarms per hour of normal running</a:t>
            </a:r>
            <a:endParaRPr lang="en-US" sz="1500" dirty="0"/>
          </a:p>
          <a:p>
            <a:pPr marL="177800" indent="-177800">
              <a:spcAft>
                <a:spcPts val="700"/>
              </a:spcAft>
              <a:buSzPct val="100000"/>
              <a:buChar char="•"/>
            </a:pPr>
            <a:r>
              <a:rPr lang="en-US" sz="1500" dirty="0">
                <a:solidFill>
                  <a:srgbClr val="374151"/>
                </a:solidFill>
                <a:latin typeface="Calibri" pitchFamily="34" charset="0"/>
                <a:ea typeface="Calibri" pitchFamily="34" charset="-122"/>
                <a:cs typeface="Calibri" pitchFamily="34" charset="-120"/>
              </a:rPr>
              <a:t>Time from fault onset to alarm</a:t>
            </a:r>
            <a:endParaRPr lang="en-US" sz="1500" dirty="0"/>
          </a:p>
          <a:p>
            <a:pPr marL="177800" indent="-177800">
              <a:spcAft>
                <a:spcPts val="700"/>
              </a:spcAft>
              <a:buSzPct val="100000"/>
              <a:buChar char="•"/>
            </a:pPr>
            <a:r>
              <a:rPr lang="en-US" sz="1500" dirty="0">
                <a:solidFill>
                  <a:srgbClr val="374151"/>
                </a:solidFill>
                <a:latin typeface="Calibri" pitchFamily="34" charset="0"/>
                <a:ea typeface="Calibri" pitchFamily="34" charset="-122"/>
                <a:cs typeface="Calibri" pitchFamily="34" charset="-120"/>
              </a:rPr>
              <a:t>Model size (KB) and inference time (ms) on the ESP32</a:t>
            </a:r>
            <a:endParaRPr lang="en-US" sz="1500" dirty="0"/>
          </a:p>
        </p:txBody>
      </p:sp>
      <p:sp>
        <p:nvSpPr>
          <p:cNvPr id="7" name="Text 4"/>
          <p:cNvSpPr txBox="1"/>
          <p:nvPr/>
        </p:nvSpPr>
        <p:spPr>
          <a:xfrm>
            <a:off x="7589520" y="4160520"/>
            <a:ext cx="4023360" cy="320040"/>
          </a:xfrm>
          <a:prstGeom prst="rect">
            <a:avLst/>
          </a:prstGeom>
          <a:noFill/>
          <a:ln/>
        </p:spPr>
        <p:txBody>
          <a:bodyPr wrap="square" lIns="0" tIns="0" rIns="0" bIns="0" rtlCol="0" anchor="t"/>
          <a:lstStyle/>
          <a:p>
            <a:pPr indent="0" marL="0">
              <a:buNone/>
            </a:pPr>
            <a:r>
              <a:rPr lang="en-US" sz="1600" b="1" dirty="0">
                <a:solidFill>
                  <a:srgbClr val="13294B"/>
                </a:solidFill>
                <a:latin typeface="Calibri" pitchFamily="34" charset="0"/>
                <a:ea typeface="Calibri" pitchFamily="34" charset="-122"/>
                <a:cs typeface="Calibri" pitchFamily="34" charset="-120"/>
              </a:rPr>
              <a:t>Tools</a:t>
            </a:r>
            <a:endParaRPr lang="en-US" sz="1600" dirty="0"/>
          </a:p>
        </p:txBody>
      </p:sp>
      <p:sp>
        <p:nvSpPr>
          <p:cNvPr id="8" name="Text 5"/>
          <p:cNvSpPr txBox="1"/>
          <p:nvPr/>
        </p:nvSpPr>
        <p:spPr>
          <a:xfrm>
            <a:off x="7589520" y="4526280"/>
            <a:ext cx="4050792" cy="731520"/>
          </a:xfrm>
          <a:prstGeom prst="rect">
            <a:avLst/>
          </a:prstGeom>
          <a:noFill/>
          <a:ln/>
        </p:spPr>
        <p:txBody>
          <a:bodyPr wrap="square" lIns="0" tIns="0" rIns="0" bIns="0" rtlCol="0" anchor="t"/>
          <a:lstStyle/>
          <a:p>
            <a:pPr indent="0" marL="0">
              <a:buNone/>
            </a:pPr>
            <a:r>
              <a:rPr lang="en-US" sz="1500" dirty="0">
                <a:solidFill>
                  <a:srgbClr val="374151"/>
                </a:solidFill>
                <a:latin typeface="Calibri" pitchFamily="34" charset="0"/>
                <a:ea typeface="Calibri" pitchFamily="34" charset="-122"/>
                <a:cs typeface="Calibri" pitchFamily="34" charset="-120"/>
              </a:rPr>
              <a:t>Python, pandas, scikit-learn, TensorFlow / Keras, TensorFlow Lite Micro, ESP-DSP</a:t>
            </a:r>
            <a:endParaRPr lang="en-US" sz="15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1"/>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685800"/>
          </a:xfrm>
          <a:prstGeom prst="rect">
            <a:avLst/>
          </a:prstGeom>
          <a:noFill/>
          <a:ln/>
        </p:spPr>
        <p:txBody>
          <a:bodyPr wrap="square" lIns="0" tIns="0" rIns="0" bIns="0" rtlCol="0" anchor="ctr"/>
          <a:lstStyle/>
          <a:p>
            <a:pPr algn="l" indent="0" marL="0">
              <a:buNone/>
            </a:pPr>
            <a:r>
              <a:rPr lang="en-US" sz="2800" b="1" dirty="0">
                <a:solidFill>
                  <a:srgbClr val="13294B"/>
                </a:solidFill>
                <a:latin typeface="Calibri" pitchFamily="34" charset="0"/>
                <a:ea typeface="Calibri" pitchFamily="34" charset="-122"/>
                <a:cs typeface="Calibri" pitchFamily="34" charset="-120"/>
              </a:rPr>
              <a:t>Conclusion</a:t>
            </a:r>
            <a:endParaRPr lang="en-US" sz="2800" dirty="0"/>
          </a:p>
        </p:txBody>
      </p:sp>
      <p:sp>
        <p:nvSpPr>
          <p:cNvPr id="3" name="Text 1"/>
          <p:cNvSpPr txBox="1"/>
          <p:nvPr/>
        </p:nvSpPr>
        <p:spPr>
          <a:xfrm>
            <a:off x="548640" y="1234440"/>
            <a:ext cx="5486400" cy="320040"/>
          </a:xfrm>
          <a:prstGeom prst="rect">
            <a:avLst/>
          </a:prstGeom>
          <a:noFill/>
          <a:ln/>
        </p:spPr>
        <p:txBody>
          <a:bodyPr wrap="square" lIns="0" tIns="0" rIns="0" bIns="0" rtlCol="0" anchor="t"/>
          <a:lstStyle/>
          <a:p>
            <a:pPr indent="0" marL="0">
              <a:buNone/>
            </a:pPr>
            <a:r>
              <a:rPr lang="en-US" sz="1600" b="1" dirty="0">
                <a:solidFill>
                  <a:srgbClr val="13294B"/>
                </a:solidFill>
                <a:latin typeface="Calibri" pitchFamily="34" charset="0"/>
                <a:ea typeface="Calibri" pitchFamily="34" charset="-122"/>
                <a:cs typeface="Calibri" pitchFamily="34" charset="-120"/>
              </a:rPr>
              <a:t>What ResQFog does today</a:t>
            </a:r>
            <a:endParaRPr lang="en-US" sz="1600" dirty="0"/>
          </a:p>
        </p:txBody>
      </p:sp>
      <p:sp>
        <p:nvSpPr>
          <p:cNvPr id="4" name="Text 2"/>
          <p:cNvSpPr txBox="1"/>
          <p:nvPr/>
        </p:nvSpPr>
        <p:spPr>
          <a:xfrm>
            <a:off x="548640" y="1645920"/>
            <a:ext cx="5394960" cy="3291840"/>
          </a:xfrm>
          <a:prstGeom prst="rect">
            <a:avLst/>
          </a:prstGeom>
          <a:noFill/>
          <a:ln/>
        </p:spPr>
        <p:txBody>
          <a:bodyPr wrap="square" lIns="0" tIns="0" rIns="0" bIns="0" rtlCol="0" anchor="t"/>
          <a:lstStyle/>
          <a:p>
            <a:pPr marL="177800" indent="-177800">
              <a:spcAft>
                <a:spcPts val="700"/>
              </a:spcAft>
              <a:buSzPct val="100000"/>
              <a:buChar char="•"/>
            </a:pPr>
            <a:r>
              <a:rPr lang="en-US" sz="1600" dirty="0">
                <a:solidFill>
                  <a:srgbClr val="374151"/>
                </a:solidFill>
                <a:latin typeface="Calibri" pitchFamily="34" charset="0"/>
                <a:ea typeface="Calibri" pitchFamily="34" charset="-122"/>
                <a:cs typeface="Calibri" pitchFamily="34" charset="-120"/>
              </a:rPr>
              <a:t>Monitors every pump continuously for about ₹1,400 per node</a:t>
            </a:r>
            <a:endParaRPr lang="en-US" sz="1600" dirty="0"/>
          </a:p>
          <a:p>
            <a:pPr marL="177800" indent="-177800">
              <a:spcAft>
                <a:spcPts val="700"/>
              </a:spcAft>
              <a:buSzPct val="100000"/>
              <a:buChar char="•"/>
            </a:pPr>
            <a:r>
              <a:rPr lang="en-US" sz="1600" dirty="0">
                <a:solidFill>
                  <a:srgbClr val="374151"/>
                </a:solidFill>
                <a:latin typeface="Calibri" pitchFamily="34" charset="0"/>
                <a:ea typeface="Calibri" pitchFamily="34" charset="-122"/>
                <a:cs typeface="Calibri" pitchFamily="34" charset="-120"/>
              </a:rPr>
              <a:t>Raises the alarm and trips the motor at the edge, with no network needed</a:t>
            </a:r>
            <a:endParaRPr lang="en-US" sz="1600" dirty="0"/>
          </a:p>
          <a:p>
            <a:pPr marL="177800" indent="-177800">
              <a:spcAft>
                <a:spcPts val="700"/>
              </a:spcAft>
              <a:buSzPct val="100000"/>
              <a:buChar char="•"/>
            </a:pPr>
            <a:r>
              <a:rPr lang="en-US" sz="1600" dirty="0">
                <a:solidFill>
                  <a:srgbClr val="374151"/>
                </a:solidFill>
                <a:latin typeface="Calibri" pitchFamily="34" charset="0"/>
                <a:ea typeface="Calibri" pitchFamily="34" charset="-122"/>
                <a:cs typeface="Calibri" pitchFamily="34" charset="-120"/>
              </a:rPr>
              <a:t>Tells the engineer which pump failed and where, by SMS with a map link</a:t>
            </a:r>
            <a:endParaRPr lang="en-US" sz="1600" dirty="0"/>
          </a:p>
          <a:p>
            <a:pPr marL="177800" indent="-177800">
              <a:spcAft>
                <a:spcPts val="700"/>
              </a:spcAft>
              <a:buSzPct val="100000"/>
              <a:buChar char="•"/>
            </a:pPr>
            <a:r>
              <a:rPr lang="en-US" sz="1600" dirty="0">
                <a:solidFill>
                  <a:srgbClr val="374151"/>
                </a:solidFill>
                <a:latin typeface="Calibri" pitchFamily="34" charset="0"/>
                <a:ea typeface="Calibri" pitchFamily="34" charset="-122"/>
                <a:cs typeface="Calibri" pitchFamily="34" charset="-120"/>
              </a:rPr>
              <a:t>Shows the whole pump network live on one fog dashboard</a:t>
            </a:r>
            <a:endParaRPr lang="en-US" sz="1600" dirty="0"/>
          </a:p>
          <a:p>
            <a:pPr marL="177800" indent="-177800">
              <a:spcAft>
                <a:spcPts val="700"/>
              </a:spcAft>
              <a:buSzPct val="100000"/>
              <a:buChar char="•"/>
            </a:pPr>
            <a:r>
              <a:rPr lang="en-US" sz="1600" dirty="0">
                <a:solidFill>
                  <a:srgbClr val="374151"/>
                </a:solidFill>
                <a:latin typeface="Calibri" pitchFamily="34" charset="0"/>
                <a:ea typeface="Calibri" pitchFamily="34" charset="-122"/>
                <a:cs typeface="Calibri" pitchFamily="34" charset="-120"/>
              </a:rPr>
              <a:t>Loses no readings during outages and records every fault</a:t>
            </a:r>
            <a:endParaRPr lang="en-US" sz="1600" dirty="0"/>
          </a:p>
        </p:txBody>
      </p:sp>
      <p:sp>
        <p:nvSpPr>
          <p:cNvPr id="5" name="Text 3"/>
          <p:cNvSpPr txBox="1"/>
          <p:nvPr/>
        </p:nvSpPr>
        <p:spPr>
          <a:xfrm>
            <a:off x="6400800" y="1234440"/>
            <a:ext cx="5212080" cy="320040"/>
          </a:xfrm>
          <a:prstGeom prst="rect">
            <a:avLst/>
          </a:prstGeom>
          <a:noFill/>
          <a:ln/>
        </p:spPr>
        <p:txBody>
          <a:bodyPr wrap="square" lIns="0" tIns="0" rIns="0" bIns="0" rtlCol="0" anchor="t"/>
          <a:lstStyle/>
          <a:p>
            <a:pPr indent="0" marL="0">
              <a:buNone/>
            </a:pPr>
            <a:r>
              <a:rPr lang="en-US" sz="1600" b="1" dirty="0">
                <a:solidFill>
                  <a:srgbClr val="13294B"/>
                </a:solidFill>
                <a:latin typeface="Calibri" pitchFamily="34" charset="0"/>
                <a:ea typeface="Calibri" pitchFamily="34" charset="-122"/>
                <a:cs typeface="Calibri" pitchFamily="34" charset="-120"/>
              </a:rPr>
              <a:t>Next steps</a:t>
            </a:r>
            <a:endParaRPr lang="en-US" sz="1600" dirty="0"/>
          </a:p>
        </p:txBody>
      </p:sp>
      <p:sp>
        <p:nvSpPr>
          <p:cNvPr id="6" name="Text 4"/>
          <p:cNvSpPr txBox="1"/>
          <p:nvPr/>
        </p:nvSpPr>
        <p:spPr>
          <a:xfrm>
            <a:off x="6400800" y="1645920"/>
            <a:ext cx="5239512" cy="3291840"/>
          </a:xfrm>
          <a:prstGeom prst="rect">
            <a:avLst/>
          </a:prstGeom>
          <a:noFill/>
          <a:ln/>
        </p:spPr>
        <p:txBody>
          <a:bodyPr wrap="square" lIns="0" tIns="0" rIns="0" bIns="0" rtlCol="0" anchor="t"/>
          <a:lstStyle/>
          <a:p>
            <a:pPr marL="177800" indent="-177800">
              <a:spcAft>
                <a:spcPts val="700"/>
              </a:spcAft>
              <a:buSzPct val="100000"/>
              <a:buChar char="•"/>
            </a:pPr>
            <a:r>
              <a:rPr lang="en-US" sz="1600" dirty="0">
                <a:solidFill>
                  <a:srgbClr val="374151"/>
                </a:solidFill>
                <a:latin typeface="Calibri" pitchFamily="34" charset="0"/>
                <a:ea typeface="Calibri" pitchFamily="34" charset="-122"/>
                <a:cs typeface="Calibri" pitchFamily="34" charset="-120"/>
              </a:rPr>
              <a:t>Current and temperature sensors on the rig</a:t>
            </a:r>
            <a:endParaRPr lang="en-US" sz="1600" dirty="0"/>
          </a:p>
          <a:p>
            <a:pPr marL="177800" indent="-177800">
              <a:spcAft>
                <a:spcPts val="700"/>
              </a:spcAft>
              <a:buSzPct val="100000"/>
              <a:buChar char="•"/>
            </a:pPr>
            <a:r>
              <a:rPr lang="en-US" sz="1600" dirty="0">
                <a:solidFill>
                  <a:srgbClr val="374151"/>
                </a:solidFill>
                <a:latin typeface="Calibri" pitchFamily="34" charset="0"/>
                <a:ea typeface="Calibri" pitchFamily="34" charset="-122"/>
                <a:cs typeface="Calibri" pitchFamily="34" charset="-120"/>
              </a:rPr>
              <a:t>GSM module for sites without Wi-Fi</a:t>
            </a:r>
            <a:endParaRPr lang="en-US" sz="1600" dirty="0"/>
          </a:p>
          <a:p>
            <a:pPr marL="177800" indent="-177800">
              <a:spcAft>
                <a:spcPts val="700"/>
              </a:spcAft>
              <a:buSzPct val="100000"/>
              <a:buChar char="•"/>
            </a:pPr>
            <a:r>
              <a:rPr lang="en-US" sz="1600" dirty="0">
                <a:solidFill>
                  <a:srgbClr val="374151"/>
                </a:solidFill>
                <a:latin typeface="Calibri" pitchFamily="34" charset="0"/>
                <a:ea typeface="Calibri" pitchFamily="34" charset="-122"/>
                <a:cs typeface="Calibri" pitchFamily="34" charset="-120"/>
              </a:rPr>
              <a:t>Trial on a real borewell or sump pump</a:t>
            </a:r>
            <a:endParaRPr lang="en-US" sz="1600" dirty="0"/>
          </a:p>
          <a:p>
            <a:pPr marL="177800" indent="-177800">
              <a:spcAft>
                <a:spcPts val="700"/>
              </a:spcAft>
              <a:buSzPct val="100000"/>
              <a:buChar char="•"/>
            </a:pPr>
            <a:r>
              <a:rPr lang="en-US" sz="1600" dirty="0">
                <a:solidFill>
                  <a:srgbClr val="374151"/>
                </a:solidFill>
                <a:latin typeface="Calibri" pitchFamily="34" charset="0"/>
                <a:ea typeface="Calibri" pitchFamily="34" charset="-122"/>
                <a:cs typeface="Calibri" pitchFamily="34" charset="-120"/>
              </a:rPr>
              <a:t>Phase 2: learned anomaly detection and fault classification</a:t>
            </a:r>
            <a:endParaRPr lang="en-US" sz="16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1"/>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731520" y="2468880"/>
            <a:ext cx="10058400" cy="1097280"/>
          </a:xfrm>
          <a:prstGeom prst="rect">
            <a:avLst/>
          </a:prstGeom>
          <a:noFill/>
          <a:ln/>
        </p:spPr>
        <p:txBody>
          <a:bodyPr wrap="square" lIns="0" tIns="0" rIns="0" bIns="0" rtlCol="0" anchor="ctr"/>
          <a:lstStyle/>
          <a:p>
            <a:pPr indent="0" marL="0">
              <a:buNone/>
            </a:pPr>
            <a:r>
              <a:rPr lang="en-US" sz="5400" b="1" dirty="0">
                <a:solidFill>
                  <a:srgbClr val="FFFFFF"/>
                </a:solidFill>
                <a:latin typeface="Calibri" pitchFamily="34" charset="0"/>
                <a:ea typeface="Calibri" pitchFamily="34" charset="-122"/>
                <a:cs typeface="Calibri" pitchFamily="34" charset="-120"/>
              </a:rPr>
              <a:t>Thank you</a:t>
            </a:r>
            <a:endParaRPr lang="en-US" sz="5400" dirty="0"/>
          </a:p>
        </p:txBody>
      </p:sp>
      <p:sp>
        <p:nvSpPr>
          <p:cNvPr id="3" name="Text 1"/>
          <p:cNvSpPr txBox="1"/>
          <p:nvPr/>
        </p:nvSpPr>
        <p:spPr>
          <a:xfrm>
            <a:off x="731520" y="3566160"/>
            <a:ext cx="10058400" cy="457200"/>
          </a:xfrm>
          <a:prstGeom prst="rect">
            <a:avLst/>
          </a:prstGeom>
          <a:noFill/>
          <a:ln/>
        </p:spPr>
        <p:txBody>
          <a:bodyPr wrap="square" lIns="0" tIns="0" rIns="0" bIns="0" rtlCol="0" anchor="t"/>
          <a:lstStyle/>
          <a:p>
            <a:pPr indent="0" marL="0">
              <a:buNone/>
            </a:pPr>
            <a:r>
              <a:rPr lang="en-US" sz="2200" dirty="0">
                <a:solidFill>
                  <a:srgbClr val="C9D3E3"/>
                </a:solidFill>
                <a:latin typeface="Calibri" pitchFamily="34" charset="0"/>
                <a:ea typeface="Calibri" pitchFamily="34" charset="-122"/>
                <a:cs typeface="Calibri" pitchFamily="34" charset="-120"/>
              </a:rPr>
              <a:t>Questions and live demonstration</a:t>
            </a:r>
            <a:endParaRPr lang="en-US" sz="2200" dirty="0"/>
          </a:p>
        </p:txBody>
      </p:sp>
      <p:sp>
        <p:nvSpPr>
          <p:cNvPr id="4" name="Text 2"/>
          <p:cNvSpPr txBox="1"/>
          <p:nvPr/>
        </p:nvSpPr>
        <p:spPr>
          <a:xfrm>
            <a:off x="731520" y="5760720"/>
            <a:ext cx="10058400" cy="365760"/>
          </a:xfrm>
          <a:prstGeom prst="rect">
            <a:avLst/>
          </a:prstGeom>
          <a:noFill/>
          <a:ln/>
        </p:spPr>
        <p:txBody>
          <a:bodyPr wrap="square" lIns="0" tIns="0" rIns="0" bIns="0" rtlCol="0" anchor="t"/>
          <a:lstStyle/>
          <a:p>
            <a:pPr indent="0" marL="0">
              <a:buNone/>
            </a:pPr>
            <a:r>
              <a:rPr lang="en-US" sz="1500" dirty="0">
                <a:solidFill>
                  <a:srgbClr val="FDBA74"/>
                </a:solidFill>
                <a:latin typeface="Calibri" pitchFamily="34" charset="0"/>
                <a:ea typeface="Calibri" pitchFamily="34" charset="-122"/>
                <a:cs typeface="Calibri" pitchFamily="34" charset="-120"/>
              </a:rPr>
              <a:t>github.com/Arush-O7/ResQFog</a:t>
            </a:r>
            <a:endParaRPr lang="en-US" sz="1500" dirty="0"/>
          </a:p>
        </p:txBody>
      </p:sp>
    </p:spTree>
  </p:cSld>
  <p:clrMapOvr>
    <a:masterClrMapping/>
  </p:clrMapOvr>
</p:sld>
</file>

<file path=ppt/theme/theme1.xml><?xml version="1.0" encoding="utf-8"?>
<a:theme xmlns:a="http://schemas.openxmlformats.org/drawingml/2006/main" name="ResQFog">
  <a:themeElements>
    <a:clrScheme name="ResQFog">
      <a:dk1>
        <a:srgbClr val="1F2937"/>
      </a:dk1>
      <a:lt1>
        <a:srgbClr val="FFFFFF"/>
      </a:lt1>
      <a:dk2>
        <a:srgbClr val="13294B"/>
      </a:dk2>
      <a:lt2>
        <a:srgbClr val="F3F5F8"/>
      </a:lt2>
      <a:accent1>
        <a:srgbClr val="13294B"/>
      </a:accent1>
      <a:accent2>
        <a:srgbClr val="C2410C"/>
      </a:accent2>
      <a:accent3>
        <a:srgbClr val="15803D"/>
      </a:accent3>
      <a:accent4>
        <a:srgbClr val="B45309"/>
      </a:accent4>
      <a:accent5>
        <a:srgbClr val="B91C1C"/>
      </a:accent5>
      <a:accent6>
        <a:srgbClr val="5B6472"/>
      </a:accent6>
      <a:hlink>
        <a:srgbClr val="1D4ED8"/>
      </a:hlink>
      <a:folHlink>
        <a:srgbClr val="6D28D9"/>
      </a:folHlink>
    </a:clrScheme>
    <a:fontScheme name="ResQFog">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ResQFog - Final Project Presentation</dc:title>
  <dc:subject>BCSE313L Fundamentals of Fog and Edge Computing</dc:subject>
  <dc:creator>Arush Mishra, Abuzar Siddiqi</dc:creator>
  <cp:lastModifiedBy>Arush Mishra, Abuzar Siddiqi</cp:lastModifiedBy>
  <cp:revision>1</cp:revision>
  <dcterms:created xsi:type="dcterms:W3CDTF">2026-10-07T18:18:23Z</dcterms:created>
  <dcterms:modified xsi:type="dcterms:W3CDTF">2026-10-07T18:18:23Z</dcterms:modified>
</cp:coreProperties>
</file>
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257e0a7-1251-f83e-6c87-e4626703186d}">
          <p14:sldIdLst>
            <p14:sldId id="256"/>
            <p14:sldId id="257"/>
            <p14:sldId id="258"/>
            <p14:sldId id="259"/>
            <p14:sldId id="260"/>
            <p14:sldId id="261"/>
          </p14:sldIdLst>
        </p14:section>
        <p14:section name="Design" id="{a7128bf0-b0d8-dee0-1773-bd209f9424e6}">
          <p14:sldIdLst>
            <p14:sldId id="262"/>
            <p14:sldId id="263"/>
            <p14:sldId id="264"/>
            <p14:sldId id="265"/>
          </p14:sldIdLst>
        </p14:section>
        <p14:section name="Implementation" id="{65eaeaae-7b6d-0638-1f75-3f2f0cc1dbc6}">
          <p14:sldIdLst>
            <p14:sldId id="266"/>
            <p14:sldId id="267"/>
            <p14:sldId id="268"/>
            <p14:sldId id="269"/>
            <p14:sldId id="270"/>
          </p14:sldIdLst>
        </p14:section>
        <p14:section name="Results" id="{28745271-6b96-ffe3-edab-708e6e5ceeab}">
          <p14:sldIdLst>
            <p14:sldId id="271"/>
            <p14:sldId id="272"/>
            <p14:sldId id="273"/>
            <p14:sldId id="274"/>
          </p14:sldIdLst>
        </p14:section>
        <p14:section name="Future work" id="{dc1a729a-9ad0-5c05-fef7-78d5b98081ba}">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937"/>
                </a:solidFill>
                <a:latin typeface="+mn-lt"/>
              </a:defRPr>
            </a:pPr>
            <a:r>
              <a:rPr sz="1400" b="0" i="0" u="none" strike="noStrike">
                <a:solidFill>
                  <a:srgbClr val="1F2937"/>
                </a:solidFill>
                <a:latin typeface="+mn-lt"/>
              </a:rPr>
              <a:t>Detection rate by fault type and size (%)</a:t>
            </a:r>
          </a:p>
        </c:rich>
      </c:tx>
      <c:layout/>
      <c:overlay val="0"/>
    </c:title>
    <c:autoTitleDeleted val="0"/>
    <c:plotArea>
      <c:layout/>
      <c:barChart>
        <c:barDir val="col"/>
        <c:grouping val="clustered"/>
        <c:varyColors val="0"/>
        <c:ser>
          <c:idx val="0"/>
          <c:order val="0"/>
          <c:tx>
            <c:strRef>
              <c:f>Sheet1!$B$1</c:f>
              <c:strCache>
                <c:ptCount val="1"/>
                <c:pt idx="0">
                  <c:v>0.007 in</c:v>
                </c:pt>
              </c:strCache>
            </c:strRef>
          </c:tx>
          <c:spPr>
            <a:solidFill>
              <a:srgbClr val="9DB4D3"/>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Sheet1!$B$2:$B$4</c:f>
              <c:numCache>
                <c:formatCode>General</c:formatCode>
                <c:ptCount val="3"/>
                <c:pt idx="0">
                  <c:v>100</c:v>
                </c:pt>
                <c:pt idx="1">
                  <c:v>91.4</c:v>
                </c:pt>
                <c:pt idx="2">
                  <c:v>100</c:v>
                </c:pt>
              </c:numCache>
            </c:numRef>
          </c:val>
        </c:ser>
        <c:ser>
          <c:idx val="1"/>
          <c:order val="1"/>
          <c:tx>
            <c:strRef>
              <c:f>Sheet1!$C$1</c:f>
              <c:strCache>
                <c:ptCount val="1"/>
                <c:pt idx="0">
                  <c:v>0.014 in</c:v>
                </c:pt>
              </c:strCache>
            </c:strRef>
          </c:tx>
          <c:spPr>
            <a:solidFill>
              <a:srgbClr val="4A6FA5"/>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Sheet1!$C$2:$C$4</c:f>
              <c:numCache>
                <c:formatCode>General</c:formatCode>
                <c:ptCount val="3"/>
                <c:pt idx="0">
                  <c:v>93.4</c:v>
                </c:pt>
                <c:pt idx="1">
                  <c:v>98.7</c:v>
                </c:pt>
                <c:pt idx="2">
                  <c:v>100</c:v>
                </c:pt>
              </c:numCache>
            </c:numRef>
          </c:val>
        </c:ser>
        <c:ser>
          <c:idx val="2"/>
          <c:order val="2"/>
          <c:tx>
            <c:strRef>
              <c:f>Sheet1!$D$1</c:f>
              <c:strCache>
                <c:ptCount val="1"/>
                <c:pt idx="0">
                  <c:v>0.021 in</c:v>
                </c:pt>
              </c:strCache>
            </c:strRef>
          </c:tx>
          <c:spPr>
            <a:solidFill>
              <a:srgbClr val="13294B"/>
            </a:solidFill>
            <a:effectLst/>
          </c:spPr>
          <c:invertIfNegative val="0"/>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cat>
            <c:multiLvlStrRef>
              <c:f>Sheet1!$A$2:$A$4</c:f>
              <c:multiLvlStrCache>
                <c:ptCount val="3"/>
                <c:lvl>
                  <c:pt idx="0">
                    <c:v>Inner race</c:v>
                  </c:pt>
                  <c:pt idx="1">
                    <c:v>Ball</c:v>
                  </c:pt>
                  <c:pt idx="2">
                    <c:v>Outer race</c:v>
                  </c:pt>
                </c:lvl>
              </c:multiLvlStrCache>
            </c:multiLvlStrRef>
          </c:cat>
          <c:val>
            <c:numRef>
              <c:f>Sheet1!$D$2:$D$4</c:f>
              <c:numCache>
                <c:formatCode>General</c:formatCode>
                <c:ptCount val="3"/>
                <c:pt idx="0">
                  <c:v>99.3</c:v>
                </c:pt>
                <c:pt idx="1">
                  <c:v>97.4</c:v>
                </c:pt>
                <c:pt idx="2">
                  <c:v>99.3</c:v>
                </c:pt>
              </c:numCache>
            </c:numRef>
          </c:val>
        </c:ser>
        <c:dLbls>
          <c:numFmt formatCode="0" sourceLinked="0"/>
          <c:txPr>
            <a:bodyPr/>
            <a:lstStyle/>
            <a:p>
              <a:pPr>
                <a:defRPr b="0" i="0" strike="noStrike" sz="1000" u="none">
                  <a:solidFill>
                    <a:srgbClr val="374151"/>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74151"/>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5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47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74151"/>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presenting ResQFog, our project for Fundamentals of Fog and Edge Computing under Prof. Kauser Ahmed P. Following the last review we focused the system on water-supply pumping stations, and we added a machine learning model trained on real bearing vibration data, which runs on the fog server next to the threshold alarm on the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flow of the talk: the industry and the problem, what already exists, our objectives and novelty, the design, the two detection layers (thresholds on the ESP32 and the ML model on the fog server), the dashboard, testing, and the limitations.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chose water-supply pumping stations: borewell, sump and booster pumps. They are rotating machines whose common faults show up in vibration, they are unmanned, and the network at these sites is unreliable. The table maps each need to a feature of ResQFog.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Pumps fail gradually, and the first sign is a change in vibration. At an unmanned station nobody notices it. Our problem statement: detect abnormal vibration early with a low-cost node, protect the motor locally, tell the team which pump needs attention, and keep the data, even with a poor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Industrial products like Emerson's and Bently Nevada's wireless vibration transmitters do this well, but they are priced for large plants. Starter relays only see electrical faults. Cloud IoT products depend on the internet. There are also patents on vibration-based pump alarms and shutdown, so the idea of a vibration alarm on a pump is not new; our contribution is a low-cost edge-fog system with an ML early warning.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compares our work with recent research. Loukatos et al. is the closest: on-device ML on a water pump with a 100 Hz accelerometer. Mostafavi et al. train an autoencoder directly on a microcontroller and validate on a centrifugal pump. Arciniegas et al. and Yang et al. focus on TinyML and bearing faults, and Kolar et al. build an edge and fog framework using ISO severity rules. Their accuracy numbers come from different datasets, so they are not directly comparable. Our difference is the combination: a very cheap sensor, thresholds and motor protection at the edge, an ML early warning at the fog trained on public data processed to match our sensor, and the operational features for a network of pumps.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objectives are on the left. On the right is what is new. First, detection has two layers: the threshold alarm and trip on the ESP32, and an ML model on the fog that warns earlier. Second, the ML model is trained on real bearing data that we filter and resample to exactly what our sensor can measure, and it is then calibrated on each pump. Third, the protection runs at the edge but can be controlled from the fog. Fourth, nothing is lost during outages and every fault is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edge node reads a 256-sample vibration window every second, classifies the level against the thresholds, and controls the buzzer, LCD and motor. It sends the reading and the window to the fog server. The fog server computes the features, runs the Isolation Forest, runs the dashboard and sends SMS requests to Twilio. Commands go back to the edge inside the HTTP reply. Sending the raw window keeps the feature code in one place, the same Python code that was used for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one node, about 1,050 rupees in total. The MPU6050 is configured with its 184 Hz digital low-pass filter, which matters for the ML model. The ML runs on the fog server, so it needs no extra hardware at the pump.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uses only standard libraries. The fog server is Flask, and the ML uses NumPy, SciPy and scikit-learn. The new endpoint is /api/calibrate, which fits the model to a pump. Credentials are kept out of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layer is the threshold on the ESP32. It is fast, simple and works without a network: below 1 g normal, 1 to 1.2 g warning, above 1.2 g critical, and three critical readings in a row cut the motor. Its weakness is that it only reacts once the vibration level is already high, which is why we added the second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layer is the ML model on the fog server. We trained it on the CWRU bearing dataset, which contains real recordings of healthy and faulty bearings. The important step is that we first filter the data with the same 184 Hz low-pass filter as our MPU6050 and resample it to 500 Hz, so the model only uses information our sensor can actually measure. From each half-second window we compute the energy in ten frequency bands and train an Isolation Forest on healthy data only. Live, the ESP32 sends its window with every reading, the fog computes the same features and scores them, and three abnormal windows out of five raise an anomaly. Because every pump is different, a new pump is calibrated from about two minutes of normal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results on real CWRU data, after converting it to our sensor's bandwidth. Trained only on healthy windows, the Isolation Forest detected 97.7 % of fault windows with a 0.7 % false alarm rate on held-out healthy data, an F1 of 0.988 and an AUC of 0.999. Even the smallest faults, 0.007 inch, were detected. As a supervised reference, a Random Forest trained on three loads and tested on the fourth reached 87.4 %. One finding worth mentioning: our first attempt used shape features like kurtosis and crest factor and detected only 15 percent, because the 184 Hz filter removes the sharp impacts these features rely on. Frequency-band energy works much better at this bandwidth.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loop that runs every second. On the edge: record the window, compute and classify the vibration, sound the buzzer or trip, and send the reading with the window. On the fog: update the state, run the ML model, send an SMS on a new critical event and save the fault recording. The return path carries restart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features keep the edge independent of the network. The motor trip cuts power after three critical readings and can be cleared locally with the knob or remotely from the dashboard. The store-and-forward buffer keeps up to five minutes of readings when the fog server is unreachable and uploads them later with their timing.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top of the dashboard in the demo run with four pumps. Each pump has a card with its reading, state and ML status. Here PUMP-03 is selected: its vibration level is still normal at 0.47 g, but the ML model has flagged an abnormal pattern, so the panel shows an early warning and recommends planning an inspection. Two other pumps have tripped.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shows PUMP-03's earlier fault: the level rose through warning and critical, the motor tripped and was restarted. The event log shows the ML anomaly being raised before any threshold alarm. In the demo, the simulator replays real CWRU fault recordings about fifteen seconds before the vibration level rises, and the vote needs three windows, so the warning comes ten to fifteen seconds early, which is how an early fault develops. The dashboard shows the score and the limit, so the decision is explainable, and it works on a phone.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new critical event is recorded with 50 readings before and 50 after, saved as a CSV named with the pump and the time. These recordings will form our own labelled dataset from the rig.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1 to 6 were done on the hardware. The highlighted rows are the new features, tested against the fog server with a simulated edge node that sends the same messages as the firmware, plus the offline ML evaluation on CWRU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to be clear about the limitations. Our sensor's bandwidth is low, so we depend on low-frequency band energy rather than the sharp impacts of early bearing faults. The CWRU healthy and faulty files were recorded separately, which is a known caveat. We have not yet tested on faults induced on our own rig, and calibration assumes the pump is healthy. Next we will collect our own fault data, add a current sensor and a GSM module, consider a higher-bandwidth accelerometer, and run a field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 low-cost node per pump, protection at the edge, an ML early warning at the fog validated on real data, one dashboard for all pumps and no data loss. We plan to write this up as a conference paper, and a journal paper once we have our own fault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can show the system running: the ESP32 on the rig, ML calibration, an early warning, a motor trip and restart, and the offline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2800" b="1" dirty="0">
                <a:solidFill>
                  <a:srgbClr val="13294B"/>
                </a:solidFill>
                <a:latin typeface="Calibri" pitchFamily="34" charset="0"/>
                <a:ea typeface="Calibri" pitchFamily="34" charset="-122"/>
                <a:cs typeface="Calibri" pitchFamily="34" charset="-120"/>
              </a:defRPr>
            </a:lvl1pPr>
          </a:lstStyle>
          <a:p>
            <a:pPr algn="l" indent="0" marL="0">
              <a:buNone/>
            </a:pPr>
            <a:endParaRPr lang="en-US" sz="28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3A1"/>
                </a:solidFill>
                <a:latin typeface="Calibri" pitchFamily="34" charset="0"/>
                <a:ea typeface="Calibri" pitchFamily="34" charset="-122"/>
                <a:cs typeface="Calibri" pitchFamily="34" charset="-120"/>
              </a:rPr>
              <a:t>ResQFog  ·  Fog and Edge Computing project</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3294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6576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VIT</a:t>
            </a:r>
            <a:endParaRPr lang="en-US" sz="1800" dirty="0"/>
          </a:p>
        </p:txBody>
      </p:sp>
      <p:sp>
        <p:nvSpPr>
          <p:cNvPr id="3" name="Text 1"/>
          <p:cNvSpPr txBox="1"/>
          <p:nvPr/>
        </p:nvSpPr>
        <p:spPr>
          <a:xfrm>
            <a:off x="731520" y="914400"/>
            <a:ext cx="7315200" cy="320040"/>
          </a:xfrm>
          <a:prstGeom prst="rect">
            <a:avLst/>
          </a:prstGeom>
          <a:noFill/>
          <a:ln/>
        </p:spPr>
        <p:txBody>
          <a:bodyPr wrap="square" lIns="0" tIns="0" rIns="0" bIns="0" rtlCol="0" anchor="t"/>
          <a:lstStyle/>
          <a:p>
            <a:pPr indent="0" marL="0">
              <a:buNone/>
            </a:pPr>
            <a:r>
              <a:rPr lang="en-US" sz="1400" dirty="0">
                <a:solidFill>
                  <a:srgbClr val="C9D3E3"/>
                </a:solidFill>
                <a:latin typeface="Calibri" pitchFamily="34" charset="0"/>
                <a:ea typeface="Calibri" pitchFamily="34" charset="-122"/>
                <a:cs typeface="Calibri" pitchFamily="34" charset="-120"/>
              </a:rPr>
              <a:t>BCSE313L  ·  Fundamentals of Fog and Edge Computing</a:t>
            </a:r>
            <a:endParaRPr lang="en-US" sz="1400" dirty="0"/>
          </a:p>
        </p:txBody>
      </p:sp>
      <p:sp>
        <p:nvSpPr>
          <p:cNvPr id="4" name="Text 2"/>
          <p:cNvSpPr txBox="1"/>
          <p:nvPr/>
        </p:nvSpPr>
        <p:spPr>
          <a:xfrm>
            <a:off x="731520" y="2011680"/>
            <a:ext cx="5486400" cy="320040"/>
          </a:xfrm>
          <a:prstGeom prst="rect">
            <a:avLst/>
          </a:prstGeom>
          <a:noFill/>
          <a:ln/>
        </p:spPr>
        <p:txBody>
          <a:bodyPr wrap="square" lIns="0" tIns="0" rIns="0" bIns="0" rtlCol="0" anchor="t"/>
          <a:lstStyle/>
          <a:p>
            <a:pPr indent="0" marL="0">
              <a:buNone/>
            </a:pPr>
            <a:r>
              <a:rPr lang="en-US" sz="1300" b="1" spc="200" kern="0" dirty="0">
                <a:solidFill>
                  <a:srgbClr val="FDBA74"/>
                </a:solidFill>
                <a:latin typeface="Calibri" pitchFamily="34" charset="0"/>
                <a:ea typeface="Calibri" pitchFamily="34" charset="-122"/>
                <a:cs typeface="Calibri" pitchFamily="34" charset="-120"/>
              </a:rPr>
              <a:t>PROJECT REVIEW</a:t>
            </a:r>
            <a:endParaRPr lang="en-US" sz="1300" dirty="0"/>
          </a:p>
        </p:txBody>
      </p:sp>
      <p:sp>
        <p:nvSpPr>
          <p:cNvPr id="5" name="Text 3"/>
          <p:cNvSpPr/>
          <p:nvPr/>
        </p:nvSpPr>
        <p:spPr>
          <a:xfrm>
            <a:off x="731520" y="2331720"/>
            <a:ext cx="91440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ResQFog</a:t>
            </a:r>
            <a:endParaRPr lang="en-US" sz="5400" dirty="0"/>
          </a:p>
        </p:txBody>
      </p:sp>
      <p:sp>
        <p:nvSpPr>
          <p:cNvPr id="6" name="Text 4"/>
          <p:cNvSpPr txBox="1"/>
          <p:nvPr/>
        </p:nvSpPr>
        <p:spPr>
          <a:xfrm>
            <a:off x="731520" y="3291840"/>
            <a:ext cx="10515600" cy="822960"/>
          </a:xfrm>
          <a:prstGeom prst="rect">
            <a:avLst/>
          </a:prstGeom>
          <a:noFill/>
          <a:ln/>
        </p:spPr>
        <p:txBody>
          <a:bodyPr wrap="square" lIns="0" tIns="0" rIns="0" bIns="0" rtlCol="0" anchor="t"/>
          <a:lstStyle/>
          <a:p>
            <a:pPr indent="0" marL="0">
              <a:buNone/>
            </a:pPr>
            <a:r>
              <a:rPr lang="en-US" sz="2400" dirty="0">
                <a:solidFill>
                  <a:srgbClr val="E5EAF2"/>
                </a:solidFill>
                <a:latin typeface="Calibri" pitchFamily="34" charset="0"/>
                <a:ea typeface="Calibri" pitchFamily="34" charset="-122"/>
                <a:cs typeface="Calibri" pitchFamily="34" charset="-120"/>
              </a:rPr>
              <a:t>Edge–Fog–Cloud Condition Monitoring with ML Anomaly Detection for Water-Supply Pumping Stations</a:t>
            </a:r>
            <a:endParaRPr lang="en-US" sz="2400" dirty="0"/>
          </a:p>
        </p:txBody>
      </p:sp>
      <p:sp>
        <p:nvSpPr>
          <p:cNvPr id="7" name="Shape 5"/>
          <p:cNvSpPr/>
          <p:nvPr/>
        </p:nvSpPr>
        <p:spPr>
          <a:xfrm>
            <a:off x="731520" y="4892040"/>
            <a:ext cx="10698480" cy="0"/>
          </a:xfrm>
          <a:prstGeom prst="line">
            <a:avLst/>
          </a:prstGeom>
          <a:noFill/>
          <a:ln w="12700">
            <a:solidFill>
              <a:srgbClr val="2E4468"/>
            </a:solidFill>
            <a:prstDash val="solid"/>
          </a:ln>
        </p:spPr>
      </p:sp>
      <p:sp>
        <p:nvSpPr>
          <p:cNvPr id="8" name="Text 6"/>
          <p:cNvSpPr txBox="1"/>
          <p:nvPr/>
        </p:nvSpPr>
        <p:spPr>
          <a:xfrm>
            <a:off x="731520" y="5120640"/>
            <a:ext cx="2743200" cy="274320"/>
          </a:xfrm>
          <a:prstGeom prst="rect">
            <a:avLst/>
          </a:prstGeom>
          <a:noFill/>
          <a:ln/>
        </p:spPr>
        <p:txBody>
          <a:bodyPr wrap="square" lIns="0" tIns="0" rIns="0" bIns="0" rtlCol="0" anchor="t"/>
          <a:lstStyle/>
          <a:p>
            <a:pPr indent="0" marL="0">
              <a:buNone/>
            </a:pPr>
            <a:r>
              <a:rPr lang="en-US" sz="1200" dirty="0">
                <a:solidFill>
                  <a:srgbClr val="C9D3E3"/>
                </a:solidFill>
                <a:latin typeface="Calibri" pitchFamily="34" charset="0"/>
                <a:ea typeface="Calibri" pitchFamily="34" charset="-122"/>
                <a:cs typeface="Calibri" pitchFamily="34" charset="-120"/>
              </a:rPr>
              <a:t>Presented by</a:t>
            </a:r>
            <a:endParaRPr lang="en-US" sz="1200" dirty="0"/>
          </a:p>
        </p:txBody>
      </p:sp>
      <p:sp>
        <p:nvSpPr>
          <p:cNvPr id="9" name="Text 7"/>
          <p:cNvSpPr txBox="1"/>
          <p:nvPr/>
        </p:nvSpPr>
        <p:spPr>
          <a:xfrm>
            <a:off x="731520" y="5413248"/>
            <a:ext cx="3657600" cy="6400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ARUSH MISHRA  23BCT0199</a:t>
            </a:r>
            <a:endParaRPr lang="en-US" sz="1500" dirty="0"/>
          </a:p>
          <a:p>
            <a:pPr indent="0" marL="0">
              <a:buNone/>
            </a:pPr>
            <a:r>
              <a:rPr lang="en-US" sz="1500" b="1" dirty="0">
                <a:solidFill>
                  <a:srgbClr val="FFFFFF"/>
                </a:solidFill>
                <a:latin typeface="Calibri" pitchFamily="34" charset="0"/>
                <a:ea typeface="Calibri" pitchFamily="34" charset="-122"/>
                <a:cs typeface="Calibri" pitchFamily="34" charset="-120"/>
              </a:rPr>
              <a:t>ABUZAR SIDDIQI  23BCT0186</a:t>
            </a:r>
            <a:endParaRPr lang="en-US" sz="1500" dirty="0"/>
          </a:p>
        </p:txBody>
      </p:sp>
      <p:sp>
        <p:nvSpPr>
          <p:cNvPr id="10" name="Text 8"/>
          <p:cNvSpPr txBox="1"/>
          <p:nvPr/>
        </p:nvSpPr>
        <p:spPr>
          <a:xfrm>
            <a:off x="4754880" y="5120640"/>
            <a:ext cx="2743200" cy="274320"/>
          </a:xfrm>
          <a:prstGeom prst="rect">
            <a:avLst/>
          </a:prstGeom>
          <a:noFill/>
          <a:ln/>
        </p:spPr>
        <p:txBody>
          <a:bodyPr wrap="square" lIns="0" tIns="0" rIns="0" bIns="0" rtlCol="0" anchor="t"/>
          <a:lstStyle/>
          <a:p>
            <a:pPr indent="0" marL="0">
              <a:buNone/>
            </a:pPr>
            <a:r>
              <a:rPr lang="en-US" sz="1200" dirty="0">
                <a:solidFill>
                  <a:srgbClr val="C9D3E3"/>
                </a:solidFill>
                <a:latin typeface="Calibri" pitchFamily="34" charset="0"/>
                <a:ea typeface="Calibri" pitchFamily="34" charset="-122"/>
                <a:cs typeface="Calibri" pitchFamily="34" charset="-120"/>
              </a:rPr>
              <a:t>Course faculty</a:t>
            </a:r>
            <a:endParaRPr lang="en-US" sz="1200" dirty="0"/>
          </a:p>
        </p:txBody>
      </p:sp>
      <p:sp>
        <p:nvSpPr>
          <p:cNvPr id="11" name="Text 9"/>
          <p:cNvSpPr txBox="1"/>
          <p:nvPr/>
        </p:nvSpPr>
        <p:spPr>
          <a:xfrm>
            <a:off x="4754880" y="5413248"/>
            <a:ext cx="3657600" cy="32004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Prof. Kauser Ahmed P</a:t>
            </a:r>
            <a:endParaRPr lang="en-US" sz="1500" dirty="0"/>
          </a:p>
        </p:txBody>
      </p:sp>
      <p:sp>
        <p:nvSpPr>
          <p:cNvPr id="12" name="Text 10"/>
          <p:cNvSpPr txBox="1"/>
          <p:nvPr/>
        </p:nvSpPr>
        <p:spPr>
          <a:xfrm>
            <a:off x="8686800" y="5120640"/>
            <a:ext cx="2743200" cy="274320"/>
          </a:xfrm>
          <a:prstGeom prst="rect">
            <a:avLst/>
          </a:prstGeom>
          <a:noFill/>
          <a:ln/>
        </p:spPr>
        <p:txBody>
          <a:bodyPr wrap="square" lIns="0" tIns="0" rIns="0" bIns="0" rtlCol="0" anchor="t"/>
          <a:lstStyle/>
          <a:p>
            <a:pPr algn="r" indent="0" marL="0">
              <a:buNone/>
            </a:pPr>
            <a:r>
              <a:rPr lang="en-US" sz="1200" dirty="0">
                <a:solidFill>
                  <a:srgbClr val="C9D3E3"/>
                </a:solidFill>
                <a:latin typeface="Calibri" pitchFamily="34" charset="0"/>
                <a:ea typeface="Calibri" pitchFamily="34" charset="-122"/>
                <a:cs typeface="Calibri" pitchFamily="34" charset="-120"/>
              </a:rPr>
              <a:t>Date</a:t>
            </a:r>
            <a:endParaRPr lang="en-US" sz="1200" dirty="0"/>
          </a:p>
        </p:txBody>
      </p:sp>
      <p:sp>
        <p:nvSpPr>
          <p:cNvPr id="13" name="Text 11"/>
          <p:cNvSpPr txBox="1"/>
          <p:nvPr/>
        </p:nvSpPr>
        <p:spPr>
          <a:xfrm>
            <a:off x="8686800" y="5413248"/>
            <a:ext cx="2743200" cy="320040"/>
          </a:xfrm>
          <a:prstGeom prst="rect">
            <a:avLst/>
          </a:prstGeom>
          <a:noFill/>
          <a:ln/>
        </p:spPr>
        <p:txBody>
          <a:bodyPr wrap="square" lIns="0" tIns="0" rIns="0" bIns="0" rtlCol="0" anchor="t"/>
          <a:lstStyle/>
          <a:p>
            <a:pPr algn="r" indent="0" marL="0">
              <a:buNone/>
            </a:pPr>
            <a:r>
              <a:rPr lang="en-US" sz="1500" b="1" dirty="0">
                <a:solidFill>
                  <a:srgbClr val="FFFFFF"/>
                </a:solidFill>
                <a:latin typeface="Calibri" pitchFamily="34" charset="0"/>
                <a:ea typeface="Calibri" pitchFamily="34" charset="-122"/>
                <a:cs typeface="Calibri" pitchFamily="34" charset="-120"/>
              </a:rPr>
              <a:t>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Outline</a:t>
            </a:r>
            <a:endParaRPr lang="en-US" sz="2800" dirty="0"/>
          </a:p>
        </p:txBody>
      </p:sp>
      <p:sp>
        <p:nvSpPr>
          <p:cNvPr id="3" name="Text 1"/>
          <p:cNvSpPr txBox="1"/>
          <p:nvPr/>
        </p:nvSpPr>
        <p:spPr>
          <a:xfrm>
            <a:off x="548640" y="1325880"/>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1</a:t>
            </a:r>
            <a:endParaRPr lang="en-US" sz="1800" dirty="0"/>
          </a:p>
        </p:txBody>
      </p:sp>
      <p:sp>
        <p:nvSpPr>
          <p:cNvPr id="4" name="Text 2"/>
          <p:cNvSpPr txBox="1"/>
          <p:nvPr/>
        </p:nvSpPr>
        <p:spPr>
          <a:xfrm>
            <a:off x="1051560" y="1325880"/>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Target industry and problem</a:t>
            </a:r>
            <a:endParaRPr lang="en-US" sz="1700" dirty="0"/>
          </a:p>
        </p:txBody>
      </p:sp>
      <p:sp>
        <p:nvSpPr>
          <p:cNvPr id="5" name="Shape 3"/>
          <p:cNvSpPr/>
          <p:nvPr/>
        </p:nvSpPr>
        <p:spPr>
          <a:xfrm>
            <a:off x="548640" y="1984248"/>
            <a:ext cx="5257800" cy="0"/>
          </a:xfrm>
          <a:prstGeom prst="line">
            <a:avLst/>
          </a:prstGeom>
          <a:noFill/>
          <a:ln w="9525">
            <a:solidFill>
              <a:srgbClr val="E5E7EB"/>
            </a:solidFill>
            <a:prstDash val="solid"/>
          </a:ln>
        </p:spPr>
      </p:sp>
      <p:sp>
        <p:nvSpPr>
          <p:cNvPr id="6" name="Text 4"/>
          <p:cNvSpPr txBox="1"/>
          <p:nvPr/>
        </p:nvSpPr>
        <p:spPr>
          <a:xfrm>
            <a:off x="548640" y="1984248"/>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2</a:t>
            </a:r>
            <a:endParaRPr lang="en-US" sz="1800" dirty="0"/>
          </a:p>
        </p:txBody>
      </p:sp>
      <p:sp>
        <p:nvSpPr>
          <p:cNvPr id="7" name="Text 5"/>
          <p:cNvSpPr txBox="1"/>
          <p:nvPr/>
        </p:nvSpPr>
        <p:spPr>
          <a:xfrm>
            <a:off x="1051560" y="1984248"/>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Existing solutions and research</a:t>
            </a:r>
            <a:endParaRPr lang="en-US" sz="1700" dirty="0"/>
          </a:p>
        </p:txBody>
      </p:sp>
      <p:sp>
        <p:nvSpPr>
          <p:cNvPr id="8" name="Shape 6"/>
          <p:cNvSpPr/>
          <p:nvPr/>
        </p:nvSpPr>
        <p:spPr>
          <a:xfrm>
            <a:off x="548640" y="2642616"/>
            <a:ext cx="5257800" cy="0"/>
          </a:xfrm>
          <a:prstGeom prst="line">
            <a:avLst/>
          </a:prstGeom>
          <a:noFill/>
          <a:ln w="9525">
            <a:solidFill>
              <a:srgbClr val="E5E7EB"/>
            </a:solidFill>
            <a:prstDash val="solid"/>
          </a:ln>
        </p:spPr>
      </p:sp>
      <p:sp>
        <p:nvSpPr>
          <p:cNvPr id="9" name="Text 7"/>
          <p:cNvSpPr txBox="1"/>
          <p:nvPr/>
        </p:nvSpPr>
        <p:spPr>
          <a:xfrm>
            <a:off x="548640" y="2642616"/>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3</a:t>
            </a:r>
            <a:endParaRPr lang="en-US" sz="1800" dirty="0"/>
          </a:p>
        </p:txBody>
      </p:sp>
      <p:sp>
        <p:nvSpPr>
          <p:cNvPr id="10" name="Text 8"/>
          <p:cNvSpPr txBox="1"/>
          <p:nvPr/>
        </p:nvSpPr>
        <p:spPr>
          <a:xfrm>
            <a:off x="1051560" y="2642616"/>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Objectives and novelty</a:t>
            </a:r>
            <a:endParaRPr lang="en-US" sz="1700" dirty="0"/>
          </a:p>
        </p:txBody>
      </p:sp>
      <p:sp>
        <p:nvSpPr>
          <p:cNvPr id="11" name="Shape 9"/>
          <p:cNvSpPr/>
          <p:nvPr/>
        </p:nvSpPr>
        <p:spPr>
          <a:xfrm>
            <a:off x="548640" y="3300984"/>
            <a:ext cx="5257800" cy="0"/>
          </a:xfrm>
          <a:prstGeom prst="line">
            <a:avLst/>
          </a:prstGeom>
          <a:noFill/>
          <a:ln w="9525">
            <a:solidFill>
              <a:srgbClr val="E5E7EB"/>
            </a:solidFill>
            <a:prstDash val="solid"/>
          </a:ln>
        </p:spPr>
      </p:sp>
      <p:sp>
        <p:nvSpPr>
          <p:cNvPr id="12" name="Text 10"/>
          <p:cNvSpPr txBox="1"/>
          <p:nvPr/>
        </p:nvSpPr>
        <p:spPr>
          <a:xfrm>
            <a:off x="548640" y="3300984"/>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4</a:t>
            </a:r>
            <a:endParaRPr lang="en-US" sz="1800" dirty="0"/>
          </a:p>
        </p:txBody>
      </p:sp>
      <p:sp>
        <p:nvSpPr>
          <p:cNvPr id="13" name="Text 11"/>
          <p:cNvSpPr txBox="1"/>
          <p:nvPr/>
        </p:nvSpPr>
        <p:spPr>
          <a:xfrm>
            <a:off x="1051560" y="3300984"/>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System architecture</a:t>
            </a:r>
            <a:endParaRPr lang="en-US" sz="1700" dirty="0"/>
          </a:p>
        </p:txBody>
      </p:sp>
      <p:sp>
        <p:nvSpPr>
          <p:cNvPr id="14" name="Shape 12"/>
          <p:cNvSpPr/>
          <p:nvPr/>
        </p:nvSpPr>
        <p:spPr>
          <a:xfrm>
            <a:off x="548640" y="3959352"/>
            <a:ext cx="5257800" cy="0"/>
          </a:xfrm>
          <a:prstGeom prst="line">
            <a:avLst/>
          </a:prstGeom>
          <a:noFill/>
          <a:ln w="9525">
            <a:solidFill>
              <a:srgbClr val="E5E7EB"/>
            </a:solidFill>
            <a:prstDash val="solid"/>
          </a:ln>
        </p:spPr>
      </p:sp>
      <p:sp>
        <p:nvSpPr>
          <p:cNvPr id="15" name="Text 13"/>
          <p:cNvSpPr txBox="1"/>
          <p:nvPr/>
        </p:nvSpPr>
        <p:spPr>
          <a:xfrm>
            <a:off x="548640" y="3959352"/>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5</a:t>
            </a:r>
            <a:endParaRPr lang="en-US" sz="1800" dirty="0"/>
          </a:p>
        </p:txBody>
      </p:sp>
      <p:sp>
        <p:nvSpPr>
          <p:cNvPr id="16" name="Text 14"/>
          <p:cNvSpPr txBox="1"/>
          <p:nvPr/>
        </p:nvSpPr>
        <p:spPr>
          <a:xfrm>
            <a:off x="1051560" y="3959352"/>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Hardware and software</a:t>
            </a:r>
            <a:endParaRPr lang="en-US" sz="1700" dirty="0"/>
          </a:p>
        </p:txBody>
      </p:sp>
      <p:sp>
        <p:nvSpPr>
          <p:cNvPr id="17" name="Shape 15"/>
          <p:cNvSpPr/>
          <p:nvPr/>
        </p:nvSpPr>
        <p:spPr>
          <a:xfrm>
            <a:off x="548640" y="4617720"/>
            <a:ext cx="5257800" cy="0"/>
          </a:xfrm>
          <a:prstGeom prst="line">
            <a:avLst/>
          </a:prstGeom>
          <a:noFill/>
          <a:ln w="9525">
            <a:solidFill>
              <a:srgbClr val="E5E7EB"/>
            </a:solidFill>
            <a:prstDash val="solid"/>
          </a:ln>
        </p:spPr>
      </p:sp>
      <p:sp>
        <p:nvSpPr>
          <p:cNvPr id="18" name="Text 16"/>
          <p:cNvSpPr txBox="1"/>
          <p:nvPr/>
        </p:nvSpPr>
        <p:spPr>
          <a:xfrm>
            <a:off x="548640" y="4617720"/>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6</a:t>
            </a:r>
            <a:endParaRPr lang="en-US" sz="1800" dirty="0"/>
          </a:p>
        </p:txBody>
      </p:sp>
      <p:sp>
        <p:nvSpPr>
          <p:cNvPr id="19" name="Text 17"/>
          <p:cNvSpPr txBox="1"/>
          <p:nvPr/>
        </p:nvSpPr>
        <p:spPr>
          <a:xfrm>
            <a:off x="1051560" y="4617720"/>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Threshold detection and protection</a:t>
            </a:r>
            <a:endParaRPr lang="en-US" sz="1700" dirty="0"/>
          </a:p>
        </p:txBody>
      </p:sp>
      <p:sp>
        <p:nvSpPr>
          <p:cNvPr id="20" name="Text 18"/>
          <p:cNvSpPr txBox="1"/>
          <p:nvPr/>
        </p:nvSpPr>
        <p:spPr>
          <a:xfrm>
            <a:off x="6355080" y="1325880"/>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7</a:t>
            </a:r>
            <a:endParaRPr lang="en-US" sz="1800" dirty="0"/>
          </a:p>
        </p:txBody>
      </p:sp>
      <p:sp>
        <p:nvSpPr>
          <p:cNvPr id="21" name="Text 19"/>
          <p:cNvSpPr txBox="1"/>
          <p:nvPr/>
        </p:nvSpPr>
        <p:spPr>
          <a:xfrm>
            <a:off x="6858000" y="1325880"/>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ML model: data, method, results</a:t>
            </a:r>
            <a:endParaRPr lang="en-US" sz="1700" dirty="0"/>
          </a:p>
        </p:txBody>
      </p:sp>
      <p:sp>
        <p:nvSpPr>
          <p:cNvPr id="22" name="Shape 20"/>
          <p:cNvSpPr/>
          <p:nvPr/>
        </p:nvSpPr>
        <p:spPr>
          <a:xfrm>
            <a:off x="6355080" y="1984248"/>
            <a:ext cx="5257800" cy="0"/>
          </a:xfrm>
          <a:prstGeom prst="line">
            <a:avLst/>
          </a:prstGeom>
          <a:noFill/>
          <a:ln w="9525">
            <a:solidFill>
              <a:srgbClr val="E5E7EB"/>
            </a:solidFill>
            <a:prstDash val="solid"/>
          </a:ln>
        </p:spPr>
      </p:sp>
      <p:sp>
        <p:nvSpPr>
          <p:cNvPr id="23" name="Text 21"/>
          <p:cNvSpPr txBox="1"/>
          <p:nvPr/>
        </p:nvSpPr>
        <p:spPr>
          <a:xfrm>
            <a:off x="6355080" y="1984248"/>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8</a:t>
            </a:r>
            <a:endParaRPr lang="en-US" sz="1800" dirty="0"/>
          </a:p>
        </p:txBody>
      </p:sp>
      <p:sp>
        <p:nvSpPr>
          <p:cNvPr id="24" name="Text 22"/>
          <p:cNvSpPr txBox="1"/>
          <p:nvPr/>
        </p:nvSpPr>
        <p:spPr>
          <a:xfrm>
            <a:off x="6858000" y="1984248"/>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Dashboard and early warning</a:t>
            </a:r>
            <a:endParaRPr lang="en-US" sz="1700" dirty="0"/>
          </a:p>
        </p:txBody>
      </p:sp>
      <p:sp>
        <p:nvSpPr>
          <p:cNvPr id="25" name="Shape 23"/>
          <p:cNvSpPr/>
          <p:nvPr/>
        </p:nvSpPr>
        <p:spPr>
          <a:xfrm>
            <a:off x="6355080" y="2642616"/>
            <a:ext cx="5257800" cy="0"/>
          </a:xfrm>
          <a:prstGeom prst="line">
            <a:avLst/>
          </a:prstGeom>
          <a:noFill/>
          <a:ln w="9525">
            <a:solidFill>
              <a:srgbClr val="E5E7EB"/>
            </a:solidFill>
            <a:prstDash val="solid"/>
          </a:ln>
        </p:spPr>
      </p:sp>
      <p:sp>
        <p:nvSpPr>
          <p:cNvPr id="26" name="Text 24"/>
          <p:cNvSpPr txBox="1"/>
          <p:nvPr/>
        </p:nvSpPr>
        <p:spPr>
          <a:xfrm>
            <a:off x="6355080" y="2642616"/>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9</a:t>
            </a:r>
            <a:endParaRPr lang="en-US" sz="1800" dirty="0"/>
          </a:p>
        </p:txBody>
      </p:sp>
      <p:sp>
        <p:nvSpPr>
          <p:cNvPr id="27" name="Text 25"/>
          <p:cNvSpPr txBox="1"/>
          <p:nvPr/>
        </p:nvSpPr>
        <p:spPr>
          <a:xfrm>
            <a:off x="6858000" y="2642616"/>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Fault recording</a:t>
            </a:r>
            <a:endParaRPr lang="en-US" sz="1700" dirty="0"/>
          </a:p>
        </p:txBody>
      </p:sp>
      <p:sp>
        <p:nvSpPr>
          <p:cNvPr id="28" name="Shape 26"/>
          <p:cNvSpPr/>
          <p:nvPr/>
        </p:nvSpPr>
        <p:spPr>
          <a:xfrm>
            <a:off x="6355080" y="3300984"/>
            <a:ext cx="5257800" cy="0"/>
          </a:xfrm>
          <a:prstGeom prst="line">
            <a:avLst/>
          </a:prstGeom>
          <a:noFill/>
          <a:ln w="9525">
            <a:solidFill>
              <a:srgbClr val="E5E7EB"/>
            </a:solidFill>
            <a:prstDash val="solid"/>
          </a:ln>
        </p:spPr>
      </p:sp>
      <p:sp>
        <p:nvSpPr>
          <p:cNvPr id="29" name="Text 27"/>
          <p:cNvSpPr txBox="1"/>
          <p:nvPr/>
        </p:nvSpPr>
        <p:spPr>
          <a:xfrm>
            <a:off x="6355080" y="3300984"/>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10</a:t>
            </a:r>
            <a:endParaRPr lang="en-US" sz="1800" dirty="0"/>
          </a:p>
        </p:txBody>
      </p:sp>
      <p:sp>
        <p:nvSpPr>
          <p:cNvPr id="30" name="Text 28"/>
          <p:cNvSpPr txBox="1"/>
          <p:nvPr/>
        </p:nvSpPr>
        <p:spPr>
          <a:xfrm>
            <a:off x="6858000" y="3300984"/>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Testing and results</a:t>
            </a:r>
            <a:endParaRPr lang="en-US" sz="1700" dirty="0"/>
          </a:p>
        </p:txBody>
      </p:sp>
      <p:sp>
        <p:nvSpPr>
          <p:cNvPr id="31" name="Shape 29"/>
          <p:cNvSpPr/>
          <p:nvPr/>
        </p:nvSpPr>
        <p:spPr>
          <a:xfrm>
            <a:off x="6355080" y="3959352"/>
            <a:ext cx="5257800" cy="0"/>
          </a:xfrm>
          <a:prstGeom prst="line">
            <a:avLst/>
          </a:prstGeom>
          <a:noFill/>
          <a:ln w="9525">
            <a:solidFill>
              <a:srgbClr val="E5E7EB"/>
            </a:solidFill>
            <a:prstDash val="solid"/>
          </a:ln>
        </p:spPr>
      </p:sp>
      <p:sp>
        <p:nvSpPr>
          <p:cNvPr id="32" name="Text 30"/>
          <p:cNvSpPr txBox="1"/>
          <p:nvPr/>
        </p:nvSpPr>
        <p:spPr>
          <a:xfrm>
            <a:off x="6355080" y="3959352"/>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11</a:t>
            </a:r>
            <a:endParaRPr lang="en-US" sz="1800" dirty="0"/>
          </a:p>
        </p:txBody>
      </p:sp>
      <p:sp>
        <p:nvSpPr>
          <p:cNvPr id="33" name="Text 31"/>
          <p:cNvSpPr txBox="1"/>
          <p:nvPr/>
        </p:nvSpPr>
        <p:spPr>
          <a:xfrm>
            <a:off x="6858000" y="3959352"/>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Limitations and future work</a:t>
            </a:r>
            <a:endParaRPr lang="en-US" sz="1700" dirty="0"/>
          </a:p>
        </p:txBody>
      </p:sp>
      <p:sp>
        <p:nvSpPr>
          <p:cNvPr id="34" name="Shape 32"/>
          <p:cNvSpPr/>
          <p:nvPr/>
        </p:nvSpPr>
        <p:spPr>
          <a:xfrm>
            <a:off x="6355080" y="4617720"/>
            <a:ext cx="5257800" cy="0"/>
          </a:xfrm>
          <a:prstGeom prst="line">
            <a:avLst/>
          </a:prstGeom>
          <a:noFill/>
          <a:ln w="9525">
            <a:solidFill>
              <a:srgbClr val="E5E7EB"/>
            </a:solidFill>
            <a:prstDash val="solid"/>
          </a:ln>
        </p:spPr>
      </p:sp>
      <p:sp>
        <p:nvSpPr>
          <p:cNvPr id="35" name="Text 33"/>
          <p:cNvSpPr txBox="1"/>
          <p:nvPr/>
        </p:nvSpPr>
        <p:spPr>
          <a:xfrm>
            <a:off x="6355080" y="4617720"/>
            <a:ext cx="457200" cy="658368"/>
          </a:xfrm>
          <a:prstGeom prst="rect">
            <a:avLst/>
          </a:prstGeom>
          <a:noFill/>
          <a:ln/>
        </p:spPr>
        <p:txBody>
          <a:bodyPr wrap="square" lIns="0" tIns="0" rIns="0" bIns="0" rtlCol="0" anchor="ctr"/>
          <a:lstStyle/>
          <a:p>
            <a:pPr indent="0" marL="0">
              <a:buNone/>
            </a:pPr>
            <a:r>
              <a:rPr lang="en-US" sz="1800" b="1" dirty="0">
                <a:solidFill>
                  <a:srgbClr val="C2410C"/>
                </a:solidFill>
                <a:latin typeface="Calibri" pitchFamily="34" charset="0"/>
                <a:ea typeface="Calibri" pitchFamily="34" charset="-122"/>
                <a:cs typeface="Calibri" pitchFamily="34" charset="-120"/>
              </a:rPr>
              <a:t>12</a:t>
            </a:r>
            <a:endParaRPr lang="en-US" sz="1800" dirty="0"/>
          </a:p>
        </p:txBody>
      </p:sp>
      <p:sp>
        <p:nvSpPr>
          <p:cNvPr id="36" name="Text 34"/>
          <p:cNvSpPr txBox="1"/>
          <p:nvPr/>
        </p:nvSpPr>
        <p:spPr>
          <a:xfrm>
            <a:off x="6858000" y="4617720"/>
            <a:ext cx="4663440" cy="658368"/>
          </a:xfrm>
          <a:prstGeom prst="rect">
            <a:avLst/>
          </a:prstGeom>
          <a:noFill/>
          <a:ln/>
        </p:spPr>
        <p:txBody>
          <a:bodyPr wrap="square" lIns="0" tIns="0" rIns="0" bIns="0" rtlCol="0" anchor="ctr"/>
          <a:lstStyle/>
          <a:p>
            <a:pPr indent="0" marL="0">
              <a:buNone/>
            </a:pPr>
            <a:r>
              <a:rPr lang="en-US" sz="1700" dirty="0">
                <a:solidFill>
                  <a:srgbClr val="374151"/>
                </a:solidFill>
                <a:latin typeface="Calibri" pitchFamily="34" charset="0"/>
                <a:ea typeface="Calibri" pitchFamily="34" charset="-122"/>
                <a:cs typeface="Calibri" pitchFamily="34" charset="-120"/>
              </a:rPr>
              <a:t>Conclusion</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Target Industry: Water-Supply Pumping Stations</a:t>
            </a:r>
            <a:endParaRPr lang="en-US" sz="2800" dirty="0"/>
          </a:p>
        </p:txBody>
      </p:sp>
      <p:sp>
        <p:nvSpPr>
          <p:cNvPr id="3" name="Text 1"/>
          <p:cNvSpPr txBox="1"/>
          <p:nvPr/>
        </p:nvSpPr>
        <p:spPr>
          <a:xfrm>
            <a:off x="548640" y="1234440"/>
            <a:ext cx="5212080" cy="86868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We applied ResQFog to the electric pumps that supply drinking water to towns and villages: borewell pumps, sump and booster pumps, and the pumps that fill overhead tanks.</a:t>
            </a:r>
            <a:endParaRPr lang="en-US" sz="1600" dirty="0"/>
          </a:p>
        </p:txBody>
      </p:sp>
      <p:sp>
        <p:nvSpPr>
          <p:cNvPr id="4" name="Text 2"/>
          <p:cNvSpPr txBox="1"/>
          <p:nvPr/>
        </p:nvSpPr>
        <p:spPr>
          <a:xfrm>
            <a:off x="548640" y="2240280"/>
            <a:ext cx="52120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Why this industry</a:t>
            </a:r>
            <a:endParaRPr lang="en-US" sz="1600" dirty="0"/>
          </a:p>
        </p:txBody>
      </p:sp>
      <p:sp>
        <p:nvSpPr>
          <p:cNvPr id="5" name="Text 3"/>
          <p:cNvSpPr txBox="1"/>
          <p:nvPr/>
        </p:nvSpPr>
        <p:spPr>
          <a:xfrm>
            <a:off x="548640" y="2606040"/>
            <a:ext cx="5212080" cy="356616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Pumps are rotating machines; bearing wear, impeller imbalance, misalignment and cavitation all change vibration</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Stations are spread out and usually unmanned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A failed pump is often noticed only when the taps run dry, by which time the motor may be burnt</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Mobile coverage at remote sites is patchy</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Rural schemes such as Jal Jeevan Mission keep adding pump-based supply schemes that need maintenance</a:t>
            </a:r>
            <a:endParaRPr lang="en-US" sz="1500" dirty="0"/>
          </a:p>
        </p:txBody>
      </p:sp>
      <p:sp>
        <p:nvSpPr>
          <p:cNvPr id="6" name="Text 4"/>
          <p:cNvSpPr txBox="1"/>
          <p:nvPr/>
        </p:nvSpPr>
        <p:spPr>
          <a:xfrm>
            <a:off x="6172200" y="123444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What a pumping station needs, and how ResQFog provides it</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172200" y="1645920"/>
          <a:ext cx="5468112" cy="914400"/>
        </p:xfrm>
        <a:graphic>
          <a:graphicData uri="http://schemas.openxmlformats.org/drawingml/2006/table">
            <a:tbl>
              <a:tblPr/>
              <a:tblGrid>
                <a:gridCol w="1920240"/>
                <a:gridCol w="3547872"/>
              </a:tblGrid>
              <a:tr h="502920">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Need at the site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ResQFog feature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Nobody on site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SMS to the maintenance engineer, naming the pump</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Early warning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ML model flags an abnormal vibration pattern before the level alarm</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Unreliable network</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Alarm and motor trip decided on the ESP32; readings buffered offline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Costly motor burn-outs</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Automatic trip after sustained critical vibration</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Planning repairs</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Fault recording: 50 readings before and 50 after each fault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172200" y="4983480"/>
            <a:ext cx="5468112" cy="73152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The node itself works on any rotating machine (fans, compressors, conveyors). Pumping stations are where all of its features are needed together.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Problem Statement</a:t>
            </a:r>
            <a:endParaRPr lang="en-US" sz="2800" dirty="0"/>
          </a:p>
        </p:txBody>
      </p:sp>
      <p:sp>
        <p:nvSpPr>
          <p:cNvPr id="3" name="Text 1"/>
          <p:cNvSpPr txBox="1"/>
          <p:nvPr/>
        </p:nvSpPr>
        <p:spPr>
          <a:xfrm>
            <a:off x="548640" y="1280160"/>
            <a:ext cx="6035040" cy="1463040"/>
          </a:xfrm>
          <a:prstGeom prst="rect">
            <a:avLst/>
          </a:prstGeom>
          <a:noFill/>
          <a:ln/>
        </p:spPr>
        <p:txBody>
          <a:bodyPr wrap="square" lIns="0" tIns="0" rIns="0" bIns="0" rtlCol="0" anchor="t"/>
          <a:lstStyle/>
          <a:p>
            <a:pPr indent="0" marL="0">
              <a:buNone/>
            </a:pPr>
            <a:r>
              <a:rPr lang="en-US" sz="1600" dirty="0">
                <a:solidFill>
                  <a:srgbClr val="1F2937"/>
                </a:solidFill>
                <a:latin typeface="Calibri" pitchFamily="34" charset="0"/>
                <a:ea typeface="Calibri" pitchFamily="34" charset="-122"/>
                <a:cs typeface="Calibri" pitchFamily="34" charset="-120"/>
              </a:rPr>
              <a:t>A water-supply pump usually fails gradually. Bearings wear, the impeller goes out of balance or the shaft becomes misaligned, and the first visible sign is a change in vibration. At an unmanned pumping station nobody is there to notice it, so the fault grows until the motor stops or burns out.</a:t>
            </a:r>
            <a:endParaRPr lang="en-US" sz="1600" dirty="0"/>
          </a:p>
        </p:txBody>
      </p:sp>
      <p:sp>
        <p:nvSpPr>
          <p:cNvPr id="4" name="Shape 2"/>
          <p:cNvSpPr/>
          <p:nvPr/>
        </p:nvSpPr>
        <p:spPr>
          <a:xfrm>
            <a:off x="548640" y="2971800"/>
            <a:ext cx="6035040" cy="2057400"/>
          </a:xfrm>
          <a:prstGeom prst="roundRect">
            <a:avLst>
              <a:gd name="adj" fmla="val 3556"/>
            </a:avLst>
          </a:prstGeom>
          <a:solidFill>
            <a:srgbClr val="FCEFE7"/>
          </a:solidFill>
          <a:ln w="12700">
            <a:solidFill>
              <a:srgbClr val="FCEFE7"/>
            </a:solidFill>
            <a:prstDash val="solid"/>
          </a:ln>
        </p:spPr>
      </p:sp>
      <p:sp>
        <p:nvSpPr>
          <p:cNvPr id="5" name="Text 3"/>
          <p:cNvSpPr txBox="1"/>
          <p:nvPr/>
        </p:nvSpPr>
        <p:spPr>
          <a:xfrm>
            <a:off x="822960" y="3154680"/>
            <a:ext cx="5486400" cy="274320"/>
          </a:xfrm>
          <a:prstGeom prst="rect">
            <a:avLst/>
          </a:prstGeom>
          <a:noFill/>
          <a:ln/>
        </p:spPr>
        <p:txBody>
          <a:bodyPr wrap="square" lIns="0" tIns="0" rIns="0" bIns="0" rtlCol="0" anchor="t"/>
          <a:lstStyle/>
          <a:p>
            <a:pPr indent="0" marL="0">
              <a:buNone/>
            </a:pPr>
            <a:r>
              <a:rPr lang="en-US" sz="1200" b="1" spc="100" kern="0" dirty="0">
                <a:solidFill>
                  <a:srgbClr val="C2410C"/>
                </a:solidFill>
                <a:latin typeface="Calibri" pitchFamily="34" charset="0"/>
                <a:ea typeface="Calibri" pitchFamily="34" charset="-122"/>
                <a:cs typeface="Calibri" pitchFamily="34" charset="-120"/>
              </a:rPr>
              <a:t>PROBLEM ADDRESSED</a:t>
            </a:r>
            <a:endParaRPr lang="en-US" sz="1200" dirty="0"/>
          </a:p>
        </p:txBody>
      </p:sp>
      <p:sp>
        <p:nvSpPr>
          <p:cNvPr id="6" name="Text 4"/>
          <p:cNvSpPr txBox="1"/>
          <p:nvPr/>
        </p:nvSpPr>
        <p:spPr>
          <a:xfrm>
            <a:off x="822960" y="3474720"/>
            <a:ext cx="5486400" cy="1463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How can a low-cost node on each pump detect abnormal vibration early, protect the motor on its own, tell the maintenance team which pump needs attention, and keep the data needed to analyse the fault, even when the network is unreliable?</a:t>
            </a:r>
            <a:endParaRPr lang="en-US" sz="1600" dirty="0"/>
          </a:p>
        </p:txBody>
      </p:sp>
      <p:sp>
        <p:nvSpPr>
          <p:cNvPr id="7" name="Text 5"/>
          <p:cNvSpPr txBox="1"/>
          <p:nvPr/>
        </p:nvSpPr>
        <p:spPr>
          <a:xfrm>
            <a:off x="7086600" y="1280160"/>
            <a:ext cx="45720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Effects of late detection</a:t>
            </a:r>
            <a:endParaRPr lang="en-US" sz="1600" dirty="0"/>
          </a:p>
        </p:txBody>
      </p:sp>
      <p:sp>
        <p:nvSpPr>
          <p:cNvPr id="8" name="Text 6"/>
          <p:cNvSpPr txBox="1"/>
          <p:nvPr/>
        </p:nvSpPr>
        <p:spPr>
          <a:xfrm>
            <a:off x="7086600" y="1691640"/>
            <a:ext cx="4553712" cy="32918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Water supply cut for the whole area served by the pump</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Motor rewinding or replacement instead of a bearing change</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Technician time wasted finding which pump has failed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No record of the conditions that led to the failure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Existing Solutions and Their Gaps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788920"/>
                <a:gridCol w="1005840"/>
                <a:gridCol w="1600200"/>
                <a:gridCol w="1371600"/>
                <a:gridCol w="1600200"/>
                <a:gridCol w="1417320"/>
                <a:gridCol w="1307592"/>
              </a:tblGrid>
              <a:tr h="54864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Approach</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Continuous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Works without internet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Early warning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Protects motor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Fault data kept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Cost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4864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Operator visits and manual checks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Not applicable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SCADA / wireless vibration transmitters (e.g. Emerson, Bently Nevada)</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 by experts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Starter with overload / dry-run relay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Electrical faults only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Low</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GSM pump controllers, cloud IoT apps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Rarely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On/off only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Raw stream</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Low to medium</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4864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ResQFog (this work)</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 edge alarm and trip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 ML at fog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Yes, vibration trip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50 before + 50 after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Low, about ₹1,050 per pump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bl>
          </a:graphicData>
        </a:graphic>
      </p:graphicFrame>
      <p:sp>
        <p:nvSpPr>
          <p:cNvPr id="4" name="Text 1"/>
          <p:cNvSpPr txBox="1"/>
          <p:nvPr/>
        </p:nvSpPr>
        <p:spPr>
          <a:xfrm>
            <a:off x="548640" y="5349240"/>
            <a:ext cx="11094415" cy="91440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Industrial wireless vibration monitoring exists, but it is priced for large plants. Starter relays react to electrical faults, not the mechanical faults that show up first as vibration. Most low-cost IoT products depend on the internet for every decision. Patents such as US 10,317,875 (vibration-based pump alarm and shutdown) and US 10,711,802 (pump wear from casing vibration) already cover vibration alarms on pumps.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Related Research and Comparison</a:t>
            </a:r>
            <a:endParaRPr lang="en-US" sz="2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240280"/>
                <a:gridCol w="2011680"/>
                <a:gridCol w="1874520"/>
                <a:gridCol w="2148840"/>
                <a:gridCol w="1463040"/>
                <a:gridCol w="1353312"/>
              </a:tblGrid>
              <a:tr h="566928">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Work</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Hardware</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Where detection runs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Data</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Multi-pump, alerts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200" b="1" dirty="0">
                          <a:solidFill>
                            <a:srgbClr val="13294B"/>
                          </a:solidFill>
                          <a:latin typeface="Calibri" pitchFamily="34" charset="0"/>
                          <a:ea typeface="Calibri" pitchFamily="34" charset="-122"/>
                          <a:cs typeface="Calibri" pitchFamily="34" charset="-120"/>
                        </a:rPr>
                        <a:t>Motor protection</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Loukatos et al., Sensors, 2023</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Arduino Nano 33 BLE, accelerometer at 100 Hz</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On-device neural network</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Lab water pump, 5 states; 93 % on test runs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Mostafavi et al., Sharif J. Mech. Eng., 2025</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STM32H7 + 3-axis accelerometer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Autoencoder trained on the MCU</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Centrifugal pump; &gt;99.9 %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Arciniegas et al., Discover IoT, 2025</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Low-power MCU, TinyML</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Edge, spectral features + DL</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Lab motor bearings; 96.5 %</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Alert generation</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Yang et al., CSCWD, 2023</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MCU + edge server</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Stacked autoencoder, end-edge</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CWRU</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Kolar et al., Tehnički Glasnik, 2022</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IIoT accelerometer, edge and fog</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ISO 10816 severity rules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Industrial rotating equipment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Dashboard (Node-RED, MQTT)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Not reported</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374151"/>
                          </a:solidFill>
                          <a:latin typeface="Calibri" pitchFamily="34" charset="0"/>
                          <a:ea typeface="Calibri" pitchFamily="34" charset="-122"/>
                          <a:cs typeface="Calibri" pitchFamily="34" charset="-120"/>
                        </a:rPr>
                        <a:t>ResQFog (this work)</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ESP32 + MPU6050, about ₹1,050</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Thresholds on the edge; Isolation Forest on the fog</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CWRU at MPU6050 bandwidth; 97.7 % detection, 0.7 % false alarms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Yes: fleet dashboard, SMS, CSV recordings</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200" dirty="0">
                          <a:solidFill>
                            <a:srgbClr val="374151"/>
                          </a:solidFill>
                          <a:latin typeface="Calibri" pitchFamily="34" charset="0"/>
                          <a:ea typeface="Calibri" pitchFamily="34" charset="-122"/>
                          <a:cs typeface="Calibri" pitchFamily="34" charset="-120"/>
                        </a:rPr>
                        <a:t>Yes: edge trip, remote restart</a:t>
                      </a:r>
                      <a:endParaRPr lang="en-US" sz="12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bl>
          </a:graphicData>
        </a:graphic>
      </p:graphicFrame>
      <p:sp>
        <p:nvSpPr>
          <p:cNvPr id="4" name="Text 1"/>
          <p:cNvSpPr txBox="1"/>
          <p:nvPr/>
        </p:nvSpPr>
        <p:spPr>
          <a:xfrm>
            <a:off x="548640" y="5669280"/>
            <a:ext cx="11094415" cy="457200"/>
          </a:xfrm>
          <a:prstGeom prst="rect">
            <a:avLst/>
          </a:prstGeom>
          <a:noFill/>
          <a:ln/>
        </p:spPr>
        <p:txBody>
          <a:bodyPr wrap="square" lIns="0" tIns="0" rIns="0" bIns="0" rtlCol="0" anchor="t"/>
          <a:lstStyle/>
          <a:p>
            <a:pPr indent="0" marL="0">
              <a:buNone/>
            </a:pPr>
            <a:r>
              <a:rPr lang="en-US" sz="1200" dirty="0">
                <a:solidFill>
                  <a:srgbClr val="5B6472"/>
                </a:solidFill>
                <a:latin typeface="Calibri" pitchFamily="34" charset="0"/>
                <a:ea typeface="Calibri" pitchFamily="34" charset="-122"/>
                <a:cs typeface="Calibri" pitchFamily="34" charset="-120"/>
              </a:rPr>
              <a:t>Accuracy figures are as reported by each paper on its own data and are not directly comparable. "Not reported" means the paper does not describe the feature.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Objectives and Novelty</a:t>
            </a:r>
            <a:endParaRPr lang="en-US" sz="2800" dirty="0"/>
          </a:p>
        </p:txBody>
      </p:sp>
      <p:sp>
        <p:nvSpPr>
          <p:cNvPr id="3" name="Text 1"/>
          <p:cNvSpPr txBox="1"/>
          <p:nvPr/>
        </p:nvSpPr>
        <p:spPr>
          <a:xfrm>
            <a:off x="548640" y="1234440"/>
            <a:ext cx="512064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Objectives</a:t>
            </a:r>
            <a:endParaRPr lang="en-US" sz="1600" dirty="0"/>
          </a:p>
        </p:txBody>
      </p:sp>
      <p:sp>
        <p:nvSpPr>
          <p:cNvPr id="4" name="Text 2"/>
          <p:cNvSpPr txBox="1"/>
          <p:nvPr/>
        </p:nvSpPr>
        <p:spPr>
          <a:xfrm>
            <a:off x="548640" y="1600200"/>
            <a:ext cx="365760" cy="713232"/>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005840" y="1600200"/>
            <a:ext cx="4663440" cy="713232"/>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Monitor pump vibration continuously with an ESP32 and MPU6050.</a:t>
            </a:r>
            <a:endParaRPr lang="en-US" sz="1500" dirty="0"/>
          </a:p>
        </p:txBody>
      </p:sp>
      <p:sp>
        <p:nvSpPr>
          <p:cNvPr id="6" name="Shape 4"/>
          <p:cNvSpPr/>
          <p:nvPr/>
        </p:nvSpPr>
        <p:spPr>
          <a:xfrm>
            <a:off x="548640" y="2313432"/>
            <a:ext cx="5120640" cy="0"/>
          </a:xfrm>
          <a:prstGeom prst="line">
            <a:avLst/>
          </a:prstGeom>
          <a:noFill/>
          <a:ln w="9525">
            <a:solidFill>
              <a:srgbClr val="E5E7EB"/>
            </a:solidFill>
            <a:prstDash val="solid"/>
          </a:ln>
        </p:spPr>
      </p:sp>
      <p:sp>
        <p:nvSpPr>
          <p:cNvPr id="7" name="Text 5"/>
          <p:cNvSpPr txBox="1"/>
          <p:nvPr/>
        </p:nvSpPr>
        <p:spPr>
          <a:xfrm>
            <a:off x="548640" y="2313432"/>
            <a:ext cx="365760" cy="713232"/>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1005840" y="2313432"/>
            <a:ext cx="4663440" cy="713232"/>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Raise the alarm and trip the motor on the ESP32, without a network.</a:t>
            </a:r>
            <a:endParaRPr lang="en-US" sz="1500" dirty="0"/>
          </a:p>
        </p:txBody>
      </p:sp>
      <p:sp>
        <p:nvSpPr>
          <p:cNvPr id="9" name="Shape 7"/>
          <p:cNvSpPr/>
          <p:nvPr/>
        </p:nvSpPr>
        <p:spPr>
          <a:xfrm>
            <a:off x="548640" y="3026664"/>
            <a:ext cx="5120640" cy="0"/>
          </a:xfrm>
          <a:prstGeom prst="line">
            <a:avLst/>
          </a:prstGeom>
          <a:noFill/>
          <a:ln w="9525">
            <a:solidFill>
              <a:srgbClr val="E5E7EB"/>
            </a:solidFill>
            <a:prstDash val="solid"/>
          </a:ln>
        </p:spPr>
      </p:sp>
      <p:sp>
        <p:nvSpPr>
          <p:cNvPr id="10" name="Text 8"/>
          <p:cNvSpPr txBox="1"/>
          <p:nvPr/>
        </p:nvSpPr>
        <p:spPr>
          <a:xfrm>
            <a:off x="548640" y="3026664"/>
            <a:ext cx="365760" cy="713232"/>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005840" y="3026664"/>
            <a:ext cx="4663440" cy="713232"/>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Give an ML early warning on the fog server, trained on real data.</a:t>
            </a:r>
            <a:endParaRPr lang="en-US" sz="1500" dirty="0"/>
          </a:p>
        </p:txBody>
      </p:sp>
      <p:sp>
        <p:nvSpPr>
          <p:cNvPr id="12" name="Shape 10"/>
          <p:cNvSpPr/>
          <p:nvPr/>
        </p:nvSpPr>
        <p:spPr>
          <a:xfrm>
            <a:off x="548640" y="3739896"/>
            <a:ext cx="5120640" cy="0"/>
          </a:xfrm>
          <a:prstGeom prst="line">
            <a:avLst/>
          </a:prstGeom>
          <a:noFill/>
          <a:ln w="9525">
            <a:solidFill>
              <a:srgbClr val="E5E7EB"/>
            </a:solidFill>
            <a:prstDash val="solid"/>
          </a:ln>
        </p:spPr>
      </p:sp>
      <p:sp>
        <p:nvSpPr>
          <p:cNvPr id="13" name="Text 11"/>
          <p:cNvSpPr txBox="1"/>
          <p:nvPr/>
        </p:nvSpPr>
        <p:spPr>
          <a:xfrm>
            <a:off x="548640" y="3739896"/>
            <a:ext cx="365760" cy="713232"/>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1005840" y="3739896"/>
            <a:ext cx="4663440" cy="713232"/>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Show all pumps on one dashboard and SMS the engineer on a fault.</a:t>
            </a:r>
            <a:endParaRPr lang="en-US" sz="1500" dirty="0"/>
          </a:p>
        </p:txBody>
      </p:sp>
      <p:sp>
        <p:nvSpPr>
          <p:cNvPr id="15" name="Shape 13"/>
          <p:cNvSpPr/>
          <p:nvPr/>
        </p:nvSpPr>
        <p:spPr>
          <a:xfrm>
            <a:off x="548640" y="4453128"/>
            <a:ext cx="5120640" cy="0"/>
          </a:xfrm>
          <a:prstGeom prst="line">
            <a:avLst/>
          </a:prstGeom>
          <a:noFill/>
          <a:ln w="9525">
            <a:solidFill>
              <a:srgbClr val="E5E7EB"/>
            </a:solidFill>
            <a:prstDash val="solid"/>
          </a:ln>
        </p:spPr>
      </p:sp>
      <p:sp>
        <p:nvSpPr>
          <p:cNvPr id="16" name="Text 14"/>
          <p:cNvSpPr txBox="1"/>
          <p:nvPr/>
        </p:nvSpPr>
        <p:spPr>
          <a:xfrm>
            <a:off x="548640" y="4453128"/>
            <a:ext cx="365760" cy="713232"/>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005840" y="4453128"/>
            <a:ext cx="4663440" cy="713232"/>
          </a:xfrm>
          <a:prstGeom prst="rect">
            <a:avLst/>
          </a:prstGeom>
          <a:noFill/>
          <a:ln/>
        </p:spPr>
        <p:txBody>
          <a:bodyPr wrap="square" lIns="0" tIns="0" rIns="0" bIns="0" rtlCol="0" anchor="ctr"/>
          <a:lstStyle/>
          <a:p>
            <a:pPr indent="0" marL="0">
              <a:buNone/>
            </a:pPr>
            <a:r>
              <a:rPr lang="en-US" sz="1500" dirty="0">
                <a:solidFill>
                  <a:srgbClr val="374151"/>
                </a:solidFill>
                <a:latin typeface="Calibri" pitchFamily="34" charset="0"/>
                <a:ea typeface="Calibri" pitchFamily="34" charset="-122"/>
                <a:cs typeface="Calibri" pitchFamily="34" charset="-120"/>
              </a:rPr>
              <a:t>Lose no readings during outages; record every fault.</a:t>
            </a:r>
            <a:endParaRPr lang="en-US" sz="1500" dirty="0"/>
          </a:p>
        </p:txBody>
      </p:sp>
      <p:sp>
        <p:nvSpPr>
          <p:cNvPr id="18" name="Text 16"/>
          <p:cNvSpPr txBox="1"/>
          <p:nvPr/>
        </p:nvSpPr>
        <p:spPr>
          <a:xfrm>
            <a:off x="6172200" y="123444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What is new</a:t>
            </a:r>
            <a:endParaRPr lang="en-US" sz="1600" dirty="0"/>
          </a:p>
        </p:txBody>
      </p:sp>
      <p:sp>
        <p:nvSpPr>
          <p:cNvPr id="19" name="Shape 17"/>
          <p:cNvSpPr/>
          <p:nvPr/>
        </p:nvSpPr>
        <p:spPr>
          <a:xfrm>
            <a:off x="6172200" y="1600200"/>
            <a:ext cx="5468112" cy="914400"/>
          </a:xfrm>
          <a:prstGeom prst="roundRect">
            <a:avLst>
              <a:gd name="adj" fmla="val 8000"/>
            </a:avLst>
          </a:prstGeom>
          <a:solidFill>
            <a:srgbClr val="F3F5F8"/>
          </a:solidFill>
          <a:ln w="12700">
            <a:solidFill>
              <a:srgbClr val="E3E7ED"/>
            </a:solidFill>
            <a:prstDash val="solid"/>
          </a:ln>
        </p:spPr>
      </p:sp>
      <p:sp>
        <p:nvSpPr>
          <p:cNvPr id="20" name="Text 18"/>
          <p:cNvSpPr txBox="1"/>
          <p:nvPr/>
        </p:nvSpPr>
        <p:spPr>
          <a:xfrm>
            <a:off x="6355080" y="1691640"/>
            <a:ext cx="5120640" cy="292608"/>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Two-layer detection</a:t>
            </a:r>
            <a:endParaRPr lang="en-US" sz="1500" dirty="0"/>
          </a:p>
        </p:txBody>
      </p:sp>
      <p:sp>
        <p:nvSpPr>
          <p:cNvPr id="21" name="Text 19"/>
          <p:cNvSpPr txBox="1"/>
          <p:nvPr/>
        </p:nvSpPr>
        <p:spPr>
          <a:xfrm>
            <a:off x="6355080" y="1993392"/>
            <a:ext cx="5120640" cy="5029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Fast threshold alarm and trip on the edge, plus an ML anomaly model on the fog that warns before the threshold is crossed.</a:t>
            </a:r>
            <a:endParaRPr lang="en-US" sz="1300" dirty="0"/>
          </a:p>
        </p:txBody>
      </p:sp>
      <p:sp>
        <p:nvSpPr>
          <p:cNvPr id="22" name="Shape 20"/>
          <p:cNvSpPr/>
          <p:nvPr/>
        </p:nvSpPr>
        <p:spPr>
          <a:xfrm>
            <a:off x="6172200" y="2624328"/>
            <a:ext cx="5468112" cy="914400"/>
          </a:xfrm>
          <a:prstGeom prst="roundRect">
            <a:avLst>
              <a:gd name="adj" fmla="val 8000"/>
            </a:avLst>
          </a:prstGeom>
          <a:solidFill>
            <a:srgbClr val="F3F5F8"/>
          </a:solidFill>
          <a:ln w="12700">
            <a:solidFill>
              <a:srgbClr val="E3E7ED"/>
            </a:solidFill>
            <a:prstDash val="solid"/>
          </a:ln>
        </p:spPr>
      </p:sp>
      <p:sp>
        <p:nvSpPr>
          <p:cNvPr id="23" name="Text 21"/>
          <p:cNvSpPr txBox="1"/>
          <p:nvPr/>
        </p:nvSpPr>
        <p:spPr>
          <a:xfrm>
            <a:off x="6355080" y="2715768"/>
            <a:ext cx="5120640" cy="292608"/>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Training matched to the sensor</a:t>
            </a:r>
            <a:endParaRPr lang="en-US" sz="1500" dirty="0"/>
          </a:p>
        </p:txBody>
      </p:sp>
      <p:sp>
        <p:nvSpPr>
          <p:cNvPr id="24" name="Text 22"/>
          <p:cNvSpPr txBox="1"/>
          <p:nvPr/>
        </p:nvSpPr>
        <p:spPr>
          <a:xfrm>
            <a:off x="6355080" y="3017520"/>
            <a:ext cx="5120640" cy="5029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Real CWRU bearing data filtered and resampled to what the MPU6050 can measure (184 Hz, 500 Hz), then calibrated on each pump.</a:t>
            </a:r>
            <a:endParaRPr lang="en-US" sz="1300" dirty="0"/>
          </a:p>
        </p:txBody>
      </p:sp>
      <p:sp>
        <p:nvSpPr>
          <p:cNvPr id="25" name="Shape 23"/>
          <p:cNvSpPr/>
          <p:nvPr/>
        </p:nvSpPr>
        <p:spPr>
          <a:xfrm>
            <a:off x="6172200" y="3648456"/>
            <a:ext cx="5468112" cy="914400"/>
          </a:xfrm>
          <a:prstGeom prst="roundRect">
            <a:avLst>
              <a:gd name="adj" fmla="val 8000"/>
            </a:avLst>
          </a:prstGeom>
          <a:solidFill>
            <a:srgbClr val="F3F5F8"/>
          </a:solidFill>
          <a:ln w="12700">
            <a:solidFill>
              <a:srgbClr val="E3E7ED"/>
            </a:solidFill>
            <a:prstDash val="solid"/>
          </a:ln>
        </p:spPr>
      </p:sp>
      <p:sp>
        <p:nvSpPr>
          <p:cNvPr id="26" name="Text 24"/>
          <p:cNvSpPr txBox="1"/>
          <p:nvPr/>
        </p:nvSpPr>
        <p:spPr>
          <a:xfrm>
            <a:off x="6355080" y="3739896"/>
            <a:ext cx="5120640" cy="292608"/>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Edge protection with fog control</a:t>
            </a:r>
            <a:endParaRPr lang="en-US" sz="1500" dirty="0"/>
          </a:p>
        </p:txBody>
      </p:sp>
      <p:sp>
        <p:nvSpPr>
          <p:cNvPr id="27" name="Text 25"/>
          <p:cNvSpPr txBox="1"/>
          <p:nvPr/>
        </p:nvSpPr>
        <p:spPr>
          <a:xfrm>
            <a:off x="6355080" y="4041648"/>
            <a:ext cx="5120640" cy="5029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Motor trip after 3 critical readings; restart from the dashboard or by turning the knob to zero.</a:t>
            </a:r>
            <a:endParaRPr lang="en-US" sz="1300" dirty="0"/>
          </a:p>
        </p:txBody>
      </p:sp>
      <p:sp>
        <p:nvSpPr>
          <p:cNvPr id="28" name="Shape 26"/>
          <p:cNvSpPr/>
          <p:nvPr/>
        </p:nvSpPr>
        <p:spPr>
          <a:xfrm>
            <a:off x="6172200" y="4672584"/>
            <a:ext cx="5468112" cy="914400"/>
          </a:xfrm>
          <a:prstGeom prst="roundRect">
            <a:avLst>
              <a:gd name="adj" fmla="val 8000"/>
            </a:avLst>
          </a:prstGeom>
          <a:solidFill>
            <a:srgbClr val="F3F5F8"/>
          </a:solidFill>
          <a:ln w="12700">
            <a:solidFill>
              <a:srgbClr val="E3E7ED"/>
            </a:solidFill>
            <a:prstDash val="solid"/>
          </a:ln>
        </p:spPr>
      </p:sp>
      <p:sp>
        <p:nvSpPr>
          <p:cNvPr id="29" name="Text 27"/>
          <p:cNvSpPr txBox="1"/>
          <p:nvPr/>
        </p:nvSpPr>
        <p:spPr>
          <a:xfrm>
            <a:off x="6355080" y="4764024"/>
            <a:ext cx="5120640" cy="292608"/>
          </a:xfrm>
          <a:prstGeom prst="rect">
            <a:avLst/>
          </a:prstGeom>
          <a:noFill/>
          <a:ln/>
        </p:spPr>
        <p:txBody>
          <a:bodyPr wrap="square" lIns="0" tIns="0" rIns="0" bIns="0" rtlCol="0" anchor="t"/>
          <a:lstStyle/>
          <a:p>
            <a:pPr indent="0" marL="0">
              <a:buNone/>
            </a:pPr>
            <a:r>
              <a:rPr lang="en-US" sz="1500" b="1" dirty="0">
                <a:solidFill>
                  <a:srgbClr val="13294B"/>
                </a:solidFill>
                <a:latin typeface="Calibri" pitchFamily="34" charset="0"/>
                <a:ea typeface="Calibri" pitchFamily="34" charset="-122"/>
                <a:cs typeface="Calibri" pitchFamily="34" charset="-120"/>
              </a:rPr>
              <a:t>Store-and-forward and fault recording</a:t>
            </a:r>
            <a:endParaRPr lang="en-US" sz="1500" dirty="0"/>
          </a:p>
        </p:txBody>
      </p:sp>
      <p:sp>
        <p:nvSpPr>
          <p:cNvPr id="30" name="Text 28"/>
          <p:cNvSpPr txBox="1"/>
          <p:nvPr/>
        </p:nvSpPr>
        <p:spPr>
          <a:xfrm>
            <a:off x="6355080" y="5065776"/>
            <a:ext cx="5120640" cy="502920"/>
          </a:xfrm>
          <a:prstGeom prst="rect">
            <a:avLst/>
          </a:prstGeom>
          <a:noFill/>
          <a:ln/>
        </p:spPr>
        <p:txBody>
          <a:bodyPr wrap="square" lIns="0" tIns="0" rIns="0" bIns="0" rtlCol="0" anchor="t"/>
          <a:lstStyle/>
          <a:p>
            <a:pPr indent="0" marL="0">
              <a:buNone/>
            </a:pPr>
            <a:r>
              <a:rPr lang="en-US" sz="1300" dirty="0">
                <a:solidFill>
                  <a:srgbClr val="374151"/>
                </a:solidFill>
                <a:latin typeface="Calibri" pitchFamily="34" charset="0"/>
                <a:ea typeface="Calibri" pitchFamily="34" charset="-122"/>
                <a:cs typeface="Calibri" pitchFamily="34" charset="-120"/>
              </a:rPr>
              <a:t>300 readings buffered during outages; 50 readings before and after every fault saved as CSV.</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System Architecture</a:t>
            </a:r>
            <a:endParaRPr lang="en-US" sz="2800" dirty="0"/>
          </a:p>
        </p:txBody>
      </p:sp>
      <p:sp>
        <p:nvSpPr>
          <p:cNvPr id="3" name="Shape 1"/>
          <p:cNvSpPr/>
          <p:nvPr/>
        </p:nvSpPr>
        <p:spPr>
          <a:xfrm>
            <a:off x="548640" y="1234440"/>
            <a:ext cx="3291840" cy="2788920"/>
          </a:xfrm>
          <a:prstGeom prst="rect">
            <a:avLst/>
          </a:prstGeom>
          <a:solidFill>
            <a:srgbClr val="FFFFFF"/>
          </a:solidFill>
          <a:ln w="12700">
            <a:solidFill>
              <a:srgbClr val="13294B"/>
            </a:solidFill>
            <a:prstDash val="solid"/>
          </a:ln>
        </p:spPr>
      </p:sp>
      <p:sp>
        <p:nvSpPr>
          <p:cNvPr id="4" name="Shape 2"/>
          <p:cNvSpPr/>
          <p:nvPr/>
        </p:nvSpPr>
        <p:spPr>
          <a:xfrm>
            <a:off x="548640" y="1234440"/>
            <a:ext cx="3291840" cy="365760"/>
          </a:xfrm>
          <a:prstGeom prst="rect">
            <a:avLst/>
          </a:prstGeom>
          <a:solidFill>
            <a:srgbClr val="13294B"/>
          </a:solidFill>
          <a:ln w="12700">
            <a:solidFill>
              <a:srgbClr val="13294B"/>
            </a:solidFill>
            <a:prstDash val="solid"/>
          </a:ln>
        </p:spPr>
      </p:sp>
      <p:sp>
        <p:nvSpPr>
          <p:cNvPr id="5" name="Text 3"/>
          <p:cNvSpPr txBox="1"/>
          <p:nvPr/>
        </p:nvSpPr>
        <p:spPr>
          <a:xfrm>
            <a:off x="685800" y="1234440"/>
            <a:ext cx="310896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EDGE LAYER  ·  one node per pump</a:t>
            </a:r>
            <a:endParaRPr lang="en-US" sz="1200" dirty="0"/>
          </a:p>
        </p:txBody>
      </p:sp>
      <p:sp>
        <p:nvSpPr>
          <p:cNvPr id="6" name="Text 4"/>
          <p:cNvSpPr txBox="1"/>
          <p:nvPr/>
        </p:nvSpPr>
        <p:spPr>
          <a:xfrm>
            <a:off x="731520" y="1691640"/>
            <a:ext cx="3017520"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ESP32 + MPU6050</a:t>
            </a:r>
            <a:endParaRPr lang="en-US" sz="1500" dirty="0"/>
          </a:p>
        </p:txBody>
      </p:sp>
      <p:sp>
        <p:nvSpPr>
          <p:cNvPr id="7" name="Text 5"/>
          <p:cNvSpPr txBox="1"/>
          <p:nvPr/>
        </p:nvSpPr>
        <p:spPr>
          <a:xfrm>
            <a:off x="731520" y="2075688"/>
            <a:ext cx="3017520" cy="182880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Reads a 256-sample window every second</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Threshold classification</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Buzzer, LCD, motor trip</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Buffers readings offline</a:t>
            </a:r>
            <a:endParaRPr lang="en-US" sz="1300" dirty="0"/>
          </a:p>
        </p:txBody>
      </p:sp>
      <p:sp>
        <p:nvSpPr>
          <p:cNvPr id="8" name="Shape 6"/>
          <p:cNvSpPr/>
          <p:nvPr/>
        </p:nvSpPr>
        <p:spPr>
          <a:xfrm>
            <a:off x="3931920" y="2286000"/>
            <a:ext cx="1051560" cy="0"/>
          </a:xfrm>
          <a:prstGeom prst="line">
            <a:avLst/>
          </a:prstGeom>
          <a:noFill/>
          <a:ln w="25400">
            <a:solidFill>
              <a:srgbClr val="13294B"/>
            </a:solidFill>
            <a:prstDash val="solid"/>
            <a:tailEnd type="triangle"/>
          </a:ln>
        </p:spPr>
      </p:sp>
      <p:sp>
        <p:nvSpPr>
          <p:cNvPr id="9" name="Text 7"/>
          <p:cNvSpPr txBox="1"/>
          <p:nvPr/>
        </p:nvSpPr>
        <p:spPr>
          <a:xfrm>
            <a:off x="3840480" y="1737360"/>
            <a:ext cx="1234440" cy="502920"/>
          </a:xfrm>
          <a:prstGeom prst="rect">
            <a:avLst/>
          </a:prstGeom>
          <a:noFill/>
          <a:ln/>
        </p:spPr>
        <p:txBody>
          <a:bodyPr wrap="square" lIns="0" tIns="0" rIns="0" bIns="0" rtlCol="0" anchor="b"/>
          <a:lstStyle/>
          <a:p>
            <a:pPr algn="ctr" indent="0" marL="0">
              <a:buNone/>
            </a:pPr>
            <a:r>
              <a:rPr lang="en-US" sz="1100" dirty="0">
                <a:solidFill>
                  <a:srgbClr val="13294B"/>
                </a:solidFill>
                <a:latin typeface="Calibri" pitchFamily="34" charset="0"/>
                <a:ea typeface="Calibri" pitchFamily="34" charset="-122"/>
                <a:cs typeface="Calibri" pitchFamily="34" charset="-120"/>
              </a:rPr>
              <a:t>reading + window</a:t>
            </a:r>
            <a:endParaRPr lang="en-US" sz="1100" dirty="0"/>
          </a:p>
          <a:p>
            <a:pPr algn="ctr" indent="0" marL="0">
              <a:buNone/>
            </a:pPr>
            <a:r>
              <a:rPr lang="en-US" sz="1100" dirty="0">
                <a:solidFill>
                  <a:srgbClr val="13294B"/>
                </a:solidFill>
                <a:latin typeface="Calibri" pitchFamily="34" charset="0"/>
                <a:ea typeface="Calibri" pitchFamily="34" charset="-122"/>
                <a:cs typeface="Calibri" pitchFamily="34" charset="-120"/>
              </a:rPr>
              <a:t>/data, /alert</a:t>
            </a:r>
            <a:endParaRPr lang="en-US" sz="1100" dirty="0"/>
          </a:p>
        </p:txBody>
      </p:sp>
      <p:sp>
        <p:nvSpPr>
          <p:cNvPr id="10" name="Shape 8"/>
          <p:cNvSpPr/>
          <p:nvPr/>
        </p:nvSpPr>
        <p:spPr>
          <a:xfrm flipH="1">
            <a:off x="3931920" y="3017520"/>
            <a:ext cx="1051560" cy="0"/>
          </a:xfrm>
          <a:prstGeom prst="line">
            <a:avLst/>
          </a:prstGeom>
          <a:noFill/>
          <a:ln w="25400">
            <a:solidFill>
              <a:srgbClr val="C2410C"/>
            </a:solidFill>
            <a:prstDash val="solid"/>
            <a:tailEnd type="triangle"/>
          </a:ln>
        </p:spPr>
      </p:sp>
      <p:sp>
        <p:nvSpPr>
          <p:cNvPr id="11" name="Text 9"/>
          <p:cNvSpPr txBox="1"/>
          <p:nvPr/>
        </p:nvSpPr>
        <p:spPr>
          <a:xfrm>
            <a:off x="3840480" y="3081528"/>
            <a:ext cx="1234440" cy="457200"/>
          </a:xfrm>
          <a:prstGeom prst="rect">
            <a:avLst/>
          </a:prstGeom>
          <a:noFill/>
          <a:ln/>
        </p:spPr>
        <p:txBody>
          <a:bodyPr wrap="square" lIns="0" tIns="0" rIns="0" bIns="0" rtlCol="0" anchor="t"/>
          <a:lstStyle/>
          <a:p>
            <a:pPr algn="ctr" indent="0" marL="0">
              <a:buNone/>
            </a:pPr>
            <a:r>
              <a:rPr lang="en-US" sz="1100" dirty="0">
                <a:solidFill>
                  <a:srgbClr val="C2410C"/>
                </a:solidFill>
                <a:latin typeface="Calibri" pitchFamily="34" charset="0"/>
                <a:ea typeface="Calibri" pitchFamily="34" charset="-122"/>
                <a:cs typeface="Calibri" pitchFamily="34" charset="-120"/>
              </a:rPr>
              <a:t>restart command (in reply)</a:t>
            </a:r>
            <a:endParaRPr lang="en-US" sz="1100" dirty="0"/>
          </a:p>
        </p:txBody>
      </p:sp>
      <p:sp>
        <p:nvSpPr>
          <p:cNvPr id="12" name="Shape 10"/>
          <p:cNvSpPr/>
          <p:nvPr/>
        </p:nvSpPr>
        <p:spPr>
          <a:xfrm>
            <a:off x="5120640" y="1234440"/>
            <a:ext cx="3291840" cy="2788920"/>
          </a:xfrm>
          <a:prstGeom prst="rect">
            <a:avLst/>
          </a:prstGeom>
          <a:solidFill>
            <a:srgbClr val="FFFFFF"/>
          </a:solidFill>
          <a:ln w="12700">
            <a:solidFill>
              <a:srgbClr val="13294B"/>
            </a:solidFill>
            <a:prstDash val="solid"/>
          </a:ln>
        </p:spPr>
      </p:sp>
      <p:sp>
        <p:nvSpPr>
          <p:cNvPr id="13" name="Shape 11"/>
          <p:cNvSpPr/>
          <p:nvPr/>
        </p:nvSpPr>
        <p:spPr>
          <a:xfrm>
            <a:off x="5120640" y="1234440"/>
            <a:ext cx="3291840" cy="365760"/>
          </a:xfrm>
          <a:prstGeom prst="rect">
            <a:avLst/>
          </a:prstGeom>
          <a:solidFill>
            <a:srgbClr val="13294B"/>
          </a:solidFill>
          <a:ln w="12700">
            <a:solidFill>
              <a:srgbClr val="13294B"/>
            </a:solidFill>
            <a:prstDash val="solid"/>
          </a:ln>
        </p:spPr>
      </p:sp>
      <p:sp>
        <p:nvSpPr>
          <p:cNvPr id="14" name="Text 12"/>
          <p:cNvSpPr txBox="1"/>
          <p:nvPr/>
        </p:nvSpPr>
        <p:spPr>
          <a:xfrm>
            <a:off x="5257800" y="1234440"/>
            <a:ext cx="3108960"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FOG LAYER</a:t>
            </a:r>
            <a:endParaRPr lang="en-US" sz="1200" dirty="0"/>
          </a:p>
        </p:txBody>
      </p:sp>
      <p:sp>
        <p:nvSpPr>
          <p:cNvPr id="15" name="Text 13"/>
          <p:cNvSpPr txBox="1"/>
          <p:nvPr/>
        </p:nvSpPr>
        <p:spPr>
          <a:xfrm>
            <a:off x="5303520" y="1691640"/>
            <a:ext cx="3017520"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Flask server in the pump office</a:t>
            </a:r>
            <a:endParaRPr lang="en-US" sz="1500" dirty="0"/>
          </a:p>
        </p:txBody>
      </p:sp>
      <p:sp>
        <p:nvSpPr>
          <p:cNvPr id="16" name="Text 14"/>
          <p:cNvSpPr txBox="1"/>
          <p:nvPr/>
        </p:nvSpPr>
        <p:spPr>
          <a:xfrm>
            <a:off x="5303520" y="2075688"/>
            <a:ext cx="3017520" cy="182880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ML: band-energy features + Isolation Forest</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Dashboard for all pumps</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Events, statistics, fault CSVs</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Restart commands, SMS requests</a:t>
            </a:r>
            <a:endParaRPr lang="en-US" sz="1300" dirty="0"/>
          </a:p>
        </p:txBody>
      </p:sp>
      <p:sp>
        <p:nvSpPr>
          <p:cNvPr id="17" name="Shape 15"/>
          <p:cNvSpPr/>
          <p:nvPr/>
        </p:nvSpPr>
        <p:spPr>
          <a:xfrm>
            <a:off x="8503920" y="2286000"/>
            <a:ext cx="777240" cy="0"/>
          </a:xfrm>
          <a:prstGeom prst="line">
            <a:avLst/>
          </a:prstGeom>
          <a:noFill/>
          <a:ln w="25400">
            <a:solidFill>
              <a:srgbClr val="13294B"/>
            </a:solidFill>
            <a:prstDash val="solid"/>
            <a:tailEnd type="triangle"/>
          </a:ln>
        </p:spPr>
      </p:sp>
      <p:sp>
        <p:nvSpPr>
          <p:cNvPr id="18" name="Text 16"/>
          <p:cNvSpPr txBox="1"/>
          <p:nvPr/>
        </p:nvSpPr>
        <p:spPr>
          <a:xfrm>
            <a:off x="8412480" y="1801368"/>
            <a:ext cx="960120" cy="457200"/>
          </a:xfrm>
          <a:prstGeom prst="rect">
            <a:avLst/>
          </a:prstGeom>
          <a:noFill/>
          <a:ln/>
        </p:spPr>
        <p:txBody>
          <a:bodyPr wrap="square" lIns="0" tIns="0" rIns="0" bIns="0" rtlCol="0" anchor="t"/>
          <a:lstStyle/>
          <a:p>
            <a:pPr algn="ctr" indent="0" marL="0">
              <a:buNone/>
            </a:pPr>
            <a:r>
              <a:rPr lang="en-US" sz="1100" dirty="0">
                <a:solidFill>
                  <a:srgbClr val="13294B"/>
                </a:solidFill>
                <a:latin typeface="Calibri" pitchFamily="34" charset="0"/>
                <a:ea typeface="Calibri" pitchFamily="34" charset="-122"/>
                <a:cs typeface="Calibri" pitchFamily="34" charset="-120"/>
              </a:rPr>
              <a:t>HTTPS on a new fault</a:t>
            </a:r>
            <a:endParaRPr lang="en-US" sz="1100" dirty="0"/>
          </a:p>
        </p:txBody>
      </p:sp>
      <p:sp>
        <p:nvSpPr>
          <p:cNvPr id="19" name="Shape 17"/>
          <p:cNvSpPr/>
          <p:nvPr/>
        </p:nvSpPr>
        <p:spPr>
          <a:xfrm>
            <a:off x="9372600" y="1234440"/>
            <a:ext cx="2270455" cy="2788920"/>
          </a:xfrm>
          <a:prstGeom prst="rect">
            <a:avLst/>
          </a:prstGeom>
          <a:solidFill>
            <a:srgbClr val="FFFFFF"/>
          </a:solidFill>
          <a:ln w="12700">
            <a:solidFill>
              <a:srgbClr val="13294B"/>
            </a:solidFill>
            <a:prstDash val="solid"/>
          </a:ln>
        </p:spPr>
      </p:sp>
      <p:sp>
        <p:nvSpPr>
          <p:cNvPr id="20" name="Shape 18"/>
          <p:cNvSpPr/>
          <p:nvPr/>
        </p:nvSpPr>
        <p:spPr>
          <a:xfrm>
            <a:off x="9372600" y="1234440"/>
            <a:ext cx="2270455" cy="365760"/>
          </a:xfrm>
          <a:prstGeom prst="rect">
            <a:avLst/>
          </a:prstGeom>
          <a:solidFill>
            <a:srgbClr val="13294B"/>
          </a:solidFill>
          <a:ln w="12700">
            <a:solidFill>
              <a:srgbClr val="13294B"/>
            </a:solidFill>
            <a:prstDash val="solid"/>
          </a:ln>
        </p:spPr>
      </p:sp>
      <p:sp>
        <p:nvSpPr>
          <p:cNvPr id="21" name="Text 19"/>
          <p:cNvSpPr txBox="1"/>
          <p:nvPr/>
        </p:nvSpPr>
        <p:spPr>
          <a:xfrm>
            <a:off x="9509760" y="1234440"/>
            <a:ext cx="2087575" cy="36576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CLOUD LAYER</a:t>
            </a:r>
            <a:endParaRPr lang="en-US" sz="1200" dirty="0"/>
          </a:p>
        </p:txBody>
      </p:sp>
      <p:sp>
        <p:nvSpPr>
          <p:cNvPr id="22" name="Text 20"/>
          <p:cNvSpPr txBox="1"/>
          <p:nvPr/>
        </p:nvSpPr>
        <p:spPr>
          <a:xfrm>
            <a:off x="9555480" y="1691640"/>
            <a:ext cx="1996135" cy="32004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Twilio SMS</a:t>
            </a:r>
            <a:endParaRPr lang="en-US" sz="1500" dirty="0"/>
          </a:p>
        </p:txBody>
      </p:sp>
      <p:sp>
        <p:nvSpPr>
          <p:cNvPr id="23" name="Text 21"/>
          <p:cNvSpPr txBox="1"/>
          <p:nvPr/>
        </p:nvSpPr>
        <p:spPr>
          <a:xfrm>
            <a:off x="9555480" y="2075688"/>
            <a:ext cx="1996135" cy="1828800"/>
          </a:xfrm>
          <a:prstGeom prst="rect">
            <a:avLst/>
          </a:prstGeom>
          <a:noFill/>
          <a:ln/>
        </p:spPr>
        <p:txBody>
          <a:bodyPr wrap="square" lIns="0" tIns="0" rIns="0" bIns="0" rtlCol="0" anchor="t"/>
          <a:lstStyle/>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SMS to the maintenance engineer</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Pump ID, site and reading</a:t>
            </a:r>
            <a:endParaRPr lang="en-US" sz="1300" dirty="0"/>
          </a:p>
          <a:p>
            <a:pPr marL="177800" indent="-177800">
              <a:spcAft>
                <a:spcPts val="700"/>
              </a:spcAft>
              <a:buSzPct val="100000"/>
              <a:buChar char="•"/>
            </a:pPr>
            <a:r>
              <a:rPr lang="en-US" sz="1300" dirty="0">
                <a:solidFill>
                  <a:srgbClr val="374151"/>
                </a:solidFill>
                <a:latin typeface="Calibri" pitchFamily="34" charset="0"/>
                <a:ea typeface="Calibri" pitchFamily="34" charset="-122"/>
                <a:cs typeface="Calibri" pitchFamily="34" charset="-120"/>
              </a:rPr>
              <a:t>Any phone, no app</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4251960"/>
          <a:ext cx="11094415" cy="914400"/>
        </p:xfrm>
        <a:graphic>
          <a:graphicData uri="http://schemas.openxmlformats.org/drawingml/2006/table">
            <a:tbl>
              <a:tblPr/>
              <a:tblGrid>
                <a:gridCol w="1645920"/>
                <a:gridCol w="2926080"/>
                <a:gridCol w="6519672"/>
              </a:tblGrid>
              <a:tr h="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Link</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Protocol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Data exchanged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ESP32 → Fog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HTTP POST over Wi-Fi, JSON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 every second with pump ID, motor state and a 256-sample window (about 1.3 KB); buffered batch after an outage; alert on CRITICAL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Fog → ESP32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Reply to the same HTTP request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Restart command after a motor trip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Fog → Cloud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HTTPS, Twilio REST API</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SMS request on each new fault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Browser → Fog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HTTP on the LAN, port 5001</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Dashboard and status every second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Hardware Components and Interfacing</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103120"/>
                <a:gridCol w="3429000"/>
                <a:gridCol w="4343400"/>
                <a:gridCol w="1216152"/>
              </a:tblGrid>
              <a:tr h="438912">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Component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Function</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Connection to ESP32</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Approx. cost (₹)</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ESP32 DevKit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Edge controller with built-in Wi-Fi</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Main controller, USB powered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MPU6050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3-axis accelerometer, ±2 g, 184 Hz filter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I²C: SDA GPIO 21, SCL GPIO 22, address 0x68</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16×2 LCD with I²C</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Reading, speed, state, buffered count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Shared I²C bus, address 0x27</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Potentiometer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Sets motor speed; turning to zero resets a trip</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GPIO 34 (ADC input)</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L298N motor driver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Drives the motor; trip sets PWM to 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ENA GPIO 25 (PWM), IN1 GPIO 26, IN2 GPIO 27</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150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DC motor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Stands in for the pump motor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L298N output terminals</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100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Buzzer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 kHz on CRITICAL, short beeps while tripped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GPIO 32</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Total per node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b="1" dirty="0">
                          <a:solidFill>
                            <a:srgbClr val="374151"/>
                          </a:solidFill>
                          <a:latin typeface="Calibri" pitchFamily="34" charset="0"/>
                          <a:ea typeface="Calibri" pitchFamily="34" charset="-122"/>
                          <a:cs typeface="Calibri" pitchFamily="34" charset="-120"/>
                        </a:rPr>
                        <a:t>about 1,050</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577840"/>
            <a:ext cx="11094415" cy="64008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Prices are approximate retail prices for hobby modules. The ML model needs no extra hardware: it runs on the laptop that hosts the fog server. On a real pump the L298N is replaced by a relay driving the motor contactor.</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Software Stack and Interfaces</a:t>
            </a:r>
            <a:endParaRPr lang="en-US" sz="2800" dirty="0"/>
          </a:p>
        </p:txBody>
      </p:sp>
      <p:sp>
        <p:nvSpPr>
          <p:cNvPr id="3" name="Text 1"/>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Technologies used</a:t>
            </a:r>
            <a:endParaRPr lang="en-US"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5394960" cy="914400"/>
        </p:xfrm>
        <a:graphic>
          <a:graphicData uri="http://schemas.openxmlformats.org/drawingml/2006/table">
            <a:tbl>
              <a:tblPr/>
              <a:tblGrid>
                <a:gridCol w="1463040"/>
                <a:gridCol w="3931920"/>
              </a:tblGrid>
              <a:tr h="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Layer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Technology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Edge firmware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Arduino C++ on ESP32; WiFi, HTTPClient, Wire, LiquidCrystal_I2C</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Fog server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Python 3, Flask (multi-threaded), python-dotenv, twilio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ML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NumPy, SciPy (filtering, resampling), scikit-learn (Isolation Forest)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Dashboard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HTML, CSS, JavaScript; Chart.js served locally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JSON over HTTP; fault recordings as CSV</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263640" y="1234440"/>
            <a:ext cx="5376672"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Fog server endpoints</a:t>
            </a:r>
            <a:endParaRPr lang="en-US" sz="16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63640" y="1645920"/>
          <a:ext cx="5376672" cy="914400"/>
        </p:xfrm>
        <a:graphic>
          <a:graphicData uri="http://schemas.openxmlformats.org/drawingml/2006/table">
            <a:tbl>
              <a:tblPr/>
              <a:tblGrid>
                <a:gridCol w="1828800"/>
                <a:gridCol w="3547872"/>
              </a:tblGrid>
              <a:tr h="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Endpoint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Purpose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POST /data</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 every second, with the vibration window</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POST /data/batch</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Readings buffered during an outage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POST /alert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Critical alert; triggers the SMS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GET /api/status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All pumps and the selected pump's data</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POST /api/calibrate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Fit the ML model to this pump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POST /api/command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Restart a tripped motor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GET /faults/…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Download a fault recording CSV</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8640" y="4754880"/>
            <a:ext cx="11094415" cy="45720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Twilio credentials are kept in a .env file and Wi-Fi details in secrets.h; neither is in the Git repository.</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Layer 1: Threshold Detection and Motor Protection</a:t>
            </a:r>
            <a:endParaRPr lang="en-US" sz="2800" dirty="0"/>
          </a:p>
        </p:txBody>
      </p:sp>
      <p:sp>
        <p:nvSpPr>
          <p:cNvPr id="3" name="Shape 1"/>
          <p:cNvSpPr/>
          <p:nvPr/>
        </p:nvSpPr>
        <p:spPr>
          <a:xfrm>
            <a:off x="548640" y="1280160"/>
            <a:ext cx="5212080" cy="822960"/>
          </a:xfrm>
          <a:prstGeom prst="roundRect">
            <a:avLst>
              <a:gd name="adj" fmla="val 8889"/>
            </a:avLst>
          </a:prstGeom>
          <a:solidFill>
            <a:srgbClr val="F3F5F8"/>
          </a:solidFill>
          <a:ln w="12700">
            <a:solidFill>
              <a:srgbClr val="E3E7ED"/>
            </a:solidFill>
            <a:prstDash val="solid"/>
          </a:ln>
        </p:spPr>
      </p:sp>
      <p:sp>
        <p:nvSpPr>
          <p:cNvPr id="4" name="Text 2"/>
          <p:cNvSpPr/>
          <p:nvPr/>
        </p:nvSpPr>
        <p:spPr>
          <a:xfrm>
            <a:off x="548640" y="1280160"/>
            <a:ext cx="5212080" cy="822960"/>
          </a:xfrm>
          <a:prstGeom prst="rect">
            <a:avLst/>
          </a:prstGeom>
          <a:noFill/>
          <a:ln/>
        </p:spPr>
        <p:txBody>
          <a:bodyPr wrap="square" lIns="0" tIns="0" rIns="0" bIns="0" rtlCol="0" anchor="ctr"/>
          <a:lstStyle/>
          <a:p>
            <a:pPr algn="ctr" indent="0" marL="0">
              <a:buNone/>
            </a:pPr>
            <a:r>
              <a:rPr lang="en-US" sz="2400" dirty="0">
                <a:solidFill>
                  <a:srgbClr val="1F2937"/>
                </a:solidFill>
                <a:latin typeface="Cambria" pitchFamily="34" charset="0"/>
                <a:ea typeface="Cambria" pitchFamily="34" charset="-122"/>
                <a:cs typeface="Cambria" pitchFamily="34" charset="-120"/>
              </a:rPr>
              <a:t>v = | √(ax² + ay² + az²) − 1 g |</a:t>
            </a:r>
            <a:endParaRPr lang="en-US" sz="2400" dirty="0"/>
          </a:p>
        </p:txBody>
      </p:sp>
      <p:sp>
        <p:nvSpPr>
          <p:cNvPr id="5" name="Text 3"/>
          <p:cNvSpPr txBox="1"/>
          <p:nvPr/>
        </p:nvSpPr>
        <p:spPr>
          <a:xfrm>
            <a:off x="548640" y="2331720"/>
            <a:ext cx="5212080" cy="274320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ax, ay, az: acceleration in g from the MPU6050 (±2 g range)</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Magnitude of the acceleration vector, minus 1 g of gravity</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One reading per second, classified on the ESP32 itself</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Buzzer and trip happen before any network step</a:t>
            </a:r>
            <a:endParaRPr lang="en-US" sz="1500" dirty="0"/>
          </a:p>
        </p:txBody>
      </p:sp>
      <p:sp>
        <p:nvSpPr>
          <p:cNvPr id="6" name="Text 4"/>
          <p:cNvSpPr txBox="1"/>
          <p:nvPr/>
        </p:nvSpPr>
        <p:spPr>
          <a:xfrm>
            <a:off x="6172200" y="123444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Classification and response</a:t>
            </a:r>
            <a:endParaRPr lang="en-US" sz="1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72200" y="1645920"/>
          <a:ext cx="5468112" cy="914400"/>
        </p:xfrm>
        <a:graphic>
          <a:graphicData uri="http://schemas.openxmlformats.org/drawingml/2006/table">
            <a:tbl>
              <a:tblPr/>
              <a:tblGrid>
                <a:gridCol w="1234440"/>
                <a:gridCol w="1965960"/>
                <a:gridCol w="2267712"/>
              </a:tblGrid>
              <a:tr h="457200">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State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Vibration v</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400" b="1" dirty="0">
                          <a:solidFill>
                            <a:srgbClr val="13294B"/>
                          </a:solidFill>
                          <a:latin typeface="Calibri" pitchFamily="34" charset="0"/>
                          <a:ea typeface="Calibri" pitchFamily="34" charset="-122"/>
                          <a:cs typeface="Calibri" pitchFamily="34" charset="-120"/>
                        </a:rPr>
                        <a:t>Response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57200">
                <a:tc>
                  <a:txBody>
                    <a:bodyPr/>
                    <a:lstStyle/>
                    <a:p>
                      <a:pPr indent="0" marL="0">
                        <a:buNone/>
                      </a:pPr>
                      <a:r>
                        <a:rPr lang="en-US" sz="1400" b="1" dirty="0">
                          <a:solidFill>
                            <a:srgbClr val="15803D"/>
                          </a:solidFill>
                          <a:latin typeface="Calibri" pitchFamily="34" charset="0"/>
                          <a:ea typeface="Calibri" pitchFamily="34" charset="-122"/>
                          <a:cs typeface="Calibri" pitchFamily="34" charset="-120"/>
                        </a:rPr>
                        <a:t>NORMAL</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below 1.00 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B45309"/>
                          </a:solidFill>
                          <a:latin typeface="Calibri" pitchFamily="34" charset="0"/>
                          <a:ea typeface="Calibri" pitchFamily="34" charset="-122"/>
                          <a:cs typeface="Calibri" pitchFamily="34" charset="-120"/>
                        </a:rPr>
                        <a:t>WARNING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1.00 to 1.20 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Logged, shown in amber</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CRITICAL</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1.20 g and above</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Buzzer, SMS, fault recording</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57200">
                <a:tc>
                  <a:txBody>
                    <a:bodyPr/>
                    <a:lstStyle/>
                    <a:p>
                      <a:pPr indent="0" marL="0">
                        <a:buNone/>
                      </a:pPr>
                      <a:r>
                        <a:rPr lang="en-US" sz="1400" b="1" dirty="0">
                          <a:solidFill>
                            <a:srgbClr val="B91C1C"/>
                          </a:solidFill>
                          <a:latin typeface="Calibri" pitchFamily="34" charset="0"/>
                          <a:ea typeface="Calibri" pitchFamily="34" charset="-122"/>
                          <a:cs typeface="Calibri" pitchFamily="34" charset="-120"/>
                        </a:rPr>
                        <a:t>TRIPPED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3 CRITICAL readings in a row</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400" dirty="0">
                          <a:solidFill>
                            <a:srgbClr val="374151"/>
                          </a:solidFill>
                          <a:latin typeface="Calibri" pitchFamily="34" charset="0"/>
                          <a:ea typeface="Calibri" pitchFamily="34" charset="-122"/>
                          <a:cs typeface="Calibri" pitchFamily="34" charset="-120"/>
                        </a:rPr>
                        <a:t>Motor power cut; restart by knob or dashboard</a:t>
                      </a:r>
                      <a:endParaRPr lang="en-US" sz="14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6172200" y="4114800"/>
            <a:ext cx="5468112" cy="109728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Thresholds were set on our motor test rig, where normal running averages about 0.1 g with short peaks up to about 1.0 g. Waiting for 3 readings before tripping stops a single knock from shutting the pump down.</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Layer 2: ML Anomaly Detection on the Fog</a:t>
            </a:r>
            <a:endParaRPr lang="en-US" sz="2800" dirty="0"/>
          </a:p>
        </p:txBody>
      </p:sp>
      <p:sp>
        <p:nvSpPr>
          <p:cNvPr id="3" name="Shape 1"/>
          <p:cNvSpPr/>
          <p:nvPr/>
        </p:nvSpPr>
        <p:spPr>
          <a:xfrm>
            <a:off x="548640" y="1280160"/>
            <a:ext cx="2011680" cy="868680"/>
          </a:xfrm>
          <a:prstGeom prst="rect">
            <a:avLst/>
          </a:prstGeom>
          <a:solidFill>
            <a:srgbClr val="FFFFFF"/>
          </a:solidFill>
          <a:ln w="12700">
            <a:solidFill>
              <a:srgbClr val="6B7280"/>
            </a:solidFill>
            <a:prstDash val="solid"/>
          </a:ln>
        </p:spPr>
      </p:sp>
      <p:sp>
        <p:nvSpPr>
          <p:cNvPr id="4" name="Text 2"/>
          <p:cNvSpPr txBox="1"/>
          <p:nvPr/>
        </p:nvSpPr>
        <p:spPr>
          <a:xfrm>
            <a:off x="621792" y="1280160"/>
            <a:ext cx="18653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CWRU recordings (12 / 48 kHz)</a:t>
            </a:r>
            <a:endParaRPr lang="en-US" sz="1300" dirty="0"/>
          </a:p>
        </p:txBody>
      </p:sp>
      <p:sp>
        <p:nvSpPr>
          <p:cNvPr id="5" name="Shape 3"/>
          <p:cNvSpPr/>
          <p:nvPr/>
        </p:nvSpPr>
        <p:spPr>
          <a:xfrm>
            <a:off x="2587752" y="1709928"/>
            <a:ext cx="201168" cy="0"/>
          </a:xfrm>
          <a:prstGeom prst="line">
            <a:avLst/>
          </a:prstGeom>
          <a:noFill/>
          <a:ln w="25400">
            <a:solidFill>
              <a:srgbClr val="13294B"/>
            </a:solidFill>
            <a:prstDash val="solid"/>
            <a:tailEnd type="triangle"/>
          </a:ln>
        </p:spPr>
      </p:sp>
      <p:sp>
        <p:nvSpPr>
          <p:cNvPr id="6" name="Shape 4"/>
          <p:cNvSpPr/>
          <p:nvPr/>
        </p:nvSpPr>
        <p:spPr>
          <a:xfrm>
            <a:off x="2816352" y="1280160"/>
            <a:ext cx="2011680" cy="868680"/>
          </a:xfrm>
          <a:prstGeom prst="rect">
            <a:avLst/>
          </a:prstGeom>
          <a:solidFill>
            <a:srgbClr val="FFFFFF"/>
          </a:solidFill>
          <a:ln w="12700">
            <a:solidFill>
              <a:srgbClr val="6B7280"/>
            </a:solidFill>
            <a:prstDash val="solid"/>
          </a:ln>
        </p:spPr>
      </p:sp>
      <p:sp>
        <p:nvSpPr>
          <p:cNvPr id="7" name="Text 5"/>
          <p:cNvSpPr txBox="1"/>
          <p:nvPr/>
        </p:nvSpPr>
        <p:spPr>
          <a:xfrm>
            <a:off x="2889504" y="1280160"/>
            <a:ext cx="18653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184 Hz low-pass, as the MPU6050 DLPF</a:t>
            </a:r>
            <a:endParaRPr lang="en-US" sz="1300" dirty="0"/>
          </a:p>
        </p:txBody>
      </p:sp>
      <p:sp>
        <p:nvSpPr>
          <p:cNvPr id="8" name="Shape 6"/>
          <p:cNvSpPr/>
          <p:nvPr/>
        </p:nvSpPr>
        <p:spPr>
          <a:xfrm>
            <a:off x="4855464" y="1709928"/>
            <a:ext cx="201168" cy="0"/>
          </a:xfrm>
          <a:prstGeom prst="line">
            <a:avLst/>
          </a:prstGeom>
          <a:noFill/>
          <a:ln w="25400">
            <a:solidFill>
              <a:srgbClr val="13294B"/>
            </a:solidFill>
            <a:prstDash val="solid"/>
            <a:tailEnd type="triangle"/>
          </a:ln>
        </p:spPr>
      </p:sp>
      <p:sp>
        <p:nvSpPr>
          <p:cNvPr id="9" name="Shape 7"/>
          <p:cNvSpPr/>
          <p:nvPr/>
        </p:nvSpPr>
        <p:spPr>
          <a:xfrm>
            <a:off x="5084064" y="1280160"/>
            <a:ext cx="2011680" cy="868680"/>
          </a:xfrm>
          <a:prstGeom prst="rect">
            <a:avLst/>
          </a:prstGeom>
          <a:solidFill>
            <a:srgbClr val="FFFFFF"/>
          </a:solidFill>
          <a:ln w="12700">
            <a:solidFill>
              <a:srgbClr val="6B7280"/>
            </a:solidFill>
            <a:prstDash val="solid"/>
          </a:ln>
        </p:spPr>
      </p:sp>
      <p:sp>
        <p:nvSpPr>
          <p:cNvPr id="10" name="Text 8"/>
          <p:cNvSpPr txBox="1"/>
          <p:nvPr/>
        </p:nvSpPr>
        <p:spPr>
          <a:xfrm>
            <a:off x="5157216" y="1280160"/>
            <a:ext cx="18653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Resample to 500 Hz, 256-sample windows</a:t>
            </a:r>
            <a:endParaRPr lang="en-US" sz="1300" dirty="0"/>
          </a:p>
        </p:txBody>
      </p:sp>
      <p:sp>
        <p:nvSpPr>
          <p:cNvPr id="11" name="Shape 9"/>
          <p:cNvSpPr/>
          <p:nvPr/>
        </p:nvSpPr>
        <p:spPr>
          <a:xfrm>
            <a:off x="7123176" y="1709928"/>
            <a:ext cx="201168" cy="0"/>
          </a:xfrm>
          <a:prstGeom prst="line">
            <a:avLst/>
          </a:prstGeom>
          <a:noFill/>
          <a:ln w="25400">
            <a:solidFill>
              <a:srgbClr val="13294B"/>
            </a:solidFill>
            <a:prstDash val="solid"/>
            <a:tailEnd type="triangle"/>
          </a:ln>
        </p:spPr>
      </p:sp>
      <p:sp>
        <p:nvSpPr>
          <p:cNvPr id="12" name="Shape 10"/>
          <p:cNvSpPr/>
          <p:nvPr/>
        </p:nvSpPr>
        <p:spPr>
          <a:xfrm>
            <a:off x="7351776" y="1280160"/>
            <a:ext cx="2011680" cy="868680"/>
          </a:xfrm>
          <a:prstGeom prst="rect">
            <a:avLst/>
          </a:prstGeom>
          <a:solidFill>
            <a:srgbClr val="FFFFFF"/>
          </a:solidFill>
          <a:ln w="12700">
            <a:solidFill>
              <a:srgbClr val="6B7280"/>
            </a:solidFill>
            <a:prstDash val="solid"/>
          </a:ln>
        </p:spPr>
      </p:sp>
      <p:sp>
        <p:nvSpPr>
          <p:cNvPr id="13" name="Text 11"/>
          <p:cNvSpPr txBox="1"/>
          <p:nvPr/>
        </p:nvSpPr>
        <p:spPr>
          <a:xfrm>
            <a:off x="7424928" y="1280160"/>
            <a:ext cx="18653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Energy in 10 bands, 0–250 Hz (log)</a:t>
            </a:r>
            <a:endParaRPr lang="en-US" sz="1300" dirty="0"/>
          </a:p>
        </p:txBody>
      </p:sp>
      <p:sp>
        <p:nvSpPr>
          <p:cNvPr id="14" name="Shape 12"/>
          <p:cNvSpPr/>
          <p:nvPr/>
        </p:nvSpPr>
        <p:spPr>
          <a:xfrm>
            <a:off x="9390888" y="1709928"/>
            <a:ext cx="201168" cy="0"/>
          </a:xfrm>
          <a:prstGeom prst="line">
            <a:avLst/>
          </a:prstGeom>
          <a:noFill/>
          <a:ln w="25400">
            <a:solidFill>
              <a:srgbClr val="13294B"/>
            </a:solidFill>
            <a:prstDash val="solid"/>
            <a:tailEnd type="triangle"/>
          </a:ln>
        </p:spPr>
      </p:sp>
      <p:sp>
        <p:nvSpPr>
          <p:cNvPr id="15" name="Shape 13"/>
          <p:cNvSpPr/>
          <p:nvPr/>
        </p:nvSpPr>
        <p:spPr>
          <a:xfrm>
            <a:off x="9619488" y="1280160"/>
            <a:ext cx="2011680" cy="868680"/>
          </a:xfrm>
          <a:prstGeom prst="rect">
            <a:avLst/>
          </a:prstGeom>
          <a:solidFill>
            <a:srgbClr val="FCEFE7"/>
          </a:solidFill>
          <a:ln w="12700">
            <a:solidFill>
              <a:srgbClr val="C2410C"/>
            </a:solidFill>
            <a:prstDash val="solid"/>
          </a:ln>
        </p:spPr>
      </p:sp>
      <p:sp>
        <p:nvSpPr>
          <p:cNvPr id="16" name="Text 14"/>
          <p:cNvSpPr txBox="1"/>
          <p:nvPr/>
        </p:nvSpPr>
        <p:spPr>
          <a:xfrm>
            <a:off x="9692640" y="1280160"/>
            <a:ext cx="18653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Isolation Forest, trained on normal only</a:t>
            </a:r>
            <a:endParaRPr lang="en-US" sz="1300" dirty="0"/>
          </a:p>
        </p:txBody>
      </p:sp>
      <p:sp>
        <p:nvSpPr>
          <p:cNvPr id="17" name="Text 15"/>
          <p:cNvSpPr txBox="1"/>
          <p:nvPr/>
        </p:nvSpPr>
        <p:spPr>
          <a:xfrm>
            <a:off x="548640" y="251460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Why these choices</a:t>
            </a:r>
            <a:endParaRPr lang="en-US" sz="1600" dirty="0"/>
          </a:p>
        </p:txBody>
      </p:sp>
      <p:sp>
        <p:nvSpPr>
          <p:cNvPr id="18" name="Text 16"/>
          <p:cNvSpPr txBox="1"/>
          <p:nvPr/>
        </p:nvSpPr>
        <p:spPr>
          <a:xfrm>
            <a:off x="548640" y="2880360"/>
            <a:ext cx="5486400" cy="27432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CWRU (Case Western Reserve University) is the standard public bearing dataset: real recordings of healthy bearings and of inner-race, ball and outer-race faults (0.007–0.021 in) at 0–3 hp</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We filter and resample it to exactly what our MPU6050 can measure, so the model never relies on frequencies our sensor cannot see</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Isolation Forest needs only normal data, which a pump produces every day; real faults are rare</a:t>
            </a:r>
            <a:endParaRPr lang="en-US" sz="1400" dirty="0"/>
          </a:p>
        </p:txBody>
      </p:sp>
      <p:sp>
        <p:nvSpPr>
          <p:cNvPr id="19" name="Text 17"/>
          <p:cNvSpPr txBox="1"/>
          <p:nvPr/>
        </p:nvSpPr>
        <p:spPr>
          <a:xfrm>
            <a:off x="6355080" y="2514600"/>
            <a:ext cx="5285232"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How it runs live</a:t>
            </a:r>
            <a:endParaRPr lang="en-US" sz="1600" dirty="0"/>
          </a:p>
        </p:txBody>
      </p:sp>
      <p:sp>
        <p:nvSpPr>
          <p:cNvPr id="20" name="Text 18"/>
          <p:cNvSpPr txBox="1"/>
          <p:nvPr/>
        </p:nvSpPr>
        <p:spPr>
          <a:xfrm>
            <a:off x="6355080" y="2880360"/>
            <a:ext cx="5285232" cy="27432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The ESP32 sends its 256-sample window with every reading</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The fog computes the same features with the training code and scores the window</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Anomaly when 3 of the last 5 windows exceed the limit</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"Calibrate ML" fits the model to a new pump from about 2 minutes of normal running</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The model pauses while the motor is stopped or tripped</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ML Results on Real Bearing Data</a:t>
            </a:r>
            <a:endParaRPr lang="en-US" sz="2800" dirty="0"/>
          </a:p>
        </p:txBody>
      </p:sp>
      <p:graphicFrame>
        <p:nvGraphicFramePr>
          <p:cNvPr id="3" name="Chart 0" descr=""/>
          <p:cNvGraphicFramePr/>
          <p:nvPr/>
        </p:nvGraphicFramePr>
        <p:xfrm>
          <a:off x="548640" y="123444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812280" y="1234440"/>
          <a:ext cx="4828032" cy="914400"/>
        </p:xfrm>
        <a:graphic>
          <a:graphicData uri="http://schemas.openxmlformats.org/drawingml/2006/table">
            <a:tbl>
              <a:tblPr/>
              <a:tblGrid>
                <a:gridCol w="3182112"/>
                <a:gridCol w="1645920"/>
              </a:tblGrid>
              <a:tr h="41148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Isolation Forest (normal-only training)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Value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Detection rate (fault windows)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97.7 %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False alarm rate (held-out normal)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0.7 %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Precision / F1</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0.999 / 0.988</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ROC AUC</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0.999</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Windows (train / normal test / fault)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357 / 136 / 1369</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41148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Random Forest reference (unseen 3 hp load)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87.4 % accuracy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12280" y="4343400"/>
            <a:ext cx="4828032" cy="146304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Per-window results, before the 3-of-5 vote. A version using only shape features (crest factor, kurtosis) detected just 15 %: after the 184 Hz filter, the impulsive part of bearing faults is gone, so frequency-band energy carries the information.</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System Workflow</a:t>
            </a:r>
            <a:endParaRPr lang="en-US" sz="2800" dirty="0"/>
          </a:p>
        </p:txBody>
      </p:sp>
      <p:sp>
        <p:nvSpPr>
          <p:cNvPr id="3" name="Shape 1"/>
          <p:cNvSpPr/>
          <p:nvPr/>
        </p:nvSpPr>
        <p:spPr>
          <a:xfrm>
            <a:off x="548640" y="1234440"/>
            <a:ext cx="11094415" cy="1600200"/>
          </a:xfrm>
          <a:prstGeom prst="rect">
            <a:avLst/>
          </a:prstGeom>
          <a:solidFill>
            <a:srgbClr val="F3F5F8"/>
          </a:solidFill>
          <a:ln w="12700">
            <a:solidFill>
              <a:srgbClr val="F3F5F8"/>
            </a:solidFill>
            <a:prstDash val="solid"/>
          </a:ln>
        </p:spPr>
      </p:sp>
      <p:sp>
        <p:nvSpPr>
          <p:cNvPr id="4" name="Shape 2"/>
          <p:cNvSpPr/>
          <p:nvPr/>
        </p:nvSpPr>
        <p:spPr>
          <a:xfrm>
            <a:off x="548640" y="3063240"/>
            <a:ext cx="11094415" cy="1600200"/>
          </a:xfrm>
          <a:prstGeom prst="rect">
            <a:avLst/>
          </a:prstGeom>
          <a:solidFill>
            <a:srgbClr val="F3F5F8"/>
          </a:solidFill>
          <a:ln w="12700">
            <a:solidFill>
              <a:srgbClr val="F3F5F8"/>
            </a:solidFill>
            <a:prstDash val="solid"/>
          </a:ln>
        </p:spPr>
      </p:sp>
      <p:sp>
        <p:nvSpPr>
          <p:cNvPr id="5" name="Text 3"/>
          <p:cNvSpPr txBox="1"/>
          <p:nvPr/>
        </p:nvSpPr>
        <p:spPr>
          <a:xfrm>
            <a:off x="685800" y="1234440"/>
            <a:ext cx="1188720" cy="16002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Edge node</a:t>
            </a:r>
            <a:endParaRPr lang="en-US" sz="1400" dirty="0"/>
          </a:p>
          <a:p>
            <a:pPr indent="0" marL="0">
              <a:buNone/>
            </a:pPr>
            <a:r>
              <a:rPr lang="en-US" sz="1400" dirty="0">
                <a:solidFill>
                  <a:srgbClr val="13294B"/>
                </a:solidFill>
                <a:latin typeface="Calibri" pitchFamily="34" charset="0"/>
                <a:ea typeface="Calibri" pitchFamily="34" charset="-122"/>
                <a:cs typeface="Calibri" pitchFamily="34" charset="-120"/>
              </a:rPr>
              <a:t>(ESP32)</a:t>
            </a:r>
            <a:endParaRPr lang="en-US" sz="1400" dirty="0"/>
          </a:p>
        </p:txBody>
      </p:sp>
      <p:sp>
        <p:nvSpPr>
          <p:cNvPr id="6" name="Text 4"/>
          <p:cNvSpPr txBox="1"/>
          <p:nvPr/>
        </p:nvSpPr>
        <p:spPr>
          <a:xfrm>
            <a:off x="685800" y="3063240"/>
            <a:ext cx="1188720" cy="1600200"/>
          </a:xfrm>
          <a:prstGeom prst="rect">
            <a:avLst/>
          </a:prstGeom>
          <a:noFill/>
          <a:ln/>
        </p:spPr>
        <p:txBody>
          <a:bodyPr wrap="square" lIns="0" tIns="0" rIns="0" bIns="0" rtlCol="0" anchor="ctr"/>
          <a:lstStyle/>
          <a:p>
            <a:pPr indent="0" marL="0">
              <a:buNone/>
            </a:pPr>
            <a:r>
              <a:rPr lang="en-US" sz="1400" b="1" dirty="0">
                <a:solidFill>
                  <a:srgbClr val="13294B"/>
                </a:solidFill>
                <a:latin typeface="Calibri" pitchFamily="34" charset="0"/>
                <a:ea typeface="Calibri" pitchFamily="34" charset="-122"/>
                <a:cs typeface="Calibri" pitchFamily="34" charset="-120"/>
              </a:rPr>
              <a:t>Fog server</a:t>
            </a:r>
            <a:endParaRPr lang="en-US" sz="1400" dirty="0"/>
          </a:p>
          <a:p>
            <a:pPr indent="0" marL="0">
              <a:buNone/>
            </a:pPr>
            <a:r>
              <a:rPr lang="en-US" sz="1400" dirty="0">
                <a:solidFill>
                  <a:srgbClr val="13294B"/>
                </a:solidFill>
                <a:latin typeface="Calibri" pitchFamily="34" charset="0"/>
                <a:ea typeface="Calibri" pitchFamily="34" charset="-122"/>
                <a:cs typeface="Calibri" pitchFamily="34" charset="-120"/>
              </a:rPr>
              <a:t>(Flask)</a:t>
            </a:r>
            <a:endParaRPr lang="en-US" sz="1400" dirty="0"/>
          </a:p>
        </p:txBody>
      </p:sp>
      <p:sp>
        <p:nvSpPr>
          <p:cNvPr id="7" name="Shape 5"/>
          <p:cNvSpPr/>
          <p:nvPr/>
        </p:nvSpPr>
        <p:spPr>
          <a:xfrm>
            <a:off x="1783080" y="1600200"/>
            <a:ext cx="1783080" cy="868680"/>
          </a:xfrm>
          <a:prstGeom prst="rect">
            <a:avLst/>
          </a:prstGeom>
          <a:solidFill>
            <a:srgbClr val="FFFFFF"/>
          </a:solidFill>
          <a:ln w="12700">
            <a:solidFill>
              <a:srgbClr val="6B7280"/>
            </a:solidFill>
            <a:prstDash val="solid"/>
          </a:ln>
        </p:spPr>
      </p:sp>
      <p:sp>
        <p:nvSpPr>
          <p:cNvPr id="8" name="Text 6"/>
          <p:cNvSpPr txBox="1"/>
          <p:nvPr/>
        </p:nvSpPr>
        <p:spPr>
          <a:xfrm>
            <a:off x="1856232" y="16002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1. Record 256-sample window</a:t>
            </a:r>
            <a:endParaRPr lang="en-US" sz="1300" dirty="0"/>
          </a:p>
        </p:txBody>
      </p:sp>
      <p:sp>
        <p:nvSpPr>
          <p:cNvPr id="9" name="Shape 7"/>
          <p:cNvSpPr/>
          <p:nvPr/>
        </p:nvSpPr>
        <p:spPr>
          <a:xfrm>
            <a:off x="3566160" y="2029968"/>
            <a:ext cx="182880" cy="0"/>
          </a:xfrm>
          <a:prstGeom prst="line">
            <a:avLst/>
          </a:prstGeom>
          <a:noFill/>
          <a:ln w="25400">
            <a:solidFill>
              <a:srgbClr val="13294B"/>
            </a:solidFill>
            <a:prstDash val="solid"/>
            <a:tailEnd type="triangle"/>
          </a:ln>
        </p:spPr>
      </p:sp>
      <p:sp>
        <p:nvSpPr>
          <p:cNvPr id="10" name="Shape 8"/>
          <p:cNvSpPr/>
          <p:nvPr/>
        </p:nvSpPr>
        <p:spPr>
          <a:xfrm>
            <a:off x="3749040" y="1600200"/>
            <a:ext cx="1783080" cy="868680"/>
          </a:xfrm>
          <a:prstGeom prst="rect">
            <a:avLst/>
          </a:prstGeom>
          <a:solidFill>
            <a:srgbClr val="FFFFFF"/>
          </a:solidFill>
          <a:ln w="12700">
            <a:solidFill>
              <a:srgbClr val="6B7280"/>
            </a:solidFill>
            <a:prstDash val="solid"/>
          </a:ln>
        </p:spPr>
      </p:sp>
      <p:sp>
        <p:nvSpPr>
          <p:cNvPr id="11" name="Text 9"/>
          <p:cNvSpPr txBox="1"/>
          <p:nvPr/>
        </p:nvSpPr>
        <p:spPr>
          <a:xfrm>
            <a:off x="3822192" y="16002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2. Compute vibration v</a:t>
            </a:r>
            <a:endParaRPr lang="en-US" sz="1300" dirty="0"/>
          </a:p>
        </p:txBody>
      </p:sp>
      <p:sp>
        <p:nvSpPr>
          <p:cNvPr id="12" name="Shape 10"/>
          <p:cNvSpPr/>
          <p:nvPr/>
        </p:nvSpPr>
        <p:spPr>
          <a:xfrm>
            <a:off x="5532120" y="2029968"/>
            <a:ext cx="182880" cy="0"/>
          </a:xfrm>
          <a:prstGeom prst="line">
            <a:avLst/>
          </a:prstGeom>
          <a:noFill/>
          <a:ln w="25400">
            <a:solidFill>
              <a:srgbClr val="13294B"/>
            </a:solidFill>
            <a:prstDash val="solid"/>
            <a:tailEnd type="triangle"/>
          </a:ln>
        </p:spPr>
      </p:sp>
      <p:sp>
        <p:nvSpPr>
          <p:cNvPr id="13" name="Shape 11"/>
          <p:cNvSpPr/>
          <p:nvPr/>
        </p:nvSpPr>
        <p:spPr>
          <a:xfrm>
            <a:off x="5715000" y="1600200"/>
            <a:ext cx="1783080" cy="868680"/>
          </a:xfrm>
          <a:prstGeom prst="rect">
            <a:avLst/>
          </a:prstGeom>
          <a:solidFill>
            <a:srgbClr val="FFFFFF"/>
          </a:solidFill>
          <a:ln w="12700">
            <a:solidFill>
              <a:srgbClr val="6B7280"/>
            </a:solidFill>
            <a:prstDash val="solid"/>
          </a:ln>
        </p:spPr>
      </p:sp>
      <p:sp>
        <p:nvSpPr>
          <p:cNvPr id="14" name="Text 12"/>
          <p:cNvSpPr txBox="1"/>
          <p:nvPr/>
        </p:nvSpPr>
        <p:spPr>
          <a:xfrm>
            <a:off x="5788152" y="16002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3. Classify the reading</a:t>
            </a:r>
            <a:endParaRPr lang="en-US" sz="1300" dirty="0"/>
          </a:p>
        </p:txBody>
      </p:sp>
      <p:sp>
        <p:nvSpPr>
          <p:cNvPr id="15" name="Shape 13"/>
          <p:cNvSpPr/>
          <p:nvPr/>
        </p:nvSpPr>
        <p:spPr>
          <a:xfrm>
            <a:off x="7498080" y="2029968"/>
            <a:ext cx="182880" cy="0"/>
          </a:xfrm>
          <a:prstGeom prst="line">
            <a:avLst/>
          </a:prstGeom>
          <a:noFill/>
          <a:ln w="25400">
            <a:solidFill>
              <a:srgbClr val="13294B"/>
            </a:solidFill>
            <a:prstDash val="solid"/>
            <a:tailEnd type="triangle"/>
          </a:ln>
        </p:spPr>
      </p:sp>
      <p:sp>
        <p:nvSpPr>
          <p:cNvPr id="16" name="Shape 14"/>
          <p:cNvSpPr/>
          <p:nvPr/>
        </p:nvSpPr>
        <p:spPr>
          <a:xfrm>
            <a:off x="7680960" y="1600200"/>
            <a:ext cx="1783080" cy="868680"/>
          </a:xfrm>
          <a:prstGeom prst="rect">
            <a:avLst/>
          </a:prstGeom>
          <a:solidFill>
            <a:srgbClr val="FFFFFF"/>
          </a:solidFill>
          <a:ln w="12700">
            <a:solidFill>
              <a:srgbClr val="6B7280"/>
            </a:solidFill>
            <a:prstDash val="solid"/>
          </a:ln>
        </p:spPr>
      </p:sp>
      <p:sp>
        <p:nvSpPr>
          <p:cNvPr id="17" name="Text 15"/>
          <p:cNvSpPr txBox="1"/>
          <p:nvPr/>
        </p:nvSpPr>
        <p:spPr>
          <a:xfrm>
            <a:off x="7754112" y="16002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4. Buzzer; trip motor after 3 CRITICAL</a:t>
            </a:r>
            <a:endParaRPr lang="en-US" sz="1300" dirty="0"/>
          </a:p>
        </p:txBody>
      </p:sp>
      <p:sp>
        <p:nvSpPr>
          <p:cNvPr id="18" name="Shape 16"/>
          <p:cNvSpPr/>
          <p:nvPr/>
        </p:nvSpPr>
        <p:spPr>
          <a:xfrm>
            <a:off x="9464040" y="2029968"/>
            <a:ext cx="182880" cy="0"/>
          </a:xfrm>
          <a:prstGeom prst="line">
            <a:avLst/>
          </a:prstGeom>
          <a:noFill/>
          <a:ln w="25400">
            <a:solidFill>
              <a:srgbClr val="13294B"/>
            </a:solidFill>
            <a:prstDash val="solid"/>
            <a:tailEnd type="triangle"/>
          </a:ln>
        </p:spPr>
      </p:sp>
      <p:sp>
        <p:nvSpPr>
          <p:cNvPr id="19" name="Shape 17"/>
          <p:cNvSpPr/>
          <p:nvPr/>
        </p:nvSpPr>
        <p:spPr>
          <a:xfrm>
            <a:off x="9646920" y="1600200"/>
            <a:ext cx="1783080" cy="868680"/>
          </a:xfrm>
          <a:prstGeom prst="rect">
            <a:avLst/>
          </a:prstGeom>
          <a:solidFill>
            <a:srgbClr val="FFFFFF"/>
          </a:solidFill>
          <a:ln w="12700">
            <a:solidFill>
              <a:srgbClr val="6B7280"/>
            </a:solidFill>
            <a:prstDash val="solid"/>
          </a:ln>
        </p:spPr>
      </p:sp>
      <p:sp>
        <p:nvSpPr>
          <p:cNvPr id="20" name="Text 18"/>
          <p:cNvSpPr txBox="1"/>
          <p:nvPr/>
        </p:nvSpPr>
        <p:spPr>
          <a:xfrm>
            <a:off x="9720072" y="16002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5. Send reading + window, or buffer it</a:t>
            </a:r>
            <a:endParaRPr lang="en-US" sz="1300" dirty="0"/>
          </a:p>
        </p:txBody>
      </p:sp>
      <p:sp>
        <p:nvSpPr>
          <p:cNvPr id="21" name="Shape 19"/>
          <p:cNvSpPr/>
          <p:nvPr/>
        </p:nvSpPr>
        <p:spPr>
          <a:xfrm>
            <a:off x="10538460" y="2468880"/>
            <a:ext cx="0" cy="960120"/>
          </a:xfrm>
          <a:prstGeom prst="line">
            <a:avLst/>
          </a:prstGeom>
          <a:noFill/>
          <a:ln w="25400">
            <a:solidFill>
              <a:srgbClr val="13294B"/>
            </a:solidFill>
            <a:prstDash val="solid"/>
            <a:tailEnd type="triangle"/>
          </a:ln>
        </p:spPr>
      </p:sp>
      <p:sp>
        <p:nvSpPr>
          <p:cNvPr id="22" name="Text 20"/>
          <p:cNvSpPr txBox="1"/>
          <p:nvPr/>
        </p:nvSpPr>
        <p:spPr>
          <a:xfrm>
            <a:off x="10584180" y="2697480"/>
            <a:ext cx="1097280" cy="274320"/>
          </a:xfrm>
          <a:prstGeom prst="rect">
            <a:avLst/>
          </a:prstGeom>
          <a:noFill/>
          <a:ln/>
        </p:spPr>
        <p:txBody>
          <a:bodyPr wrap="square" lIns="0" tIns="0" rIns="0" bIns="0" rtlCol="0" anchor="t"/>
          <a:lstStyle/>
          <a:p>
            <a:pPr indent="0" marL="0">
              <a:buNone/>
            </a:pPr>
            <a:r>
              <a:rPr lang="en-US" sz="1100" dirty="0">
                <a:solidFill>
                  <a:srgbClr val="13294B"/>
                </a:solidFill>
                <a:latin typeface="Calibri" pitchFamily="34" charset="0"/>
                <a:ea typeface="Calibri" pitchFamily="34" charset="-122"/>
                <a:cs typeface="Calibri" pitchFamily="34" charset="-120"/>
              </a:rPr>
              <a:t>POST /data</a:t>
            </a:r>
            <a:endParaRPr lang="en-US" sz="1100" dirty="0"/>
          </a:p>
        </p:txBody>
      </p:sp>
      <p:sp>
        <p:nvSpPr>
          <p:cNvPr id="23" name="Shape 21"/>
          <p:cNvSpPr/>
          <p:nvPr/>
        </p:nvSpPr>
        <p:spPr>
          <a:xfrm>
            <a:off x="9646920" y="3429000"/>
            <a:ext cx="1783080" cy="868680"/>
          </a:xfrm>
          <a:prstGeom prst="rect">
            <a:avLst/>
          </a:prstGeom>
          <a:solidFill>
            <a:srgbClr val="FFFFFF"/>
          </a:solidFill>
          <a:ln w="12700">
            <a:solidFill>
              <a:srgbClr val="6B7280"/>
            </a:solidFill>
            <a:prstDash val="solid"/>
          </a:ln>
        </p:spPr>
      </p:sp>
      <p:sp>
        <p:nvSpPr>
          <p:cNvPr id="24" name="Text 22"/>
          <p:cNvSpPr txBox="1"/>
          <p:nvPr/>
        </p:nvSpPr>
        <p:spPr>
          <a:xfrm>
            <a:off x="9720072" y="34290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6. Update pump state and graph</a:t>
            </a:r>
            <a:endParaRPr lang="en-US" sz="1300" dirty="0"/>
          </a:p>
        </p:txBody>
      </p:sp>
      <p:sp>
        <p:nvSpPr>
          <p:cNvPr id="25" name="Shape 23"/>
          <p:cNvSpPr/>
          <p:nvPr/>
        </p:nvSpPr>
        <p:spPr>
          <a:xfrm flipH="1">
            <a:off x="9464040" y="3858768"/>
            <a:ext cx="182880" cy="0"/>
          </a:xfrm>
          <a:prstGeom prst="line">
            <a:avLst/>
          </a:prstGeom>
          <a:noFill/>
          <a:ln w="25400">
            <a:solidFill>
              <a:srgbClr val="13294B"/>
            </a:solidFill>
            <a:prstDash val="solid"/>
            <a:tailEnd type="triangle"/>
          </a:ln>
        </p:spPr>
      </p:sp>
      <p:sp>
        <p:nvSpPr>
          <p:cNvPr id="26" name="Shape 24"/>
          <p:cNvSpPr/>
          <p:nvPr/>
        </p:nvSpPr>
        <p:spPr>
          <a:xfrm>
            <a:off x="7680960" y="3429000"/>
            <a:ext cx="1783080" cy="868680"/>
          </a:xfrm>
          <a:prstGeom prst="rect">
            <a:avLst/>
          </a:prstGeom>
          <a:solidFill>
            <a:srgbClr val="FCEFE7"/>
          </a:solidFill>
          <a:ln w="12700">
            <a:solidFill>
              <a:srgbClr val="C2410C"/>
            </a:solidFill>
            <a:prstDash val="solid"/>
          </a:ln>
        </p:spPr>
      </p:sp>
      <p:sp>
        <p:nvSpPr>
          <p:cNvPr id="27" name="Text 25"/>
          <p:cNvSpPr txBox="1"/>
          <p:nvPr/>
        </p:nvSpPr>
        <p:spPr>
          <a:xfrm>
            <a:off x="7754112" y="34290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7. ML: band energies, Isolation Forest score</a:t>
            </a:r>
            <a:endParaRPr lang="en-US" sz="1300" dirty="0"/>
          </a:p>
        </p:txBody>
      </p:sp>
      <p:sp>
        <p:nvSpPr>
          <p:cNvPr id="28" name="Shape 26"/>
          <p:cNvSpPr/>
          <p:nvPr/>
        </p:nvSpPr>
        <p:spPr>
          <a:xfrm flipH="1">
            <a:off x="7498080" y="3858768"/>
            <a:ext cx="182880" cy="0"/>
          </a:xfrm>
          <a:prstGeom prst="line">
            <a:avLst/>
          </a:prstGeom>
          <a:noFill/>
          <a:ln w="25400">
            <a:solidFill>
              <a:srgbClr val="13294B"/>
            </a:solidFill>
            <a:prstDash val="solid"/>
            <a:tailEnd type="triangle"/>
          </a:ln>
        </p:spPr>
      </p:sp>
      <p:sp>
        <p:nvSpPr>
          <p:cNvPr id="29" name="Shape 27"/>
          <p:cNvSpPr/>
          <p:nvPr/>
        </p:nvSpPr>
        <p:spPr>
          <a:xfrm>
            <a:off x="5715000" y="3429000"/>
            <a:ext cx="1783080" cy="868680"/>
          </a:xfrm>
          <a:prstGeom prst="rect">
            <a:avLst/>
          </a:prstGeom>
          <a:solidFill>
            <a:srgbClr val="FFFFFF"/>
          </a:solidFill>
          <a:ln w="12700">
            <a:solidFill>
              <a:srgbClr val="6B7280"/>
            </a:solidFill>
            <a:prstDash val="solid"/>
          </a:ln>
        </p:spPr>
      </p:sp>
      <p:sp>
        <p:nvSpPr>
          <p:cNvPr id="30" name="Text 28"/>
          <p:cNvSpPr txBox="1"/>
          <p:nvPr/>
        </p:nvSpPr>
        <p:spPr>
          <a:xfrm>
            <a:off x="5788152" y="34290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8. New CRITICAL? SMS (60 s cooldown)</a:t>
            </a:r>
            <a:endParaRPr lang="en-US" sz="1300" dirty="0"/>
          </a:p>
        </p:txBody>
      </p:sp>
      <p:sp>
        <p:nvSpPr>
          <p:cNvPr id="31" name="Shape 29"/>
          <p:cNvSpPr/>
          <p:nvPr/>
        </p:nvSpPr>
        <p:spPr>
          <a:xfrm flipH="1">
            <a:off x="5532120" y="3858768"/>
            <a:ext cx="182880" cy="0"/>
          </a:xfrm>
          <a:prstGeom prst="line">
            <a:avLst/>
          </a:prstGeom>
          <a:noFill/>
          <a:ln w="25400">
            <a:solidFill>
              <a:srgbClr val="13294B"/>
            </a:solidFill>
            <a:prstDash val="solid"/>
            <a:tailEnd type="triangle"/>
          </a:ln>
        </p:spPr>
      </p:sp>
      <p:sp>
        <p:nvSpPr>
          <p:cNvPr id="32" name="Shape 30"/>
          <p:cNvSpPr/>
          <p:nvPr/>
        </p:nvSpPr>
        <p:spPr>
          <a:xfrm>
            <a:off x="3749040" y="3429000"/>
            <a:ext cx="1783080" cy="868680"/>
          </a:xfrm>
          <a:prstGeom prst="rect">
            <a:avLst/>
          </a:prstGeom>
          <a:solidFill>
            <a:srgbClr val="FFFFFF"/>
          </a:solidFill>
          <a:ln w="12700">
            <a:solidFill>
              <a:srgbClr val="6B7280"/>
            </a:solidFill>
            <a:prstDash val="solid"/>
          </a:ln>
        </p:spPr>
      </p:sp>
      <p:sp>
        <p:nvSpPr>
          <p:cNvPr id="33" name="Text 31"/>
          <p:cNvSpPr txBox="1"/>
          <p:nvPr/>
        </p:nvSpPr>
        <p:spPr>
          <a:xfrm>
            <a:off x="3822192" y="3429000"/>
            <a:ext cx="1636776" cy="868680"/>
          </a:xfrm>
          <a:prstGeom prst="rect">
            <a:avLst/>
          </a:prstGeom>
          <a:noFill/>
          <a:ln/>
        </p:spPr>
        <p:txBody>
          <a:bodyPr wrap="square" lIns="0" tIns="0" rIns="0" bIns="0" rtlCol="0" anchor="ctr"/>
          <a:lstStyle/>
          <a:p>
            <a:pPr algn="ctr" indent="0" marL="0">
              <a:buNone/>
            </a:pPr>
            <a:r>
              <a:rPr lang="en-US" sz="1300" dirty="0">
                <a:solidFill>
                  <a:srgbClr val="1F2937"/>
                </a:solidFill>
                <a:latin typeface="Calibri" pitchFamily="34" charset="0"/>
                <a:ea typeface="Calibri" pitchFamily="34" charset="-122"/>
                <a:cs typeface="Calibri" pitchFamily="34" charset="-120"/>
              </a:rPr>
              <a:t>9. Save CSV: 50 before, 50 after</a:t>
            </a:r>
            <a:endParaRPr lang="en-US" sz="1300" dirty="0"/>
          </a:p>
        </p:txBody>
      </p:sp>
      <p:sp>
        <p:nvSpPr>
          <p:cNvPr id="34" name="Shape 32"/>
          <p:cNvSpPr/>
          <p:nvPr/>
        </p:nvSpPr>
        <p:spPr>
          <a:xfrm flipV="1">
            <a:off x="2674620" y="2468880"/>
            <a:ext cx="0" cy="960120"/>
          </a:xfrm>
          <a:prstGeom prst="line">
            <a:avLst/>
          </a:prstGeom>
          <a:noFill/>
          <a:ln w="25400">
            <a:solidFill>
              <a:srgbClr val="C2410C"/>
            </a:solidFill>
            <a:prstDash val="solid"/>
            <a:tailEnd type="triangle"/>
          </a:ln>
        </p:spPr>
      </p:sp>
      <p:sp>
        <p:nvSpPr>
          <p:cNvPr id="35" name="Text 33"/>
          <p:cNvSpPr txBox="1"/>
          <p:nvPr/>
        </p:nvSpPr>
        <p:spPr>
          <a:xfrm>
            <a:off x="2747772" y="2697480"/>
            <a:ext cx="2377440" cy="274320"/>
          </a:xfrm>
          <a:prstGeom prst="rect">
            <a:avLst/>
          </a:prstGeom>
          <a:noFill/>
          <a:ln/>
        </p:spPr>
        <p:txBody>
          <a:bodyPr wrap="square" lIns="0" tIns="0" rIns="0" bIns="0" rtlCol="0" anchor="t"/>
          <a:lstStyle/>
          <a:p>
            <a:pPr indent="0" marL="0">
              <a:buNone/>
            </a:pPr>
            <a:r>
              <a:rPr lang="en-US" sz="1100" dirty="0">
                <a:solidFill>
                  <a:srgbClr val="C2410C"/>
                </a:solidFill>
                <a:latin typeface="Calibri" pitchFamily="34" charset="0"/>
                <a:ea typeface="Calibri" pitchFamily="34" charset="-122"/>
                <a:cs typeface="Calibri" pitchFamily="34" charset="-120"/>
              </a:rPr>
              <a:t>reply may carry a restart command</a:t>
            </a:r>
            <a:endParaRPr lang="en-US" sz="1100" dirty="0"/>
          </a:p>
        </p:txBody>
      </p:sp>
      <p:sp>
        <p:nvSpPr>
          <p:cNvPr id="36" name="Text 34"/>
          <p:cNvSpPr txBox="1"/>
          <p:nvPr/>
        </p:nvSpPr>
        <p:spPr>
          <a:xfrm>
            <a:off x="548640" y="4937760"/>
            <a:ext cx="11094415" cy="731520"/>
          </a:xfrm>
          <a:prstGeom prst="rect">
            <a:avLst/>
          </a:prstGeom>
          <a:noFill/>
          <a:ln/>
        </p:spPr>
        <p:txBody>
          <a:bodyPr wrap="square" lIns="0" tIns="0" rIns="0" bIns="0" rtlCol="0" anchor="t"/>
          <a:lstStyle/>
          <a:p>
            <a:pPr indent="0" marL="0">
              <a:buNone/>
            </a:pPr>
            <a:r>
              <a:rPr lang="en-US" sz="1400" dirty="0">
                <a:solidFill>
                  <a:srgbClr val="5B6472"/>
                </a:solidFill>
                <a:latin typeface="Calibri" pitchFamily="34" charset="0"/>
                <a:ea typeface="Calibri" pitchFamily="34" charset="-122"/>
                <a:cs typeface="Calibri" pitchFamily="34" charset="-120"/>
              </a:rPr>
              <a:t>The loop repeats every second. Local protection (steps 3–4) never waits on the network; the ML early warning (step 7) adds visibility on top of it.</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Motor Protection and Offline Buffering</a:t>
            </a:r>
            <a:endParaRPr lang="en-US" sz="2800" dirty="0"/>
          </a:p>
        </p:txBody>
      </p:sp>
      <p:sp>
        <p:nvSpPr>
          <p:cNvPr id="3" name="Text 1"/>
          <p:cNvSpPr txBox="1"/>
          <p:nvPr/>
        </p:nvSpPr>
        <p:spPr>
          <a:xfrm>
            <a:off x="548640" y="1234440"/>
            <a:ext cx="530352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Automatic motor trip</a:t>
            </a:r>
            <a:endParaRPr lang="en-US" sz="1600" dirty="0"/>
          </a:p>
        </p:txBody>
      </p:sp>
      <p:sp>
        <p:nvSpPr>
          <p:cNvPr id="4" name="Shape 2"/>
          <p:cNvSpPr/>
          <p:nvPr/>
        </p:nvSpPr>
        <p:spPr>
          <a:xfrm>
            <a:off x="731520" y="1783080"/>
            <a:ext cx="1737360" cy="731520"/>
          </a:xfrm>
          <a:prstGeom prst="roundRect">
            <a:avLst>
              <a:gd name="adj" fmla="val 10000"/>
            </a:avLst>
          </a:prstGeom>
          <a:solidFill>
            <a:srgbClr val="DCFCE7"/>
          </a:solidFill>
          <a:ln w="12700">
            <a:solidFill>
              <a:srgbClr val="15803D"/>
            </a:solidFill>
            <a:prstDash val="solid"/>
          </a:ln>
        </p:spPr>
      </p:sp>
      <p:sp>
        <p:nvSpPr>
          <p:cNvPr id="5" name="Text 3"/>
          <p:cNvSpPr txBox="1"/>
          <p:nvPr/>
        </p:nvSpPr>
        <p:spPr>
          <a:xfrm>
            <a:off x="731520" y="1783080"/>
            <a:ext cx="1737360" cy="731520"/>
          </a:xfrm>
          <a:prstGeom prst="rect">
            <a:avLst/>
          </a:prstGeom>
          <a:noFill/>
          <a:ln/>
        </p:spPr>
        <p:txBody>
          <a:bodyPr wrap="square" lIns="0" tIns="0" rIns="0" bIns="0" rtlCol="0" anchor="ctr"/>
          <a:lstStyle/>
          <a:p>
            <a:pPr algn="ctr" indent="0" marL="0">
              <a:buNone/>
            </a:pPr>
            <a:r>
              <a:rPr lang="en-US" sz="1600" b="1" dirty="0">
                <a:solidFill>
                  <a:srgbClr val="15803D"/>
                </a:solidFill>
                <a:latin typeface="Calibri" pitchFamily="34" charset="0"/>
                <a:ea typeface="Calibri" pitchFamily="34" charset="-122"/>
                <a:cs typeface="Calibri" pitchFamily="34" charset="-120"/>
              </a:rPr>
              <a:t>RUNNING</a:t>
            </a:r>
            <a:endParaRPr lang="en-US" sz="1600" dirty="0"/>
          </a:p>
        </p:txBody>
      </p:sp>
      <p:sp>
        <p:nvSpPr>
          <p:cNvPr id="6" name="Shape 4"/>
          <p:cNvSpPr/>
          <p:nvPr/>
        </p:nvSpPr>
        <p:spPr>
          <a:xfrm>
            <a:off x="3931920" y="1783080"/>
            <a:ext cx="1737360" cy="731520"/>
          </a:xfrm>
          <a:prstGeom prst="roundRect">
            <a:avLst>
              <a:gd name="adj" fmla="val 10000"/>
            </a:avLst>
          </a:prstGeom>
          <a:solidFill>
            <a:srgbClr val="FEE2E2"/>
          </a:solidFill>
          <a:ln w="12700">
            <a:solidFill>
              <a:srgbClr val="B91C1C"/>
            </a:solidFill>
            <a:prstDash val="solid"/>
          </a:ln>
        </p:spPr>
      </p:sp>
      <p:sp>
        <p:nvSpPr>
          <p:cNvPr id="7" name="Text 5"/>
          <p:cNvSpPr txBox="1"/>
          <p:nvPr/>
        </p:nvSpPr>
        <p:spPr>
          <a:xfrm>
            <a:off x="3931920" y="1783080"/>
            <a:ext cx="1737360" cy="731520"/>
          </a:xfrm>
          <a:prstGeom prst="rect">
            <a:avLst/>
          </a:prstGeom>
          <a:noFill/>
          <a:ln/>
        </p:spPr>
        <p:txBody>
          <a:bodyPr wrap="square" lIns="0" tIns="0" rIns="0" bIns="0" rtlCol="0" anchor="ctr"/>
          <a:lstStyle/>
          <a:p>
            <a:pPr algn="ctr" indent="0" marL="0">
              <a:buNone/>
            </a:pPr>
            <a:r>
              <a:rPr lang="en-US" sz="1600" b="1" dirty="0">
                <a:solidFill>
                  <a:srgbClr val="B91C1C"/>
                </a:solidFill>
                <a:latin typeface="Calibri" pitchFamily="34" charset="0"/>
                <a:ea typeface="Calibri" pitchFamily="34" charset="-122"/>
                <a:cs typeface="Calibri" pitchFamily="34" charset="-120"/>
              </a:rPr>
              <a:t>TRIPPED</a:t>
            </a:r>
            <a:endParaRPr lang="en-US" sz="1600" dirty="0"/>
          </a:p>
        </p:txBody>
      </p:sp>
      <p:sp>
        <p:nvSpPr>
          <p:cNvPr id="8" name="Shape 6"/>
          <p:cNvSpPr/>
          <p:nvPr/>
        </p:nvSpPr>
        <p:spPr>
          <a:xfrm>
            <a:off x="2514600" y="1965960"/>
            <a:ext cx="1371600" cy="0"/>
          </a:xfrm>
          <a:prstGeom prst="line">
            <a:avLst/>
          </a:prstGeom>
          <a:noFill/>
          <a:ln w="25400">
            <a:solidFill>
              <a:srgbClr val="B91C1C"/>
            </a:solidFill>
            <a:prstDash val="solid"/>
            <a:tailEnd type="triangle"/>
          </a:ln>
        </p:spPr>
      </p:sp>
      <p:sp>
        <p:nvSpPr>
          <p:cNvPr id="9" name="Text 7"/>
          <p:cNvSpPr txBox="1"/>
          <p:nvPr/>
        </p:nvSpPr>
        <p:spPr>
          <a:xfrm>
            <a:off x="2468880" y="1572768"/>
            <a:ext cx="1463040" cy="320040"/>
          </a:xfrm>
          <a:prstGeom prst="rect">
            <a:avLst/>
          </a:prstGeom>
          <a:noFill/>
          <a:ln/>
        </p:spPr>
        <p:txBody>
          <a:bodyPr wrap="square" lIns="0" tIns="0" rIns="0" bIns="0" rtlCol="0" anchor="t"/>
          <a:lstStyle/>
          <a:p>
            <a:pPr algn="ctr" indent="0" marL="0">
              <a:buNone/>
            </a:pPr>
            <a:r>
              <a:rPr lang="en-US" sz="1100" dirty="0">
                <a:solidFill>
                  <a:srgbClr val="B91C1C"/>
                </a:solidFill>
                <a:latin typeface="Calibri" pitchFamily="34" charset="0"/>
                <a:ea typeface="Calibri" pitchFamily="34" charset="-122"/>
                <a:cs typeface="Calibri" pitchFamily="34" charset="-120"/>
              </a:rPr>
              <a:t>3 CRITICAL in a row</a:t>
            </a:r>
            <a:endParaRPr lang="en-US" sz="1100" dirty="0"/>
          </a:p>
        </p:txBody>
      </p:sp>
      <p:sp>
        <p:nvSpPr>
          <p:cNvPr id="10" name="Shape 8"/>
          <p:cNvSpPr/>
          <p:nvPr/>
        </p:nvSpPr>
        <p:spPr>
          <a:xfrm flipH="1">
            <a:off x="2514600" y="2331720"/>
            <a:ext cx="1371600" cy="0"/>
          </a:xfrm>
          <a:prstGeom prst="line">
            <a:avLst/>
          </a:prstGeom>
          <a:noFill/>
          <a:ln w="25400">
            <a:solidFill>
              <a:srgbClr val="15803D"/>
            </a:solidFill>
            <a:prstDash val="solid"/>
            <a:tailEnd type="triangle"/>
          </a:ln>
        </p:spPr>
      </p:sp>
      <p:sp>
        <p:nvSpPr>
          <p:cNvPr id="11" name="Text 9"/>
          <p:cNvSpPr txBox="1"/>
          <p:nvPr/>
        </p:nvSpPr>
        <p:spPr>
          <a:xfrm>
            <a:off x="2468880" y="2377440"/>
            <a:ext cx="1463040" cy="457200"/>
          </a:xfrm>
          <a:prstGeom prst="rect">
            <a:avLst/>
          </a:prstGeom>
          <a:noFill/>
          <a:ln/>
        </p:spPr>
        <p:txBody>
          <a:bodyPr wrap="square" lIns="0" tIns="0" rIns="0" bIns="0" rtlCol="0" anchor="t"/>
          <a:lstStyle/>
          <a:p>
            <a:pPr algn="ctr" indent="0" marL="0">
              <a:buNone/>
            </a:pPr>
            <a:r>
              <a:rPr lang="en-US" sz="1100" dirty="0">
                <a:solidFill>
                  <a:srgbClr val="15803D"/>
                </a:solidFill>
                <a:latin typeface="Calibri" pitchFamily="34" charset="0"/>
                <a:ea typeface="Calibri" pitchFamily="34" charset="-122"/>
                <a:cs typeface="Calibri" pitchFamily="34" charset="-120"/>
              </a:rPr>
              <a:t>knob to zero, or dashboard restart</a:t>
            </a:r>
            <a:endParaRPr lang="en-US" sz="1100" dirty="0"/>
          </a:p>
        </p:txBody>
      </p:sp>
      <p:sp>
        <p:nvSpPr>
          <p:cNvPr id="12" name="Text 10"/>
          <p:cNvSpPr txBox="1"/>
          <p:nvPr/>
        </p:nvSpPr>
        <p:spPr>
          <a:xfrm>
            <a:off x="548640" y="3108960"/>
            <a:ext cx="5303520" cy="256032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Power is cut through the L298N enable pin; no extra hardware</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Buzzer beeps every second while the motor is tripped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The restart reaches the ESP32 in the reply to its next reading</a:t>
            </a:r>
            <a:endParaRPr lang="en-US" sz="1500" dirty="0"/>
          </a:p>
        </p:txBody>
      </p:sp>
      <p:sp>
        <p:nvSpPr>
          <p:cNvPr id="13" name="Text 11"/>
          <p:cNvSpPr txBox="1"/>
          <p:nvPr/>
        </p:nvSpPr>
        <p:spPr>
          <a:xfrm>
            <a:off x="6355080" y="1234440"/>
            <a:ext cx="5285232"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Store-and-forward buffer</a:t>
            </a:r>
            <a:endParaRPr lang="en-US" sz="1600" dirty="0"/>
          </a:p>
        </p:txBody>
      </p:sp>
      <p:sp>
        <p:nvSpPr>
          <p:cNvPr id="14" name="Text 12"/>
          <p:cNvSpPr txBox="1"/>
          <p:nvPr/>
        </p:nvSpPr>
        <p:spPr>
          <a:xfrm>
            <a:off x="6355080" y="1645920"/>
            <a:ext cx="5285232" cy="420624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Ring buffer of 300 readings in ESP32 RAM: 5 minutes at one reading per second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When the fog is back, readings are uploaded 30 at a time with each reading's age</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The fog places them at their original time on the graph and logs "Buffered readings recovered"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A critical reading during the outage is still reported</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The LCD shows B:&lt;count&gt; while readings are waiting</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Fog Dashboard</a:t>
            </a:r>
            <a:endParaRPr lang="en-US" sz="2800" dirty="0"/>
          </a:p>
        </p:txBody>
      </p:sp>
      <p:pic>
        <p:nvPicPr>
          <p:cNvPr id="3" name="Image 0" descr="/private/tmp/claude-501/-Users-arushmishra-Desktop-resqfog-fog/64a41ab7-f2ab-4b99-9d18-1034707c4476/scratchpad/figs2/dash_top.png">    </p:cNvPr>
          <p:cNvPicPr>
            <a:picLocks noChangeAspect="1"/>
          </p:cNvPicPr>
          <p:nvPr/>
        </p:nvPicPr>
        <p:blipFill>
          <a:blip r:embed="rId1"/>
          <a:stretch>
            <a:fillRect/>
          </a:stretch>
        </p:blipFill>
        <p:spPr>
          <a:xfrm>
            <a:off x="548640" y="1234440"/>
            <a:ext cx="11094415" cy="3520440"/>
          </a:xfrm>
          <a:prstGeom prst="rect">
            <a:avLst/>
          </a:prstGeom>
        </p:spPr>
      </p:pic>
      <p:sp>
        <p:nvSpPr>
          <p:cNvPr id="4" name="Shape 1"/>
          <p:cNvSpPr/>
          <p:nvPr/>
        </p:nvSpPr>
        <p:spPr>
          <a:xfrm>
            <a:off x="548640" y="1234440"/>
            <a:ext cx="11094415" cy="3520440"/>
          </a:xfrm>
          <a:prstGeom prst="rect">
            <a:avLst/>
          </a:prstGeom>
          <a:ln w="9525">
            <a:solidFill>
              <a:srgbClr val="C9CED6"/>
            </a:solidFill>
            <a:prstDash val="solid"/>
          </a:ln>
        </p:spPr>
      </p:sp>
      <p:sp>
        <p:nvSpPr>
          <p:cNvPr id="5" name="Text 2"/>
          <p:cNvSpPr txBox="1"/>
          <p:nvPr/>
        </p:nvSpPr>
        <p:spPr>
          <a:xfrm>
            <a:off x="548640" y="4809744"/>
            <a:ext cx="11094415" cy="256032"/>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Fig. 1: Four pumps in the demo run. PUMP-03 shows an ML early warning at 0.47 g; PUMP-02 and PUMP-04 have tripped.</a:t>
            </a:r>
            <a:endParaRPr lang="en-US" sz="1100" dirty="0"/>
          </a:p>
        </p:txBody>
      </p:sp>
      <p:sp>
        <p:nvSpPr>
          <p:cNvPr id="6" name="Text 3"/>
          <p:cNvSpPr txBox="1"/>
          <p:nvPr/>
        </p:nvSpPr>
        <p:spPr>
          <a:xfrm>
            <a:off x="548640" y="5212080"/>
            <a:ext cx="3566160" cy="73152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Pump cards</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Reading, state and ML status of each pump</a:t>
            </a:r>
            <a:endParaRPr lang="en-US" sz="1500" dirty="0"/>
          </a:p>
        </p:txBody>
      </p:sp>
      <p:sp>
        <p:nvSpPr>
          <p:cNvPr id="7" name="Text 4"/>
          <p:cNvSpPr txBox="1"/>
          <p:nvPr/>
        </p:nvSpPr>
        <p:spPr>
          <a:xfrm>
            <a:off x="4297680" y="5212080"/>
            <a:ext cx="3566160" cy="73152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Status panel</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State, severity scale, ML health and recommended action</a:t>
            </a:r>
            <a:endParaRPr lang="en-US" sz="1500" dirty="0"/>
          </a:p>
        </p:txBody>
      </p:sp>
      <p:sp>
        <p:nvSpPr>
          <p:cNvPr id="8" name="Text 5"/>
          <p:cNvSpPr txBox="1"/>
          <p:nvPr/>
        </p:nvSpPr>
        <p:spPr>
          <a:xfrm>
            <a:off x="8046720" y="5212080"/>
            <a:ext cx="3566160" cy="73152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Data pipeline</a:t>
            </a:r>
            <a:endParaRPr lang="en-US" sz="1500" dirty="0"/>
          </a:p>
          <a:p>
            <a:pPr indent="0" marL="0">
              <a:buNone/>
            </a:pPr>
            <a:r>
              <a:rPr lang="en-US" sz="1300" dirty="0">
                <a:solidFill>
                  <a:srgbClr val="374151"/>
                </a:solidFill>
                <a:latin typeface="Calibri" pitchFamily="34" charset="0"/>
                <a:ea typeface="Calibri" pitchFamily="34" charset="-122"/>
                <a:cs typeface="Calibri" pitchFamily="34" charset="-120"/>
              </a:rPr>
              <a:t>Online status of edge node, fog server and SMS</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ML Early Warning and Monitoring</a:t>
            </a:r>
            <a:endParaRPr lang="en-US" sz="2800" dirty="0"/>
          </a:p>
        </p:txBody>
      </p:sp>
      <p:pic>
        <p:nvPicPr>
          <p:cNvPr id="3" name="Image 0" descr="/private/tmp/claude-501/-Users-arushmishra-Desktop-resqfog-fog/64a41ab7-f2ab-4b99-9d18-1034707c4476/scratchpad/figs2/graph.png">    </p:cNvPr>
          <p:cNvPicPr>
            <a:picLocks noChangeAspect="1"/>
          </p:cNvPicPr>
          <p:nvPr/>
        </p:nvPicPr>
        <p:blipFill>
          <a:blip r:embed="rId1"/>
          <a:stretch>
            <a:fillRect/>
          </a:stretch>
        </p:blipFill>
        <p:spPr>
          <a:xfrm>
            <a:off x="548640" y="1234440"/>
            <a:ext cx="5669280" cy="2350008"/>
          </a:xfrm>
          <a:prstGeom prst="rect">
            <a:avLst/>
          </a:prstGeom>
        </p:spPr>
      </p:pic>
      <p:sp>
        <p:nvSpPr>
          <p:cNvPr id="4" name="Shape 1"/>
          <p:cNvSpPr/>
          <p:nvPr/>
        </p:nvSpPr>
        <p:spPr>
          <a:xfrm>
            <a:off x="548640" y="1234440"/>
            <a:ext cx="5669280" cy="2350008"/>
          </a:xfrm>
          <a:prstGeom prst="rect">
            <a:avLst/>
          </a:prstGeom>
          <a:ln w="9525">
            <a:solidFill>
              <a:srgbClr val="C9CED6"/>
            </a:solidFill>
            <a:prstDash val="solid"/>
          </a:ln>
        </p:spPr>
      </p:sp>
      <p:sp>
        <p:nvSpPr>
          <p:cNvPr id="5" name="Text 2"/>
          <p:cNvSpPr txBox="1"/>
          <p:nvPr/>
        </p:nvSpPr>
        <p:spPr>
          <a:xfrm>
            <a:off x="548640" y="3639312"/>
            <a:ext cx="5669280" cy="256032"/>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Fig. 2: PUMP-03 graph: the earlier fault and trip, then normal running</a:t>
            </a:r>
            <a:endParaRPr lang="en-US" sz="1100" dirty="0"/>
          </a:p>
        </p:txBody>
      </p:sp>
      <p:pic>
        <p:nvPicPr>
          <p:cNvPr id="6" name="Image 1" descr="/private/tmp/claude-501/-Users-arushmishra-Desktop-resqfog-fog/64a41ab7-f2ab-4b99-9d18-1034707c4476/scratchpad/figs2/detection.png">    </p:cNvPr>
          <p:cNvPicPr>
            <a:picLocks noChangeAspect="1"/>
          </p:cNvPicPr>
          <p:nvPr/>
        </p:nvPicPr>
        <p:blipFill>
          <a:blip r:embed="rId2"/>
          <a:stretch>
            <a:fillRect/>
          </a:stretch>
        </p:blipFill>
        <p:spPr>
          <a:xfrm>
            <a:off x="548640" y="3931920"/>
            <a:ext cx="5669280" cy="2029968"/>
          </a:xfrm>
          <a:prstGeom prst="rect">
            <a:avLst/>
          </a:prstGeom>
        </p:spPr>
      </p:pic>
      <p:sp>
        <p:nvSpPr>
          <p:cNvPr id="7" name="Shape 3"/>
          <p:cNvSpPr/>
          <p:nvPr/>
        </p:nvSpPr>
        <p:spPr>
          <a:xfrm>
            <a:off x="548640" y="3931920"/>
            <a:ext cx="5669280" cy="2029968"/>
          </a:xfrm>
          <a:prstGeom prst="rect">
            <a:avLst/>
          </a:prstGeom>
          <a:ln w="9525">
            <a:solidFill>
              <a:srgbClr val="C9CED6"/>
            </a:solidFill>
            <a:prstDash val="solid"/>
          </a:ln>
        </p:spPr>
      </p:sp>
      <p:sp>
        <p:nvSpPr>
          <p:cNvPr id="8" name="Text 4"/>
          <p:cNvSpPr txBox="1"/>
          <p:nvPr/>
        </p:nvSpPr>
        <p:spPr>
          <a:xfrm>
            <a:off x="548640" y="6016752"/>
            <a:ext cx="5669280" cy="256032"/>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Fig. 3: Detection panel and event log: "ML anomaly detected ... before the threshold alarm"</a:t>
            </a:r>
            <a:endParaRPr lang="en-US" sz="1100" dirty="0"/>
          </a:p>
        </p:txBody>
      </p:sp>
      <p:pic>
        <p:nvPicPr>
          <p:cNvPr id="9" name="Image 2" descr="/private/tmp/claude-501/-Users-arushmishra-Desktop-resqfog-fog/64a41ab7-f2ab-4b99-9d18-1034707c4476/scratchpad/figs2/mobile.png">    </p:cNvPr>
          <p:cNvPicPr>
            <a:picLocks noChangeAspect="1"/>
          </p:cNvPicPr>
          <p:nvPr/>
        </p:nvPicPr>
        <p:blipFill>
          <a:blip r:embed="rId3"/>
          <a:stretch>
            <a:fillRect/>
          </a:stretch>
        </p:blipFill>
        <p:spPr>
          <a:xfrm>
            <a:off x="6537960" y="1234440"/>
            <a:ext cx="1600200" cy="4727448"/>
          </a:xfrm>
          <a:prstGeom prst="rect">
            <a:avLst/>
          </a:prstGeom>
        </p:spPr>
      </p:pic>
      <p:sp>
        <p:nvSpPr>
          <p:cNvPr id="10" name="Shape 5"/>
          <p:cNvSpPr/>
          <p:nvPr/>
        </p:nvSpPr>
        <p:spPr>
          <a:xfrm>
            <a:off x="6537960" y="1234440"/>
            <a:ext cx="1600200" cy="4727448"/>
          </a:xfrm>
          <a:prstGeom prst="rect">
            <a:avLst/>
          </a:prstGeom>
          <a:ln w="9525">
            <a:solidFill>
              <a:srgbClr val="C9CED6"/>
            </a:solidFill>
            <a:prstDash val="solid"/>
          </a:ln>
        </p:spPr>
      </p:sp>
      <p:sp>
        <p:nvSpPr>
          <p:cNvPr id="11" name="Text 6"/>
          <p:cNvSpPr txBox="1"/>
          <p:nvPr/>
        </p:nvSpPr>
        <p:spPr>
          <a:xfrm>
            <a:off x="6537960" y="6016752"/>
            <a:ext cx="1600200" cy="256032"/>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Fig. 4: Phone</a:t>
            </a:r>
            <a:endParaRPr lang="en-US" sz="1100" dirty="0"/>
          </a:p>
        </p:txBody>
      </p:sp>
      <p:sp>
        <p:nvSpPr>
          <p:cNvPr id="12" name="Text 7"/>
          <p:cNvSpPr txBox="1"/>
          <p:nvPr/>
        </p:nvSpPr>
        <p:spPr>
          <a:xfrm>
            <a:off x="8412480" y="1234440"/>
            <a:ext cx="3200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Observations</a:t>
            </a:r>
            <a:endParaRPr lang="en-US" sz="1600" dirty="0"/>
          </a:p>
        </p:txBody>
      </p:sp>
      <p:sp>
        <p:nvSpPr>
          <p:cNvPr id="13" name="Text 8"/>
          <p:cNvSpPr txBox="1"/>
          <p:nvPr/>
        </p:nvSpPr>
        <p:spPr>
          <a:xfrm>
            <a:off x="8412480" y="1645920"/>
            <a:ext cx="3227832" cy="42062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In the demo the ML warning comes 10–15 s before the threshold warning, because the fault pattern appears before the level rises</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Score and limit are shown, so the decision can be explained</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Works on any phone on the same network</a:t>
            </a:r>
            <a:endParaRPr lang="en-US" sz="1400" dirty="0"/>
          </a:p>
          <a:p>
            <a:pPr marL="177800" indent="-177800">
              <a:spcAft>
                <a:spcPts val="700"/>
              </a:spcAft>
              <a:buSzPct val="100000"/>
              <a:buChar char="•"/>
            </a:pPr>
            <a:r>
              <a:rPr lang="en-US" sz="1400" dirty="0">
                <a:solidFill>
                  <a:srgbClr val="374151"/>
                </a:solidFill>
                <a:latin typeface="Calibri" pitchFamily="34" charset="0"/>
                <a:ea typeface="Calibri" pitchFamily="34" charset="-122"/>
                <a:cs typeface="Calibri" pitchFamily="34" charset="-120"/>
              </a:rPr>
              <a:t>No data for 5 s shows "Edge Node Offline"</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Fault Recording for Defect Analysis</a:t>
            </a:r>
            <a:endParaRPr lang="en-US" sz="2800" dirty="0"/>
          </a:p>
        </p:txBody>
      </p:sp>
      <p:pic>
        <p:nvPicPr>
          <p:cNvPr id="3" name="Image 0" descr="/private/tmp/claude-501/-Users-arushmishra-Desktop-resqfog-fog/64a41ab7-f2ab-4b99-9d18-1034707c4476/scratchpad/figs2/faults.png">    </p:cNvPr>
          <p:cNvPicPr>
            <a:picLocks noChangeAspect="1"/>
          </p:cNvPicPr>
          <p:nvPr/>
        </p:nvPicPr>
        <p:blipFill>
          <a:blip r:embed="rId1"/>
          <a:stretch>
            <a:fillRect/>
          </a:stretch>
        </p:blipFill>
        <p:spPr>
          <a:xfrm>
            <a:off x="548640" y="1234440"/>
            <a:ext cx="11094415" cy="1161288"/>
          </a:xfrm>
          <a:prstGeom prst="rect">
            <a:avLst/>
          </a:prstGeom>
        </p:spPr>
      </p:pic>
      <p:sp>
        <p:nvSpPr>
          <p:cNvPr id="4" name="Shape 1"/>
          <p:cNvSpPr/>
          <p:nvPr/>
        </p:nvSpPr>
        <p:spPr>
          <a:xfrm>
            <a:off x="548640" y="1234440"/>
            <a:ext cx="11094415" cy="1161288"/>
          </a:xfrm>
          <a:prstGeom prst="rect">
            <a:avLst/>
          </a:prstGeom>
          <a:ln w="9525">
            <a:solidFill>
              <a:srgbClr val="C9CED6"/>
            </a:solidFill>
            <a:prstDash val="solid"/>
          </a:ln>
        </p:spPr>
      </p:sp>
      <p:sp>
        <p:nvSpPr>
          <p:cNvPr id="5" name="Text 2"/>
          <p:cNvSpPr txBox="1"/>
          <p:nvPr/>
        </p:nvSpPr>
        <p:spPr>
          <a:xfrm>
            <a:off x="548640" y="2450592"/>
            <a:ext cx="11094415" cy="256032"/>
          </a:xfrm>
          <a:prstGeom prst="rect">
            <a:avLst/>
          </a:prstGeom>
          <a:noFill/>
          <a:ln/>
        </p:spPr>
        <p:txBody>
          <a:bodyPr wrap="square" lIns="0" tIns="0" rIns="0" bIns="0" rtlCol="0" anchor="t"/>
          <a:lstStyle/>
          <a:p>
            <a:pPr indent="0" marL="0">
              <a:buNone/>
            </a:pPr>
            <a:r>
              <a:rPr lang="en-US" sz="1100" i="1" dirty="0">
                <a:solidFill>
                  <a:srgbClr val="5B6472"/>
                </a:solidFill>
                <a:latin typeface="Calibri" pitchFamily="34" charset="0"/>
                <a:ea typeface="Calibri" pitchFamily="34" charset="-122"/>
                <a:cs typeface="Calibri" pitchFamily="34" charset="-120"/>
              </a:rPr>
              <a:t>Fig. 5: Fault Recordings panel with a saved recording and CSV download</a:t>
            </a:r>
            <a:endParaRPr lang="en-US" sz="1100" dirty="0"/>
          </a:p>
        </p:txBody>
      </p:sp>
      <p:sp>
        <p:nvSpPr>
          <p:cNvPr id="6" name="Text 3"/>
          <p:cNvSpPr txBox="1"/>
          <p:nvPr/>
        </p:nvSpPr>
        <p:spPr>
          <a:xfrm>
            <a:off x="548640" y="3108960"/>
            <a:ext cx="50292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Procedure</a:t>
            </a:r>
            <a:endParaRPr lang="en-US" sz="1600" dirty="0"/>
          </a:p>
        </p:txBody>
      </p:sp>
      <p:sp>
        <p:nvSpPr>
          <p:cNvPr id="7" name="Text 4"/>
          <p:cNvSpPr txBox="1"/>
          <p:nvPr/>
        </p:nvSpPr>
        <p:spPr>
          <a:xfrm>
            <a:off x="548640" y="3474720"/>
            <a:ext cx="365760" cy="685800"/>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1</a:t>
            </a:r>
            <a:endParaRPr lang="en-US" sz="1600" dirty="0"/>
          </a:p>
        </p:txBody>
      </p:sp>
      <p:sp>
        <p:nvSpPr>
          <p:cNvPr id="8" name="Text 5"/>
          <p:cNvSpPr txBox="1"/>
          <p:nvPr/>
        </p:nvSpPr>
        <p:spPr>
          <a:xfrm>
            <a:off x="1005840" y="3474720"/>
            <a:ext cx="4663440" cy="685800"/>
          </a:xfrm>
          <a:prstGeom prst="rect">
            <a:avLst/>
          </a:prstGeom>
          <a:noFill/>
          <a:ln/>
        </p:spPr>
        <p:txBody>
          <a:bodyPr wrap="square" lIns="0" tIns="0" rIns="0" bIns="0" rtlCol="0" anchor="ctr"/>
          <a:lstStyle/>
          <a:p>
            <a:pPr indent="0" marL="0">
              <a:buNone/>
            </a:pPr>
            <a:r>
              <a:rPr lang="en-US" sz="1400" dirty="0">
                <a:solidFill>
                  <a:srgbClr val="374151"/>
                </a:solidFill>
                <a:latin typeface="Calibri" pitchFamily="34" charset="0"/>
                <a:ea typeface="Calibri" pitchFamily="34" charset="-122"/>
                <a:cs typeface="Calibri" pitchFamily="34" charset="-120"/>
              </a:rPr>
              <a:t>The fog keeps the latest 50 readings of each pump in a rolling buffer.</a:t>
            </a:r>
            <a:endParaRPr lang="en-US" sz="1400" dirty="0"/>
          </a:p>
        </p:txBody>
      </p:sp>
      <p:sp>
        <p:nvSpPr>
          <p:cNvPr id="9" name="Shape 6"/>
          <p:cNvSpPr/>
          <p:nvPr/>
        </p:nvSpPr>
        <p:spPr>
          <a:xfrm>
            <a:off x="548640" y="4160520"/>
            <a:ext cx="5120640" cy="0"/>
          </a:xfrm>
          <a:prstGeom prst="line">
            <a:avLst/>
          </a:prstGeom>
          <a:noFill/>
          <a:ln w="9525">
            <a:solidFill>
              <a:srgbClr val="E5E7EB"/>
            </a:solidFill>
            <a:prstDash val="solid"/>
          </a:ln>
        </p:spPr>
      </p:sp>
      <p:sp>
        <p:nvSpPr>
          <p:cNvPr id="10" name="Text 7"/>
          <p:cNvSpPr txBox="1"/>
          <p:nvPr/>
        </p:nvSpPr>
        <p:spPr>
          <a:xfrm>
            <a:off x="548640" y="4160520"/>
            <a:ext cx="365760" cy="685800"/>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2</a:t>
            </a:r>
            <a:endParaRPr lang="en-US" sz="1600" dirty="0"/>
          </a:p>
        </p:txBody>
      </p:sp>
      <p:sp>
        <p:nvSpPr>
          <p:cNvPr id="11" name="Text 8"/>
          <p:cNvSpPr txBox="1"/>
          <p:nvPr/>
        </p:nvSpPr>
        <p:spPr>
          <a:xfrm>
            <a:off x="1005840" y="4160520"/>
            <a:ext cx="4663440" cy="685800"/>
          </a:xfrm>
          <a:prstGeom prst="rect">
            <a:avLst/>
          </a:prstGeom>
          <a:noFill/>
          <a:ln/>
        </p:spPr>
        <p:txBody>
          <a:bodyPr wrap="square" lIns="0" tIns="0" rIns="0" bIns="0" rtlCol="0" anchor="ctr"/>
          <a:lstStyle/>
          <a:p>
            <a:pPr indent="0" marL="0">
              <a:buNone/>
            </a:pPr>
            <a:r>
              <a:rPr lang="en-US" sz="1400" dirty="0">
                <a:solidFill>
                  <a:srgbClr val="374151"/>
                </a:solidFill>
                <a:latin typeface="Calibri" pitchFamily="34" charset="0"/>
                <a:ea typeface="Calibri" pitchFamily="34" charset="-122"/>
                <a:cs typeface="Calibri" pitchFamily="34" charset="-120"/>
              </a:rPr>
              <a:t>A new CRITICAL event freezes that buffer and collects 50 more readings.</a:t>
            </a:r>
            <a:endParaRPr lang="en-US" sz="1400" dirty="0"/>
          </a:p>
        </p:txBody>
      </p:sp>
      <p:sp>
        <p:nvSpPr>
          <p:cNvPr id="12" name="Shape 9"/>
          <p:cNvSpPr/>
          <p:nvPr/>
        </p:nvSpPr>
        <p:spPr>
          <a:xfrm>
            <a:off x="548640" y="4846320"/>
            <a:ext cx="5120640" cy="0"/>
          </a:xfrm>
          <a:prstGeom prst="line">
            <a:avLst/>
          </a:prstGeom>
          <a:noFill/>
          <a:ln w="9525">
            <a:solidFill>
              <a:srgbClr val="E5E7EB"/>
            </a:solidFill>
            <a:prstDash val="solid"/>
          </a:ln>
        </p:spPr>
      </p:sp>
      <p:sp>
        <p:nvSpPr>
          <p:cNvPr id="13" name="Text 10"/>
          <p:cNvSpPr txBox="1"/>
          <p:nvPr/>
        </p:nvSpPr>
        <p:spPr>
          <a:xfrm>
            <a:off x="548640" y="4846320"/>
            <a:ext cx="365760" cy="685800"/>
          </a:xfrm>
          <a:prstGeom prst="rect">
            <a:avLst/>
          </a:prstGeom>
          <a:noFill/>
          <a:ln/>
        </p:spPr>
        <p:txBody>
          <a:bodyPr wrap="square" lIns="0" tIns="0" rIns="0" bIns="0" rtlCol="0" anchor="ctr"/>
          <a:lstStyle/>
          <a:p>
            <a:pPr indent="0" marL="0">
              <a:buNone/>
            </a:pPr>
            <a:r>
              <a:rPr lang="en-US" sz="1600" b="1" dirty="0">
                <a:solidFill>
                  <a:srgbClr val="C2410C"/>
                </a:solidFill>
                <a:latin typeface="Calibri" pitchFamily="34" charset="0"/>
                <a:ea typeface="Calibri" pitchFamily="34" charset="-122"/>
                <a:cs typeface="Calibri" pitchFamily="34" charset="-120"/>
              </a:rPr>
              <a:t>3</a:t>
            </a:r>
            <a:endParaRPr lang="en-US" sz="1600" dirty="0"/>
          </a:p>
        </p:txBody>
      </p:sp>
      <p:sp>
        <p:nvSpPr>
          <p:cNvPr id="14" name="Text 11"/>
          <p:cNvSpPr txBox="1"/>
          <p:nvPr/>
        </p:nvSpPr>
        <p:spPr>
          <a:xfrm>
            <a:off x="1005840" y="4846320"/>
            <a:ext cx="4663440" cy="685800"/>
          </a:xfrm>
          <a:prstGeom prst="rect">
            <a:avLst/>
          </a:prstGeom>
          <a:noFill/>
          <a:ln/>
        </p:spPr>
        <p:txBody>
          <a:bodyPr wrap="square" lIns="0" tIns="0" rIns="0" bIns="0" rtlCol="0" anchor="ctr"/>
          <a:lstStyle/>
          <a:p>
            <a:pPr indent="0" marL="0">
              <a:buNone/>
            </a:pPr>
            <a:r>
              <a:rPr lang="en-US" sz="1400" dirty="0">
                <a:solidFill>
                  <a:srgbClr val="374151"/>
                </a:solidFill>
                <a:latin typeface="Calibri" pitchFamily="34" charset="0"/>
                <a:ea typeface="Calibri" pitchFamily="34" charset="-122"/>
                <a:cs typeface="Calibri" pitchFamily="34" charset="-120"/>
              </a:rPr>
              <a:t>The rows are saved as fault_&lt;pump&gt;_&lt;date&gt;_&lt;time&gt;.csv and listed on the dashboard.</a:t>
            </a:r>
            <a:endParaRPr lang="en-US" sz="1400" dirty="0"/>
          </a:p>
        </p:txBody>
      </p:sp>
      <p:sp>
        <p:nvSpPr>
          <p:cNvPr id="15" name="Text 12"/>
          <p:cNvSpPr txBox="1"/>
          <p:nvPr/>
        </p:nvSpPr>
        <p:spPr>
          <a:xfrm>
            <a:off x="6080760" y="310896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CSV columns</a:t>
            </a:r>
            <a:endParaRPr lang="en-US" sz="1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080760" y="3474720"/>
          <a:ext cx="5559552" cy="914400"/>
        </p:xfrm>
        <a:graphic>
          <a:graphicData uri="http://schemas.openxmlformats.org/drawingml/2006/table">
            <a:tbl>
              <a:tblPr/>
              <a:tblGrid>
                <a:gridCol w="1325880"/>
                <a:gridCol w="1463040"/>
                <a:gridCol w="1536192"/>
                <a:gridCol w="1234440"/>
              </a:tblGrid>
              <a:tr h="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Column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Column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Meaning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machine_id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pump ID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vibration_g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v in 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sample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−50 to +50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motor_pwm</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 to 255</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phase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PRE, FAULT, POST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motor_speed_pct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0 to 100 %</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timestamp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to the millisecond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state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offset_s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time from the fault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Testing and Results</a:t>
            </a:r>
            <a:endParaRPr lang="en-US" sz="28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548640"/>
                <a:gridCol w="2743200"/>
                <a:gridCol w="4206240"/>
                <a:gridCol w="3593592"/>
              </a:tblGrid>
              <a:tr h="36576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No.</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Test case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Expected result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Observed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Edge → Fog telemetry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HTTP 200, one reading per second</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 1.0 msg/s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State classification</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Correct state at 1.00 g and 1.20 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Local alarm</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Buzzer at 1.20 g and above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SMS alert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Manager receives an SMS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Fault recording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CSV with 50 + 1 + 50 rows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 101 rows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Edge offline / SMS rate limit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Flagged within 5 s; ≤ 1 SMS per 60 s per pump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Motor trip and remote restart</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Stops after 3 critical readings; restart in next reply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 (simulated edge)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Offline buffer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Readings from the outage appear on the graph</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 (simulated edge)</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ML on CWRU test data</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High detection, few false alarms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97.7 % detected, 0.7 % false alarms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r h="365760">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ML calibration and early warning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Calibrates in 120 windows; fault windows raise an anomaly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Pass (real CWRU windows)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CEFE7"/>
                    </a:solidFill>
                  </a:tcPr>
                </a:tc>
              </a:tr>
            </a:tbl>
          </a:graphicData>
        </a:graphic>
      </p:graphicFrame>
      <p:sp>
        <p:nvSpPr>
          <p:cNvPr id="4" name="Text 1"/>
          <p:cNvSpPr txBox="1"/>
          <p:nvPr/>
        </p:nvSpPr>
        <p:spPr>
          <a:xfrm>
            <a:off x="548640" y="5440680"/>
            <a:ext cx="11094415" cy="731520"/>
          </a:xfrm>
          <a:prstGeom prst="rect">
            <a:avLst/>
          </a:prstGeom>
          <a:noFill/>
          <a:ln/>
        </p:spPr>
        <p:txBody>
          <a:bodyPr wrap="square" lIns="0" tIns="0" rIns="0" bIns="0" rtlCol="0" anchor="t"/>
          <a:lstStyle/>
          <a:p>
            <a:pPr indent="0" marL="0">
              <a:buNone/>
            </a:pPr>
            <a:r>
              <a:rPr lang="en-US" sz="1300" dirty="0">
                <a:solidFill>
                  <a:srgbClr val="5B6472"/>
                </a:solidFill>
                <a:latin typeface="Calibri" pitchFamily="34" charset="0"/>
                <a:ea typeface="Calibri" pitchFamily="34" charset="-122"/>
                <a:cs typeface="Calibri" pitchFamily="34" charset="-120"/>
              </a:rPr>
              <a:t>Tests 1 to 6 were run on the hardware rig. Tests 7, 8 and 10 were run against the fog server with a simulated edge node sending the same JSON as the firmware; test 9 is the offline evaluation in ml/results.json.</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Limitations and Future Work</a:t>
            </a:r>
            <a:endParaRPr lang="en-US" sz="2800" dirty="0"/>
          </a:p>
        </p:txBody>
      </p:sp>
      <p:sp>
        <p:nvSpPr>
          <p:cNvPr id="3" name="Text 1"/>
          <p:cNvSpPr txBox="1"/>
          <p:nvPr/>
        </p:nvSpPr>
        <p:spPr>
          <a:xfrm>
            <a:off x="548640" y="1234440"/>
            <a:ext cx="539496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Limitations</a:t>
            </a:r>
            <a:endParaRPr lang="en-US" sz="1600" dirty="0"/>
          </a:p>
        </p:txBody>
      </p:sp>
      <p:sp>
        <p:nvSpPr>
          <p:cNvPr id="4" name="Text 2"/>
          <p:cNvSpPr txBox="1"/>
          <p:nvPr/>
        </p:nvSpPr>
        <p:spPr>
          <a:xfrm>
            <a:off x="548640" y="1645920"/>
            <a:ext cx="5394960" cy="3931920"/>
          </a:xfrm>
          <a:prstGeom prst="rect">
            <a:avLst/>
          </a:prstGeom>
          <a:noFill/>
          <a:ln/>
        </p:spPr>
        <p:txBody>
          <a:bodyPr wrap="square" lIns="0" tIns="0" rIns="0" bIns="0" rtlCol="0" anchor="t"/>
          <a:lstStyle/>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The MPU6050 (184 Hz) cannot see the high-frequency impacts of early bearing faults; the model relies on low-frequency band energy</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CWRU healthy and faulty files were recorded separately, so part of the difference may come from the recordings, a known caveat of this dataset</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The model has not yet been tested on faults induced on our own rig</a:t>
            </a:r>
            <a:endParaRPr lang="en-US" sz="1500" dirty="0"/>
          </a:p>
          <a:p>
            <a:pPr marL="177800" indent="-177800">
              <a:spcAft>
                <a:spcPts val="700"/>
              </a:spcAft>
              <a:buSzPct val="100000"/>
              <a:buChar char="•"/>
            </a:pPr>
            <a:r>
              <a:rPr lang="en-US" sz="1500" dirty="0">
                <a:solidFill>
                  <a:srgbClr val="374151"/>
                </a:solidFill>
                <a:latin typeface="Calibri" pitchFamily="34" charset="0"/>
                <a:ea typeface="Calibri" pitchFamily="34" charset="-122"/>
                <a:cs typeface="Calibri" pitchFamily="34" charset="-120"/>
              </a:rPr>
              <a:t>Calibration assumes the pump is healthy for those 2 minutes</a:t>
            </a:r>
            <a:endParaRPr lang="en-US" sz="1500" dirty="0"/>
          </a:p>
        </p:txBody>
      </p:sp>
      <p:sp>
        <p:nvSpPr>
          <p:cNvPr id="5" name="Text 3"/>
          <p:cNvSpPr txBox="1"/>
          <p:nvPr/>
        </p:nvSpPr>
        <p:spPr>
          <a:xfrm>
            <a:off x="6263640" y="1234440"/>
            <a:ext cx="5376672"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Next steps</a:t>
            </a:r>
            <a:endParaRPr lang="en-US" sz="1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63640" y="1645920"/>
          <a:ext cx="5376672" cy="914400"/>
        </p:xfrm>
        <a:graphic>
          <a:graphicData uri="http://schemas.openxmlformats.org/drawingml/2006/table">
            <a:tbl>
              <a:tblPr/>
              <a:tblGrid>
                <a:gridCol w="2377440"/>
                <a:gridCol w="2999232"/>
              </a:tblGrid>
              <a:tr h="502920">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Step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c>
                  <a:txBody>
                    <a:bodyPr/>
                    <a:lstStyle/>
                    <a:p>
                      <a:pPr indent="0" marL="0">
                        <a:buNone/>
                      </a:pPr>
                      <a:r>
                        <a:rPr lang="en-US" sz="1300" b="1" dirty="0">
                          <a:solidFill>
                            <a:srgbClr val="13294B"/>
                          </a:solidFill>
                          <a:latin typeface="Calibri" pitchFamily="34" charset="0"/>
                          <a:ea typeface="Calibri" pitchFamily="34" charset="-122"/>
                          <a:cs typeface="Calibri" pitchFamily="34" charset="-120"/>
                        </a:rPr>
                        <a:t>Why</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E7EBF1"/>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Collect rig data with induced faults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Test the model on our own sensor and motor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ACS712 current sensor</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Detects dry running and overload, the most common pump failures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GSM module (SIM800L)</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Alerts from sites without Wi-Fi</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Higher-bandwidth accelerometer (e.g. ADXL1002)</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Captures early bearing faults</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r h="502920">
                <a:tc>
                  <a:txBody>
                    <a:bodyPr/>
                    <a:lstStyle/>
                    <a:p>
                      <a:pPr indent="0" marL="0">
                        <a:buNone/>
                      </a:pPr>
                      <a:r>
                        <a:rPr lang="en-US" sz="1300" b="1" dirty="0">
                          <a:solidFill>
                            <a:srgbClr val="374151"/>
                          </a:solidFill>
                          <a:latin typeface="Calibri" pitchFamily="34" charset="0"/>
                          <a:ea typeface="Calibri" pitchFamily="34" charset="-122"/>
                          <a:cs typeface="Calibri" pitchFamily="34" charset="-120"/>
                        </a:rPr>
                        <a:t>Field trial on a real sump pump</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c>
                  <a:txBody>
                    <a:bodyPr/>
                    <a:lstStyle/>
                    <a:p>
                      <a:pPr indent="0" marL="0">
                        <a:buNone/>
                      </a:pPr>
                      <a:r>
                        <a:rPr lang="en-US" sz="1300" dirty="0">
                          <a:solidFill>
                            <a:srgbClr val="374151"/>
                          </a:solidFill>
                          <a:latin typeface="Calibri" pitchFamily="34" charset="0"/>
                          <a:ea typeface="Calibri" pitchFamily="34" charset="-122"/>
                          <a:cs typeface="Calibri" pitchFamily="34" charset="-120"/>
                        </a:rPr>
                        <a:t>Measure false alarms over days of running</a:t>
                      </a:r>
                      <a:endParaRPr lang="en-US" sz="1300" dirty="0">
                        <a:latin typeface="Calibri" charset="0"/>
                        <a:ea typeface="Calibri" charset="0"/>
                        <a:cs typeface="Calibri" charset="0"/>
                      </a:endParaRPr>
                    </a:p>
                  </a:txBody>
                  <a:tcPr marL="76200" marR="76200" marT="38100" marB="38100" anchor="ctr">
                    <a:lnL w="9525" cap="flat" cmpd="sng" algn="ctr">
                      <a:solidFill>
                        <a:srgbClr val="D5DAE2"/>
                      </a:solidFill>
                      <a:prstDash val="solid"/>
                      <a:round/>
                      <a:headEnd type="none" w="med" len="med"/>
                      <a:tailEnd type="none" w="med" len="med"/>
                    </a:lnL>
                    <a:lnR w="9525" cap="flat" cmpd="sng" algn="ctr">
                      <a:solidFill>
                        <a:srgbClr val="D5DAE2"/>
                      </a:solidFill>
                      <a:prstDash val="solid"/>
                      <a:round/>
                      <a:headEnd type="none" w="med" len="med"/>
                      <a:tailEnd type="none" w="med" len="med"/>
                    </a:lnR>
                    <a:lnT w="9525" cap="flat" cmpd="sng" algn="ctr">
                      <a:solidFill>
                        <a:srgbClr val="D5DAE2"/>
                      </a:solidFill>
                      <a:prstDash val="solid"/>
                      <a:round/>
                      <a:headEnd type="none" w="med" len="med"/>
                      <a:tailEnd type="none" w="med" len="med"/>
                    </a:lnT>
                    <a:lnB w="9525" cap="flat" cmpd="sng" algn="ctr">
                      <a:solidFill>
                        <a:srgbClr val="D5DAE2"/>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2800" b="1" dirty="0">
                <a:solidFill>
                  <a:srgbClr val="13294B"/>
                </a:solidFill>
                <a:latin typeface="Calibri" pitchFamily="34" charset="0"/>
                <a:ea typeface="Calibri" pitchFamily="34" charset="-122"/>
                <a:cs typeface="Calibri" pitchFamily="34" charset="-120"/>
              </a:rPr>
              <a:t>Conclusion</a:t>
            </a:r>
            <a:endParaRPr lang="en-US" sz="2800" dirty="0"/>
          </a:p>
        </p:txBody>
      </p:sp>
      <p:sp>
        <p:nvSpPr>
          <p:cNvPr id="3" name="Text 1"/>
          <p:cNvSpPr txBox="1"/>
          <p:nvPr/>
        </p:nvSpPr>
        <p:spPr>
          <a:xfrm>
            <a:off x="548640" y="1234440"/>
            <a:ext cx="548640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What ResQFog does</a:t>
            </a:r>
            <a:endParaRPr lang="en-US" sz="1600" dirty="0"/>
          </a:p>
        </p:txBody>
      </p:sp>
      <p:sp>
        <p:nvSpPr>
          <p:cNvPr id="4" name="Text 2"/>
          <p:cNvSpPr txBox="1"/>
          <p:nvPr/>
        </p:nvSpPr>
        <p:spPr>
          <a:xfrm>
            <a:off x="548640" y="16459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Monitors every pump continuously for about ₹1,050 per node</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Raises the alarm and trips the motor at the edge, with no network needed</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Adds an ML early warning on the fog: 97.7 % detection at 0.7 % false alarms on real bearing data at our sensor's bandwidth</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Shows all pumps on one dashboard and sends an SMS naming the pump</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Loses no readings during outages and records every fault</a:t>
            </a:r>
            <a:endParaRPr lang="en-US" sz="1600" dirty="0"/>
          </a:p>
        </p:txBody>
      </p:sp>
      <p:sp>
        <p:nvSpPr>
          <p:cNvPr id="5" name="Text 3"/>
          <p:cNvSpPr txBox="1"/>
          <p:nvPr/>
        </p:nvSpPr>
        <p:spPr>
          <a:xfrm>
            <a:off x="6400800" y="1234440"/>
            <a:ext cx="5212080" cy="320040"/>
          </a:xfrm>
          <a:prstGeom prst="rect">
            <a:avLst/>
          </a:prstGeom>
          <a:noFill/>
          <a:ln/>
        </p:spPr>
        <p:txBody>
          <a:bodyPr wrap="square" lIns="0" tIns="0" rIns="0" bIns="0" rtlCol="0" anchor="t"/>
          <a:lstStyle/>
          <a:p>
            <a:pPr indent="0" marL="0">
              <a:buNone/>
            </a:pPr>
            <a:r>
              <a:rPr lang="en-US" sz="1600" b="1" dirty="0">
                <a:solidFill>
                  <a:srgbClr val="13294B"/>
                </a:solidFill>
                <a:latin typeface="Calibri" pitchFamily="34" charset="0"/>
                <a:ea typeface="Calibri" pitchFamily="34" charset="-122"/>
                <a:cs typeface="Calibri" pitchFamily="34" charset="-120"/>
              </a:rPr>
              <a:t>Publication plan</a:t>
            </a:r>
            <a:endParaRPr lang="en-US" sz="1600" dirty="0"/>
          </a:p>
        </p:txBody>
      </p:sp>
      <p:sp>
        <p:nvSpPr>
          <p:cNvPr id="6" name="Text 4"/>
          <p:cNvSpPr txBox="1"/>
          <p:nvPr/>
        </p:nvSpPr>
        <p:spPr>
          <a:xfrm>
            <a:off x="6400800" y="1645920"/>
            <a:ext cx="5239512" cy="1828800"/>
          </a:xfrm>
          <a:prstGeom prst="rect">
            <a:avLst/>
          </a:prstGeom>
          <a:noFill/>
          <a:ln/>
        </p:spPr>
        <p:txBody>
          <a:bodyPr wrap="square" lIns="0" tIns="0" rIns="0" bIns="0" rtlCol="0" anchor="t"/>
          <a:lstStyle/>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Conference paper on the two-layer edge–fog design and the bandwidth-matched evaluation</a:t>
            </a:r>
            <a:endParaRPr lang="en-US" sz="1600" dirty="0"/>
          </a:p>
          <a:p>
            <a:pPr marL="177800" indent="-177800">
              <a:spcAft>
                <a:spcPts val="700"/>
              </a:spcAft>
              <a:buSzPct val="100000"/>
              <a:buChar char="•"/>
            </a:pPr>
            <a:r>
              <a:rPr lang="en-US" sz="1600" dirty="0">
                <a:solidFill>
                  <a:srgbClr val="374151"/>
                </a:solidFill>
                <a:latin typeface="Calibri" pitchFamily="34" charset="0"/>
                <a:ea typeface="Calibri" pitchFamily="34" charset="-122"/>
                <a:cs typeface="Calibri" pitchFamily="34" charset="-120"/>
              </a:rPr>
              <a:t>Journal paper after rig and field data with induced faults</a:t>
            </a:r>
            <a:endParaRPr lang="en-US" sz="1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3A1"/>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731520" y="2468880"/>
            <a:ext cx="10058400" cy="109728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Thank you</a:t>
            </a:r>
            <a:endParaRPr lang="en-US" sz="5400" dirty="0"/>
          </a:p>
        </p:txBody>
      </p:sp>
      <p:sp>
        <p:nvSpPr>
          <p:cNvPr id="3" name="Text 1"/>
          <p:cNvSpPr txBox="1"/>
          <p:nvPr/>
        </p:nvSpPr>
        <p:spPr>
          <a:xfrm>
            <a:off x="731520" y="3566160"/>
            <a:ext cx="10058400" cy="457200"/>
          </a:xfrm>
          <a:prstGeom prst="rect">
            <a:avLst/>
          </a:prstGeom>
          <a:noFill/>
          <a:ln/>
        </p:spPr>
        <p:txBody>
          <a:bodyPr wrap="square" lIns="0" tIns="0" rIns="0" bIns="0" rtlCol="0" anchor="t"/>
          <a:lstStyle/>
          <a:p>
            <a:pPr indent="0" marL="0">
              <a:buNone/>
            </a:pPr>
            <a:r>
              <a:rPr lang="en-US" sz="2200" dirty="0">
                <a:solidFill>
                  <a:srgbClr val="C9D3E3"/>
                </a:solidFill>
                <a:latin typeface="Calibri" pitchFamily="34" charset="0"/>
                <a:ea typeface="Calibri" pitchFamily="34" charset="-122"/>
                <a:cs typeface="Calibri" pitchFamily="34" charset="-120"/>
              </a:rPr>
              <a:t>Questions and live demonstration</a:t>
            </a:r>
            <a:endParaRPr lang="en-US" sz="2200" dirty="0"/>
          </a:p>
        </p:txBody>
      </p:sp>
      <p:sp>
        <p:nvSpPr>
          <p:cNvPr id="4" name="Text 2"/>
          <p:cNvSpPr txBox="1"/>
          <p:nvPr/>
        </p:nvSpPr>
        <p:spPr>
          <a:xfrm>
            <a:off x="731520" y="5760720"/>
            <a:ext cx="10058400" cy="365760"/>
          </a:xfrm>
          <a:prstGeom prst="rect">
            <a:avLst/>
          </a:prstGeom>
          <a:noFill/>
          <a:ln/>
        </p:spPr>
        <p:txBody>
          <a:bodyPr wrap="square" lIns="0" tIns="0" rIns="0" bIns="0" rtlCol="0" anchor="t"/>
          <a:lstStyle/>
          <a:p>
            <a:pPr indent="0" marL="0">
              <a:buNone/>
            </a:pPr>
            <a:r>
              <a:rPr lang="en-US" sz="1500" dirty="0">
                <a:solidFill>
                  <a:srgbClr val="FDBA74"/>
                </a:solidFill>
                <a:latin typeface="Calibri" pitchFamily="34" charset="0"/>
                <a:ea typeface="Calibri" pitchFamily="34" charset="-122"/>
                <a:cs typeface="Calibri" pitchFamily="34" charset="-120"/>
              </a:rPr>
              <a:t>github.com/Arush-O7/ResQFog</a:t>
            </a:r>
            <a:endParaRPr lang="en-US" sz="1500" dirty="0"/>
          </a:p>
        </p:txBody>
      </p:sp>
    </p:spTree>
  </p:cSld>
  <p:clrMapOvr>
    <a:masterClrMapping/>
  </p:clrMapOvr>
</p:sld>
</file>

<file path=ppt/theme/theme1.xml><?xml version="1.0" encoding="utf-8"?>
<a:theme xmlns:a="http://schemas.openxmlformats.org/drawingml/2006/main" name="ResQFog">
  <a:themeElements>
    <a:clrScheme name="ResQFog">
      <a:dk1>
        <a:srgbClr val="1F2937"/>
      </a:dk1>
      <a:lt1>
        <a:srgbClr val="FFFFFF"/>
      </a:lt1>
      <a:dk2>
        <a:srgbClr val="13294B"/>
      </a:dk2>
      <a:lt2>
        <a:srgbClr val="F3F5F8"/>
      </a:lt2>
      <a:accent1>
        <a:srgbClr val="13294B"/>
      </a:accent1>
      <a:accent2>
        <a:srgbClr val="C2410C"/>
      </a:accent2>
      <a:accent3>
        <a:srgbClr val="15803D"/>
      </a:accent3>
      <a:accent4>
        <a:srgbClr val="B45309"/>
      </a:accent4>
      <a:accent5>
        <a:srgbClr val="B91C1C"/>
      </a:accent5>
      <a:accent6>
        <a:srgbClr val="5B6472"/>
      </a:accent6>
      <a:hlink>
        <a:srgbClr val="1D4ED8"/>
      </a:hlink>
      <a:folHlink>
        <a:srgbClr val="6D28D9"/>
      </a:folHlink>
    </a:clrScheme>
    <a:fontScheme name="ResQFog">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ResQFog - Final Project Presentation</dc:title>
  <dc:subject>BCSE313L Fundamentals of Fog and Edge Computing</dc:subject>
  <dc:creator>Arush Mishra, Abuzar Siddiqi</dc:creator>
  <cp:lastModifiedBy>Arush Mishra, Abuzar Siddiqi</cp:lastModifiedBy>
  <cp:revision>1</cp:revision>
  <dcterms:created xsi:type="dcterms:W3CDTF">2026-10-07T19:14:32Z</dcterms:created>
  <dcterms:modified xsi:type="dcterms:W3CDTF">2026-10-07T19:14:32Z</dcterms:modified>
</cp:coreProperties>
</file>